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4" r:id="rId17"/>
    <p:sldId id="275" r:id="rId18"/>
    <p:sldId id="273" r:id="rId19"/>
    <p:sldId id="276" r:id="rId20"/>
    <p:sldId id="271" r:id="rId21"/>
    <p:sldId id="27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455589-7D97-4970-B4B8-FCD06082120F}" v="1" dt="2026-09-22T05:13:11.8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61" d="100"/>
          <a:sy n="61" d="100"/>
        </p:scale>
        <p:origin x="56" y="2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usuya R" userId="85eefe040dbd19ca" providerId="LiveId" clId="{F6C0FBD5-51B7-4E53-9C14-EFF993B86CB3}"/>
    <pc:docChg chg="custSel addSld modSld">
      <pc:chgData name="Anusuya R" userId="85eefe040dbd19ca" providerId="LiveId" clId="{F6C0FBD5-51B7-4E53-9C14-EFF993B86CB3}" dt="2026-09-22T05:13:26.725" v="11" actId="207"/>
      <pc:docMkLst>
        <pc:docMk/>
      </pc:docMkLst>
      <pc:sldChg chg="modSp new mod">
        <pc:chgData name="Anusuya R" userId="85eefe040dbd19ca" providerId="LiveId" clId="{F6C0FBD5-51B7-4E53-9C14-EFF993B86CB3}" dt="2026-09-22T05:13:26.725" v="11" actId="207"/>
        <pc:sldMkLst>
          <pc:docMk/>
          <pc:sldMk cId="3320998120" sldId="277"/>
        </pc:sldMkLst>
        <pc:spChg chg="mod">
          <ac:chgData name="Anusuya R" userId="85eefe040dbd19ca" providerId="LiveId" clId="{F6C0FBD5-51B7-4E53-9C14-EFF993B86CB3}" dt="2026-09-22T05:13:26.725" v="11" actId="207"/>
          <ac:spMkLst>
            <pc:docMk/>
            <pc:sldMk cId="3320998120" sldId="277"/>
            <ac:spMk id="3" creationId="{0E1CDC8D-896C-062B-A8D3-E0933A6D957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0A89-7BEE-8643-41BB-08B68C6A5D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D96C1E-D9DF-1D34-A9BF-B3397C4CD4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BE219-7346-F04B-7882-6C91D9EBD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C0E48-5FB5-49E3-A3D7-4AADBBB00E5A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7B8F13-97A7-0D87-5D58-37920A32D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EF1CE-EC2D-9FFC-8F54-E581642B9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FFCC0-7B20-4876-847B-AC13C38C7D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308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2C235-65E3-6F56-7A05-94434DCA9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885A5F-39E7-60BE-EA60-735FC63A0B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99E14F-E227-9E54-0C8F-FC78A2FF1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C0E48-5FB5-49E3-A3D7-4AADBBB00E5A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D77C25-E559-FD0E-FCAF-58B36716D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8ABD78-3FC0-025B-56C5-9C975E724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FFCC0-7B20-4876-847B-AC13C38C7D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503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07849-9508-E915-FC9D-4CF97369D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52965E-31FF-379A-057A-B897E47C54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944DE-D767-D356-9419-638306A0B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C0E48-5FB5-49E3-A3D7-4AADBBB00E5A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900257-9B52-01FD-06E3-3861A8CE6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47C3D-7F3E-DD00-1B70-36197FCBD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FFCC0-7B20-4876-847B-AC13C38C7D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1536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CD57D-79C9-4A3F-FDFB-BF06B13BE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0F5E8-EFE7-4128-14CC-524B46DC81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C534D6-E83C-107A-7D04-10BF878052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DACE99-D856-025F-24B0-8FA45BE33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C0E48-5FB5-49E3-A3D7-4AADBBB00E5A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A3C916-23B1-2798-4CAF-5998FAD3F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2814FA-BE1E-D220-3059-490B61339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FFCC0-7B20-4876-847B-AC13C38C7D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4003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91FE0-C4A9-6C03-6C71-3F8FE279B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0844AB-5074-D254-AE05-E8B9D0C70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32AE71-0C31-EAFE-630D-2F2C6E40DB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90B17B-7F20-E80B-F553-A336F3D34F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0D234D-8FBD-FFD2-959C-6B14207625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D73796-1182-B0BD-C8FB-793EEE23E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C0E48-5FB5-49E3-A3D7-4AADBBB00E5A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1EA977-05A8-F76B-9EB6-95658D459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4928D4-C75E-84D2-67C8-F0F3A85B9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FFCC0-7B20-4876-847B-AC13C38C7D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8018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8A0C9-62CC-CECB-5E16-D6F14DF30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58580E-5E09-5556-AB8E-DD283C6A2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C0E48-5FB5-49E3-A3D7-4AADBBB00E5A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DF0FBF-E7B0-684B-5F45-71E357D4C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A2847D-FB82-34D9-30A0-29A81EF96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FFCC0-7B20-4876-847B-AC13C38C7D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3341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BBB0E6-A623-6FDF-D0FE-B347CAEE4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C0E48-5FB5-49E3-A3D7-4AADBBB00E5A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3FDBB4-E6D6-6CFC-D9BE-48C9D4F19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53D452-05A8-E001-F8E7-CBAD92EAC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FFCC0-7B20-4876-847B-AC13C38C7D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1980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7A7C4-424F-37B2-233E-A8D31FBC2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E9E32-C1FA-2664-EC1A-18004ADD66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A881A9-9333-6323-C2DB-FDDA0AE117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16F9B4-8470-6CF8-D04A-B3D686FB3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C0E48-5FB5-49E3-A3D7-4AADBBB00E5A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EA582A-38D6-F5F7-B5AE-D2FF77A89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8DA543-080E-5B73-BD09-FD1220949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FFCC0-7B20-4876-847B-AC13C38C7D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2310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BE768-34D3-AA15-841A-810209A65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86402A-7E6C-F367-984F-D36CABDC90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514F70-DACE-A615-AF37-E61B387707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2B5EF2-A493-1687-3365-F8444148E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C0E48-5FB5-49E3-A3D7-4AADBBB00E5A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9E331F-9223-B123-A031-3FDAC6C2B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09F756-7CD6-BF0C-A3E4-D46D84448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FFCC0-7B20-4876-847B-AC13C38C7D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4133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8417B-7861-90C5-AA51-13271379C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620E0D-1B0D-8034-C6DA-500587C27A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C14FA2-3F7C-04AF-FFFA-CF414573D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C0E48-5FB5-49E3-A3D7-4AADBBB00E5A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57755-E3A1-5018-973D-70DF89401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A5AFCD-1441-93A7-3A20-6C6ECE529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FFCC0-7B20-4876-847B-AC13C38C7D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6754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FD6A3B-4BEB-55AF-F7F2-DF5E53CFA5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CC8639-00D5-6764-47BC-10A232852D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CA2E54-596C-2B16-5B6A-5B0754F15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C0E48-5FB5-49E3-A3D7-4AADBBB00E5A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01036D-A3AB-8231-A7B3-47F266E59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736549-54B6-438F-6F0F-8314B8EAA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FFCC0-7B20-4876-847B-AC13C38C7D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1857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35B051-1E4E-0FA8-64E5-5E42AE0CB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6C1E94-43B0-500A-1CE0-6AAA0174D2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48182-4D7B-E768-59D6-E6DFD562AF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1C0E48-5FB5-49E3-A3D7-4AADBBB00E5A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68C472-EFBC-B8E4-5BE7-D2C412520B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75083D-5F7E-CA1A-B464-7E66A6CFA8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2FFCC0-7B20-4876-847B-AC13C38C7D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9617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01127-FC63-9B1F-8F32-B7BDAEC437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Vectors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4244F5-E2C3-57C7-1143-7A889994E2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6182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F557C9-B35B-24EF-FBBF-A095145E6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  <a:solidFill>
            <a:schemeClr val="bg1"/>
          </a:solidFill>
        </p:spPr>
        <p:txBody>
          <a:bodyPr anchor="ctr">
            <a:normAutofit/>
          </a:bodyPr>
          <a:lstStyle/>
          <a:p>
            <a:r>
              <a:rPr lang="en-IN" sz="4800" dirty="0"/>
              <a:t>Vector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FF817-A639-4D86-601F-96A09685D9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 implements a dynamic array. It is similar to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with two differences </a:t>
            </a:r>
          </a:p>
          <a:p>
            <a:pPr lvl="1"/>
            <a:r>
              <a:rPr lang="en-IN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Vector is synchronized.</a:t>
            </a:r>
          </a:p>
          <a:p>
            <a:pPr lvl="1"/>
            <a:r>
              <a:rPr lang="en-IN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Vector contains many legacy methods that are not part of the collections framework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Legacy class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legacy class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class that was part of Java from its earliest versions (JDK 1.0/1.1, before the Collections Framework existed in JDK 1.2) and was later retrofitted to fit into the newer framework, rather than being designed as part of it from the start.</a:t>
            </a:r>
          </a:p>
          <a:p>
            <a:endParaRPr lang="en-IN" sz="22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3683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5B00F-CEB2-46A7-7AB1-806A88018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4317A-4C6B-E07D-40B9-EFA9DEAD58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 algn="just"/>
            <a:r>
              <a:rPr lang="en-IN" b="1" dirty="0"/>
              <a:t>Synchronized by default: </a:t>
            </a:r>
            <a:r>
              <a:rPr lang="en-IN" dirty="0"/>
              <a:t>every method locks, even in single-threaded contexts where you're paying for thread-safety you don't need (Vector, </a:t>
            </a:r>
            <a:r>
              <a:rPr lang="en-IN" dirty="0" err="1"/>
              <a:t>Hashtable</a:t>
            </a:r>
            <a:r>
              <a:rPr lang="en-IN" dirty="0"/>
              <a:t>)</a:t>
            </a:r>
          </a:p>
          <a:p>
            <a:pPr lvl="0" algn="just"/>
            <a:r>
              <a:rPr lang="en-IN" b="1" dirty="0"/>
              <a:t>Predates generics: </a:t>
            </a:r>
            <a:r>
              <a:rPr lang="en-IN" dirty="0"/>
              <a:t>originally worked with raw Object types; generics were introduced on in JDK 1.5</a:t>
            </a:r>
          </a:p>
          <a:p>
            <a:pPr lvl="0" algn="just"/>
            <a:r>
              <a:rPr lang="en-IN" b="1" dirty="0"/>
              <a:t>Has its own parallel API: </a:t>
            </a:r>
            <a:r>
              <a:rPr lang="en-IN" dirty="0"/>
              <a:t>e.g., Vector has both old-style methods (</a:t>
            </a:r>
            <a:r>
              <a:rPr lang="en-IN" dirty="0" err="1"/>
              <a:t>addElement</a:t>
            </a:r>
            <a:r>
              <a:rPr lang="en-IN" dirty="0"/>
              <a:t>(), </a:t>
            </a:r>
            <a:r>
              <a:rPr lang="en-IN" dirty="0" err="1"/>
              <a:t>elementAt</a:t>
            </a:r>
            <a:r>
              <a:rPr lang="en-IN" dirty="0"/>
              <a:t>(), </a:t>
            </a:r>
            <a:r>
              <a:rPr lang="en-IN" dirty="0" err="1"/>
              <a:t>removeElement</a:t>
            </a:r>
            <a:r>
              <a:rPr lang="en-IN" dirty="0"/>
              <a:t>()) and new List-style methods (add(), get(), remove()) doing the same thing</a:t>
            </a:r>
          </a:p>
          <a:p>
            <a:pPr lvl="0" algn="just"/>
            <a:r>
              <a:rPr lang="en-IN" b="1" dirty="0"/>
              <a:t>Uses Enumeration </a:t>
            </a:r>
            <a:r>
              <a:rPr lang="en-IN" dirty="0"/>
              <a:t>for traversal: Enumeration is read-only (no remove() mid-iteration) and has clunkier method names (</a:t>
            </a:r>
            <a:r>
              <a:rPr lang="en-IN" dirty="0" err="1"/>
              <a:t>hasMoreElements</a:t>
            </a:r>
            <a:r>
              <a:rPr lang="en-IN" dirty="0"/>
              <a:t>()/</a:t>
            </a:r>
            <a:r>
              <a:rPr lang="en-IN" dirty="0" err="1"/>
              <a:t>nextElement</a:t>
            </a:r>
            <a:r>
              <a:rPr lang="en-IN" dirty="0"/>
              <a:t>() vs </a:t>
            </a:r>
            <a:r>
              <a:rPr lang="en-IN" dirty="0" err="1"/>
              <a:t>hasNext</a:t>
            </a:r>
            <a:r>
              <a:rPr lang="en-IN" dirty="0"/>
              <a:t>()/next())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3848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272D1-F040-A009-8AF6-97BDA8116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Vector declaration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AC69D-714C-C663-CEB2-CB3699035C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/>
              <a:t>1. Vector()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Vector&lt;String&gt; v = new Vector&lt;&gt;();</a:t>
            </a:r>
          </a:p>
          <a:p>
            <a:pPr marL="0" indent="0">
              <a:buNone/>
            </a:pPr>
            <a:r>
              <a:rPr lang="en-US" b="1" dirty="0"/>
              <a:t>2.</a:t>
            </a:r>
            <a:r>
              <a:rPr lang="en-IN" b="1" dirty="0"/>
              <a:t> Vector(int </a:t>
            </a:r>
            <a:r>
              <a:rPr lang="en-IN" b="1" dirty="0" err="1"/>
              <a:t>initialCapacity</a:t>
            </a:r>
            <a:r>
              <a:rPr lang="en-IN" b="1" dirty="0"/>
              <a:t>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Vector&lt;String&gt; v = new Vector&lt;&gt;(50);</a:t>
            </a:r>
          </a:p>
          <a:p>
            <a:pPr marL="0" indent="0">
              <a:buNone/>
            </a:pPr>
            <a:r>
              <a:rPr lang="en-IN" dirty="0"/>
              <a:t>Pre-allocates space for 50 elements without immediate resizing. Still doubles once that capacity is exceeded. </a:t>
            </a:r>
          </a:p>
          <a:p>
            <a:pPr marL="0" indent="0">
              <a:buNone/>
            </a:pPr>
            <a:r>
              <a:rPr lang="en-IN" b="1" dirty="0"/>
              <a:t>3. Vector(int </a:t>
            </a:r>
            <a:r>
              <a:rPr lang="en-IN" b="1" dirty="0" err="1"/>
              <a:t>initialCapacity</a:t>
            </a:r>
            <a:r>
              <a:rPr lang="en-IN" b="1" dirty="0"/>
              <a:t>, int </a:t>
            </a:r>
            <a:r>
              <a:rPr lang="en-IN" b="1" dirty="0" err="1"/>
              <a:t>capacityIncrement</a:t>
            </a:r>
            <a:r>
              <a:rPr lang="en-IN" b="1" dirty="0"/>
              <a:t>)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Vector&lt;String&gt; v = new Vector&lt;&gt;(10, 5);</a:t>
            </a:r>
          </a:p>
          <a:p>
            <a:pPr marL="0" indent="0">
              <a:buNone/>
            </a:pPr>
            <a:r>
              <a:rPr lang="en-IN" dirty="0"/>
              <a:t>Once you set </a:t>
            </a:r>
            <a:r>
              <a:rPr lang="en-IN" dirty="0" err="1"/>
              <a:t>capacityIncrement</a:t>
            </a:r>
            <a:r>
              <a:rPr lang="en-IN" dirty="0"/>
              <a:t>, the growth policy changes from </a:t>
            </a:r>
            <a:r>
              <a:rPr lang="en-IN" b="1" dirty="0"/>
              <a:t>doubling</a:t>
            </a:r>
            <a:r>
              <a:rPr lang="en-IN" dirty="0"/>
              <a:t> to </a:t>
            </a:r>
            <a:r>
              <a:rPr lang="en-IN" b="1" dirty="0"/>
              <a:t>linear addition</a:t>
            </a:r>
            <a:r>
              <a:rPr lang="en-IN" dirty="0"/>
              <a:t>: capacity goes 10 → 15 → 20 → 25... instead of 10 → 20 → 40.</a:t>
            </a:r>
          </a:p>
          <a:p>
            <a:pPr marL="0" indent="0">
              <a:buNone/>
            </a:pPr>
            <a:r>
              <a:rPr lang="en-IN" b="1" dirty="0"/>
              <a:t>4. Vector(Collection&lt;? extends E&gt; c)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List&lt;String&gt; names = </a:t>
            </a:r>
            <a:r>
              <a:rPr lang="en-US" b="1" dirty="0" err="1">
                <a:solidFill>
                  <a:srgbClr val="FF0000"/>
                </a:solidFill>
              </a:rPr>
              <a:t>Arrays.asList</a:t>
            </a:r>
            <a:r>
              <a:rPr lang="en-US" b="1" dirty="0">
                <a:solidFill>
                  <a:srgbClr val="FF0000"/>
                </a:solidFill>
              </a:rPr>
              <a:t>("A", "B", "C");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Vector&lt;String&gt; v = new Vector&lt;&gt;(names);</a:t>
            </a:r>
            <a:endParaRPr lang="en-I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4947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9AFC9-1211-043A-39D0-57B86D15E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09665A-8644-9659-C2BA-4BB18B8DB3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Adding elements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985BD5-64A3-BB1A-89CB-859699309094}"/>
              </a:ext>
            </a:extLst>
          </p:cNvPr>
          <p:cNvSpPr txBox="1"/>
          <p:nvPr/>
        </p:nvSpPr>
        <p:spPr>
          <a:xfrm>
            <a:off x="1002145" y="2401455"/>
            <a:ext cx="7883237" cy="2585323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Vector&lt;String&gt; v = new Vector&lt;&gt;();</a:t>
            </a:r>
          </a:p>
          <a:p>
            <a:endParaRPr lang="en-IN" b="1" dirty="0">
              <a:solidFill>
                <a:srgbClr val="FFFF00"/>
              </a:solidFill>
            </a:endParaRPr>
          </a:p>
          <a:p>
            <a:r>
              <a:rPr lang="en-IN" b="1" dirty="0" err="1">
                <a:solidFill>
                  <a:srgbClr val="FFFF00"/>
                </a:solidFill>
              </a:rPr>
              <a:t>v.addElement</a:t>
            </a:r>
            <a:r>
              <a:rPr lang="en-IN" b="1" dirty="0">
                <a:solidFill>
                  <a:srgbClr val="FFFF00"/>
                </a:solidFill>
              </a:rPr>
              <a:t>(“John");           // legacy style</a:t>
            </a:r>
          </a:p>
          <a:p>
            <a:endParaRPr lang="en-IN" b="1" dirty="0">
              <a:solidFill>
                <a:srgbClr val="FFFF00"/>
              </a:solidFill>
            </a:endParaRPr>
          </a:p>
          <a:p>
            <a:r>
              <a:rPr lang="en-IN" b="1" dirty="0" err="1">
                <a:solidFill>
                  <a:srgbClr val="FFFF00"/>
                </a:solidFill>
              </a:rPr>
              <a:t>v.add</a:t>
            </a:r>
            <a:r>
              <a:rPr lang="en-IN" b="1" dirty="0">
                <a:solidFill>
                  <a:srgbClr val="FFFF00"/>
                </a:solidFill>
              </a:rPr>
              <a:t>("Priya");                 // List-style</a:t>
            </a:r>
          </a:p>
          <a:p>
            <a:endParaRPr lang="en-IN" b="1" dirty="0">
              <a:solidFill>
                <a:srgbClr val="FFFF00"/>
              </a:solidFill>
            </a:endParaRPr>
          </a:p>
          <a:p>
            <a:r>
              <a:rPr lang="en-IN" b="1" dirty="0" err="1">
                <a:solidFill>
                  <a:srgbClr val="FFFF00"/>
                </a:solidFill>
              </a:rPr>
              <a:t>v.add</a:t>
            </a:r>
            <a:r>
              <a:rPr lang="en-IN" b="1" dirty="0">
                <a:solidFill>
                  <a:srgbClr val="FFFF00"/>
                </a:solidFill>
              </a:rPr>
              <a:t>(0, "Kumar");              // insert at index</a:t>
            </a:r>
          </a:p>
          <a:p>
            <a:endParaRPr lang="en-IN" b="1" dirty="0">
              <a:solidFill>
                <a:srgbClr val="FFFF00"/>
              </a:solidFill>
            </a:endParaRPr>
          </a:p>
          <a:p>
            <a:r>
              <a:rPr lang="en-IN" b="1" dirty="0" err="1">
                <a:solidFill>
                  <a:srgbClr val="FFFF00"/>
                </a:solidFill>
              </a:rPr>
              <a:t>v.insertElementAt</a:t>
            </a:r>
            <a:r>
              <a:rPr lang="en-IN" b="1" dirty="0">
                <a:solidFill>
                  <a:srgbClr val="FFFF00"/>
                </a:solidFill>
              </a:rPr>
              <a:t>(“Rahul", 1);    // legacy style, insert at </a:t>
            </a:r>
            <a:r>
              <a:rPr lang="en-IN" dirty="0"/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760176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E3927-9028-B148-67F3-76529E0B5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7AFF6-CCA7-3199-2CC4-EE3F075FFC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Accessing elements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020147-A7AF-3ABD-5511-AA8512457A15}"/>
              </a:ext>
            </a:extLst>
          </p:cNvPr>
          <p:cNvSpPr txBox="1"/>
          <p:nvPr/>
        </p:nvSpPr>
        <p:spPr>
          <a:xfrm>
            <a:off x="1588655" y="2228671"/>
            <a:ext cx="7213600" cy="120032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IN" b="1" dirty="0" err="1">
                <a:solidFill>
                  <a:srgbClr val="FFFF00"/>
                </a:solidFill>
              </a:rPr>
              <a:t>System.out.println</a:t>
            </a:r>
            <a:r>
              <a:rPr lang="en-IN" b="1" dirty="0">
                <a:solidFill>
                  <a:srgbClr val="FFFF00"/>
                </a:solidFill>
              </a:rPr>
              <a:t>(</a:t>
            </a:r>
            <a:r>
              <a:rPr lang="en-IN" b="1" dirty="0" err="1">
                <a:solidFill>
                  <a:srgbClr val="FFFF00"/>
                </a:solidFill>
              </a:rPr>
              <a:t>v.elementAt</a:t>
            </a:r>
            <a:r>
              <a:rPr lang="en-IN" b="1" dirty="0">
                <a:solidFill>
                  <a:srgbClr val="FFFF00"/>
                </a:solidFill>
              </a:rPr>
              <a:t>(0));   // legacy: “Kumar"</a:t>
            </a:r>
          </a:p>
          <a:p>
            <a:r>
              <a:rPr lang="en-IN" b="1" dirty="0" err="1">
                <a:solidFill>
                  <a:srgbClr val="FFFF00"/>
                </a:solidFill>
              </a:rPr>
              <a:t>System.out.println</a:t>
            </a:r>
            <a:r>
              <a:rPr lang="en-IN" b="1" dirty="0">
                <a:solidFill>
                  <a:srgbClr val="FFFF00"/>
                </a:solidFill>
              </a:rPr>
              <a:t>(</a:t>
            </a:r>
            <a:r>
              <a:rPr lang="en-IN" b="1" dirty="0" err="1">
                <a:solidFill>
                  <a:srgbClr val="FFFF00"/>
                </a:solidFill>
              </a:rPr>
              <a:t>v.get</a:t>
            </a:r>
            <a:r>
              <a:rPr lang="en-IN" b="1" dirty="0">
                <a:solidFill>
                  <a:srgbClr val="FFFF00"/>
                </a:solidFill>
              </a:rPr>
              <a:t>(0));         // List-style: “Kumar"</a:t>
            </a:r>
          </a:p>
          <a:p>
            <a:r>
              <a:rPr lang="en-IN" b="1" dirty="0" err="1">
                <a:solidFill>
                  <a:srgbClr val="FFFF00"/>
                </a:solidFill>
              </a:rPr>
              <a:t>System.out.println</a:t>
            </a:r>
            <a:r>
              <a:rPr lang="en-IN" b="1" dirty="0">
                <a:solidFill>
                  <a:srgbClr val="FFFF00"/>
                </a:solidFill>
              </a:rPr>
              <a:t>(</a:t>
            </a:r>
            <a:r>
              <a:rPr lang="en-IN" b="1" dirty="0" err="1">
                <a:solidFill>
                  <a:srgbClr val="FFFF00"/>
                </a:solidFill>
              </a:rPr>
              <a:t>v.firstElement</a:t>
            </a:r>
            <a:r>
              <a:rPr lang="en-IN" b="1" dirty="0">
                <a:solidFill>
                  <a:srgbClr val="FFFF00"/>
                </a:solidFill>
              </a:rPr>
              <a:t>()); // "Kumar"</a:t>
            </a:r>
          </a:p>
          <a:p>
            <a:r>
              <a:rPr lang="en-IN" b="1" dirty="0" err="1">
                <a:solidFill>
                  <a:srgbClr val="FFFF00"/>
                </a:solidFill>
              </a:rPr>
              <a:t>System.out.println</a:t>
            </a:r>
            <a:r>
              <a:rPr lang="en-IN" b="1" dirty="0">
                <a:solidFill>
                  <a:srgbClr val="FFFF00"/>
                </a:solidFill>
              </a:rPr>
              <a:t>(</a:t>
            </a:r>
            <a:r>
              <a:rPr lang="en-IN" b="1" dirty="0" err="1">
                <a:solidFill>
                  <a:srgbClr val="FFFF00"/>
                </a:solidFill>
              </a:rPr>
              <a:t>v.lastElement</a:t>
            </a:r>
            <a:r>
              <a:rPr lang="en-IN" b="1" dirty="0">
                <a:solidFill>
                  <a:srgbClr val="FFFF00"/>
                </a:solidFill>
              </a:rPr>
              <a:t>());  // "Priya"</a:t>
            </a:r>
          </a:p>
        </p:txBody>
      </p:sp>
    </p:spTree>
    <p:extLst>
      <p:ext uri="{BB962C8B-B14F-4D97-AF65-F5344CB8AC3E}">
        <p14:creationId xmlns:p14="http://schemas.microsoft.com/office/powerpoint/2010/main" val="3473803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EAFBA-E2F2-6B1A-21DA-46E32E527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044981-EC3B-CE88-F7C4-04B68E71F1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Removing elements</a:t>
            </a:r>
          </a:p>
          <a:p>
            <a:pPr marL="0" indent="0">
              <a:buNone/>
            </a:pP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v.removeElement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(“John");        // legacy, remove by value</a:t>
            </a:r>
          </a:p>
          <a:p>
            <a:pPr marL="0" indent="0">
              <a:buNone/>
            </a:pP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v.remove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("Priya");              // List-style, remove by value</a:t>
            </a:r>
          </a:p>
          <a:p>
            <a:pPr marL="0" indent="0">
              <a:buNone/>
            </a:pP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v.removeElementAt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(0);           // legacy, remove by index</a:t>
            </a:r>
          </a:p>
          <a:p>
            <a:pPr marL="0" indent="0">
              <a:buNone/>
            </a:pP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v.remove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(0);                    // List-style, remove by index</a:t>
            </a:r>
          </a:p>
          <a:p>
            <a:pPr marL="0" indent="0">
              <a:buNone/>
            </a:pP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v.removeAllElements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          // legacy, clear everything</a:t>
            </a:r>
          </a:p>
          <a:p>
            <a:pPr marL="0" indent="0">
              <a:buNone/>
            </a:pP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v.clear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                      // List-style, clear everything</a:t>
            </a:r>
          </a:p>
        </p:txBody>
      </p:sp>
    </p:spTree>
    <p:extLst>
      <p:ext uri="{BB962C8B-B14F-4D97-AF65-F5344CB8AC3E}">
        <p14:creationId xmlns:p14="http://schemas.microsoft.com/office/powerpoint/2010/main" val="1776647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46A06-DAB9-EFFA-EFCB-AEC83C0E7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0C1D1-066E-B5E5-383D-7143AA3C5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Searching</a:t>
            </a:r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Vector&lt;String&gt; v = new Vector&lt;&gt;();</a:t>
            </a:r>
          </a:p>
          <a:p>
            <a:pPr marL="0" indent="0">
              <a:buNone/>
            </a:pPr>
            <a:r>
              <a:rPr lang="en-IN" b="1" dirty="0" err="1">
                <a:solidFill>
                  <a:srgbClr val="FF0000"/>
                </a:solidFill>
              </a:rPr>
              <a:t>v.add</a:t>
            </a:r>
            <a:r>
              <a:rPr lang="en-IN" b="1" dirty="0">
                <a:solidFill>
                  <a:srgbClr val="FF0000"/>
                </a:solidFill>
              </a:rPr>
              <a:t>("A"); </a:t>
            </a:r>
            <a:r>
              <a:rPr lang="en-IN" b="1" dirty="0" err="1">
                <a:solidFill>
                  <a:srgbClr val="FF0000"/>
                </a:solidFill>
              </a:rPr>
              <a:t>v.add</a:t>
            </a:r>
            <a:r>
              <a:rPr lang="en-IN" b="1" dirty="0">
                <a:solidFill>
                  <a:srgbClr val="FF0000"/>
                </a:solidFill>
              </a:rPr>
              <a:t>("B"); </a:t>
            </a:r>
            <a:r>
              <a:rPr lang="en-IN" b="1" dirty="0" err="1">
                <a:solidFill>
                  <a:srgbClr val="FF0000"/>
                </a:solidFill>
              </a:rPr>
              <a:t>v.add</a:t>
            </a:r>
            <a:r>
              <a:rPr lang="en-IN" b="1" dirty="0">
                <a:solidFill>
                  <a:srgbClr val="FF0000"/>
                </a:solidFill>
              </a:rPr>
              <a:t>("C"); </a:t>
            </a:r>
            <a:r>
              <a:rPr lang="en-IN" b="1" dirty="0" err="1">
                <a:solidFill>
                  <a:srgbClr val="FF0000"/>
                </a:solidFill>
              </a:rPr>
              <a:t>v.add</a:t>
            </a:r>
            <a:r>
              <a:rPr lang="en-IN" b="1" dirty="0">
                <a:solidFill>
                  <a:srgbClr val="FF0000"/>
                </a:solidFill>
              </a:rPr>
              <a:t>("B");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 err="1">
                <a:solidFill>
                  <a:schemeClr val="accent1"/>
                </a:solidFill>
              </a:rPr>
              <a:t>System.out.println</a:t>
            </a:r>
            <a:r>
              <a:rPr lang="en-IN" b="1" dirty="0">
                <a:solidFill>
                  <a:schemeClr val="accent1"/>
                </a:solidFill>
              </a:rPr>
              <a:t>(</a:t>
            </a:r>
            <a:r>
              <a:rPr lang="en-IN" b="1" dirty="0" err="1">
                <a:solidFill>
                  <a:schemeClr val="accent1"/>
                </a:solidFill>
              </a:rPr>
              <a:t>v.contains</a:t>
            </a:r>
            <a:r>
              <a:rPr lang="en-IN" b="1" dirty="0">
                <a:solidFill>
                  <a:schemeClr val="accent1"/>
                </a:solidFill>
              </a:rPr>
              <a:t>("B"));      // true</a:t>
            </a:r>
          </a:p>
          <a:p>
            <a:pPr marL="0" indent="0">
              <a:buNone/>
            </a:pPr>
            <a:r>
              <a:rPr lang="en-IN" b="1" dirty="0" err="1">
                <a:solidFill>
                  <a:schemeClr val="accent1"/>
                </a:solidFill>
              </a:rPr>
              <a:t>System.out.println</a:t>
            </a:r>
            <a:r>
              <a:rPr lang="en-IN" b="1" dirty="0">
                <a:solidFill>
                  <a:schemeClr val="accent1"/>
                </a:solidFill>
              </a:rPr>
              <a:t>(</a:t>
            </a:r>
            <a:r>
              <a:rPr lang="en-IN" b="1" dirty="0" err="1">
                <a:solidFill>
                  <a:schemeClr val="accent1"/>
                </a:solidFill>
              </a:rPr>
              <a:t>v.indexOf</a:t>
            </a:r>
            <a:r>
              <a:rPr lang="en-IN" b="1" dirty="0">
                <a:solidFill>
                  <a:schemeClr val="accent1"/>
                </a:solidFill>
              </a:rPr>
              <a:t>("B"));       // 1 (first occurrence)</a:t>
            </a:r>
          </a:p>
          <a:p>
            <a:pPr marL="0" indent="0">
              <a:buNone/>
            </a:pPr>
            <a:r>
              <a:rPr lang="en-IN" b="1" dirty="0" err="1">
                <a:solidFill>
                  <a:schemeClr val="accent1"/>
                </a:solidFill>
              </a:rPr>
              <a:t>System.out.println</a:t>
            </a:r>
            <a:r>
              <a:rPr lang="en-IN" b="1" dirty="0">
                <a:solidFill>
                  <a:schemeClr val="accent1"/>
                </a:solidFill>
              </a:rPr>
              <a:t>(</a:t>
            </a:r>
            <a:r>
              <a:rPr lang="en-IN" b="1" dirty="0" err="1">
                <a:solidFill>
                  <a:schemeClr val="accent1"/>
                </a:solidFill>
              </a:rPr>
              <a:t>v.lastIndexOf</a:t>
            </a:r>
            <a:r>
              <a:rPr lang="en-IN" b="1" dirty="0">
                <a:solidFill>
                  <a:schemeClr val="accent1"/>
                </a:solidFill>
              </a:rPr>
              <a:t>("B"));   // 3 (last occurrence)</a:t>
            </a:r>
          </a:p>
          <a:p>
            <a:pPr marL="0" indent="0">
              <a:buNone/>
            </a:pPr>
            <a:r>
              <a:rPr lang="en-IN" b="1" dirty="0" err="1">
                <a:solidFill>
                  <a:schemeClr val="accent1"/>
                </a:solidFill>
              </a:rPr>
              <a:t>System.out.println</a:t>
            </a:r>
            <a:r>
              <a:rPr lang="en-IN" b="1" dirty="0">
                <a:solidFill>
                  <a:schemeClr val="accent1"/>
                </a:solidFill>
              </a:rPr>
              <a:t>(</a:t>
            </a:r>
            <a:r>
              <a:rPr lang="en-IN" b="1" dirty="0" err="1">
                <a:solidFill>
                  <a:schemeClr val="accent1"/>
                </a:solidFill>
              </a:rPr>
              <a:t>v.indexOf</a:t>
            </a:r>
            <a:r>
              <a:rPr lang="en-IN" b="1" dirty="0">
                <a:solidFill>
                  <a:schemeClr val="accent1"/>
                </a:solidFill>
              </a:rPr>
              <a:t>("B", 2));    // 3 (search starting from index 2)</a:t>
            </a:r>
          </a:p>
        </p:txBody>
      </p:sp>
    </p:spTree>
    <p:extLst>
      <p:ext uri="{BB962C8B-B14F-4D97-AF65-F5344CB8AC3E}">
        <p14:creationId xmlns:p14="http://schemas.microsoft.com/office/powerpoint/2010/main" val="4205398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B1BCF-F367-F293-059A-EA685CF41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21ED4-A11E-F533-F9A0-617DAF5A01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 and capacity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Vector&lt;Integer&gt; v = new Vector&lt;&gt;(5, 2);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initial cap 5, increment 2</a:t>
            </a: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v.size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());      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0 (no elements yet)</a:t>
            </a: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v.capacity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());  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5 (allocated space)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(int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6;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v.add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v.size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());      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6</a:t>
            </a: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v.capacity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());  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7 (5 + increment 2, once exceeded)</a:t>
            </a:r>
          </a:p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v.setSize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(3);                      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truncates to first 3 elements</a:t>
            </a: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(v);             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[0, 1, 2]</a:t>
            </a:r>
          </a:p>
        </p:txBody>
      </p:sp>
    </p:spTree>
    <p:extLst>
      <p:ext uri="{BB962C8B-B14F-4D97-AF65-F5344CB8AC3E}">
        <p14:creationId xmlns:p14="http://schemas.microsoft.com/office/powerpoint/2010/main" val="18214315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B6078-2558-B021-83A4-6C00978AA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73777-A957-2A12-EF1D-FCFD7B81BB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Copying and converting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Vector&lt;String&gt; v = new Vector&lt;&gt;();</a:t>
            </a:r>
          </a:p>
          <a:p>
            <a:pPr marL="0" indent="0">
              <a:buNone/>
            </a:pPr>
            <a:r>
              <a:rPr lang="en-IN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v.add</a:t>
            </a:r>
            <a:r>
              <a:rPr lang="en-I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("X"); </a:t>
            </a:r>
            <a:r>
              <a:rPr lang="en-IN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v.add</a:t>
            </a:r>
            <a:r>
              <a:rPr lang="en-I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("Y");</a:t>
            </a:r>
          </a:p>
          <a:p>
            <a:pPr marL="0" indent="0">
              <a:buNone/>
            </a:pPr>
            <a:endParaRPr lang="en-IN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Vector&lt;String&gt; copy = (Vector&lt;String&gt;) </a:t>
            </a:r>
            <a:r>
              <a:rPr lang="en-IN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v.clone</a:t>
            </a:r>
            <a:r>
              <a:rPr lang="en-I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 // shallow copy</a:t>
            </a:r>
          </a:p>
          <a:p>
            <a:pPr marL="0" indent="0">
              <a:buNone/>
            </a:pPr>
            <a:endParaRPr lang="en-IN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Object[] </a:t>
            </a:r>
            <a:r>
              <a:rPr lang="en-IN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I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v.toArray</a:t>
            </a:r>
            <a:r>
              <a:rPr lang="en-I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                       // to Object[]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String[] </a:t>
            </a:r>
            <a:r>
              <a:rPr lang="en-IN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strArr</a:t>
            </a:r>
            <a:r>
              <a:rPr lang="en-I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v.toArray</a:t>
            </a:r>
            <a:r>
              <a:rPr lang="en-I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(new String[0]);       // to String[]</a:t>
            </a:r>
          </a:p>
        </p:txBody>
      </p:sp>
    </p:spTree>
    <p:extLst>
      <p:ext uri="{BB962C8B-B14F-4D97-AF65-F5344CB8AC3E}">
        <p14:creationId xmlns:p14="http://schemas.microsoft.com/office/powerpoint/2010/main" val="5281336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B846A-253D-B20C-255E-EF4206610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CB176-ACA0-F1A8-3A7E-9ECB87D3BA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Replacing / updating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Vector&lt;String&gt; v = new Vector&lt;&gt;();</a:t>
            </a:r>
          </a:p>
          <a:p>
            <a:pPr marL="0" indent="0">
              <a:buNone/>
            </a:pPr>
            <a:r>
              <a:rPr lang="en-IN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v.add</a:t>
            </a:r>
            <a:r>
              <a:rPr lang="en-I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("X"); </a:t>
            </a:r>
            <a:r>
              <a:rPr lang="en-IN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v.add</a:t>
            </a:r>
            <a:r>
              <a:rPr lang="en-I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("Y");</a:t>
            </a:r>
          </a:p>
          <a:p>
            <a:pPr marL="0" indent="0">
              <a:buNone/>
            </a:pPr>
            <a:r>
              <a:rPr lang="en-IN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v.setElementAt</a:t>
            </a:r>
            <a:r>
              <a:rPr lang="en-I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("Z", 0);   // legacy: v = [Z, Y]</a:t>
            </a:r>
          </a:p>
          <a:p>
            <a:pPr marL="0" indent="0">
              <a:buNone/>
            </a:pPr>
            <a:r>
              <a:rPr lang="en-IN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v.set</a:t>
            </a:r>
            <a:r>
              <a:rPr lang="en-I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 "W");            // List-style: v = [Z, W]</a:t>
            </a:r>
          </a:p>
        </p:txBody>
      </p:sp>
    </p:spTree>
    <p:extLst>
      <p:ext uri="{BB962C8B-B14F-4D97-AF65-F5344CB8AC3E}">
        <p14:creationId xmlns:p14="http://schemas.microsoft.com/office/powerpoint/2010/main" val="3766175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9C95E-9AC6-5B5C-012D-611063FE5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Iteration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4E731-614A-3B73-D136-160F0C3B3E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/>
              <a:t>Vector&lt;String&gt; v = new Vector&lt;&gt;();</a:t>
            </a:r>
          </a:p>
          <a:p>
            <a:pPr marL="0" indent="0">
              <a:buNone/>
            </a:pPr>
            <a:r>
              <a:rPr lang="en-IN" b="1" dirty="0" err="1"/>
              <a:t>v.add</a:t>
            </a:r>
            <a:r>
              <a:rPr lang="en-IN" b="1" dirty="0"/>
              <a:t>("A"); </a:t>
            </a:r>
            <a:r>
              <a:rPr lang="en-IN" b="1" dirty="0" err="1"/>
              <a:t>v.add</a:t>
            </a:r>
            <a:r>
              <a:rPr lang="en-IN" b="1" dirty="0"/>
              <a:t>("B"); </a:t>
            </a:r>
            <a:r>
              <a:rPr lang="en-IN" b="1" dirty="0" err="1"/>
              <a:t>v.add</a:t>
            </a:r>
            <a:r>
              <a:rPr lang="en-IN" b="1" dirty="0"/>
              <a:t>("C");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accent1"/>
                </a:solidFill>
              </a:rPr>
              <a:t>// Modern: Iterator</a:t>
            </a:r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Iterator&lt;String&gt; it = </a:t>
            </a:r>
            <a:r>
              <a:rPr lang="en-IN" b="1" dirty="0" err="1">
                <a:solidFill>
                  <a:srgbClr val="FF0000"/>
                </a:solidFill>
              </a:rPr>
              <a:t>v.iterator</a:t>
            </a:r>
            <a:r>
              <a:rPr lang="en-IN" b="1" dirty="0">
                <a:solidFill>
                  <a:srgbClr val="FF0000"/>
                </a:solidFill>
              </a:rPr>
              <a:t>();</a:t>
            </a:r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while (</a:t>
            </a:r>
            <a:r>
              <a:rPr lang="en-IN" b="1" dirty="0" err="1">
                <a:solidFill>
                  <a:srgbClr val="FF0000"/>
                </a:solidFill>
              </a:rPr>
              <a:t>it.hasNext</a:t>
            </a:r>
            <a:r>
              <a:rPr lang="en-IN" b="1" dirty="0">
                <a:solidFill>
                  <a:srgbClr val="FF0000"/>
                </a:solidFill>
              </a:rPr>
              <a:t>()) {</a:t>
            </a:r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    </a:t>
            </a:r>
            <a:r>
              <a:rPr lang="en-IN" b="1" dirty="0" err="1">
                <a:solidFill>
                  <a:srgbClr val="FF0000"/>
                </a:solidFill>
              </a:rPr>
              <a:t>System.out.println</a:t>
            </a:r>
            <a:r>
              <a:rPr lang="en-IN" b="1" dirty="0">
                <a:solidFill>
                  <a:srgbClr val="FF0000"/>
                </a:solidFill>
              </a:rPr>
              <a:t>(</a:t>
            </a:r>
            <a:r>
              <a:rPr lang="en-IN" b="1" dirty="0" err="1">
                <a:solidFill>
                  <a:srgbClr val="FF0000"/>
                </a:solidFill>
              </a:rPr>
              <a:t>it.next</a:t>
            </a:r>
            <a:r>
              <a:rPr lang="en-IN" b="1" dirty="0">
                <a:solidFill>
                  <a:srgbClr val="FF0000"/>
                </a:solidFill>
              </a:rPr>
              <a:t>());</a:t>
            </a:r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}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accent1"/>
                </a:solidFill>
              </a:rPr>
              <a:t>// Modern: for-each</a:t>
            </a:r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for (String s : v) {</a:t>
            </a:r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    </a:t>
            </a:r>
            <a:r>
              <a:rPr lang="en-IN" b="1" dirty="0" err="1">
                <a:solidFill>
                  <a:srgbClr val="FF0000"/>
                </a:solidFill>
              </a:rPr>
              <a:t>System.out.println</a:t>
            </a:r>
            <a:r>
              <a:rPr lang="en-IN" b="1" dirty="0">
                <a:solidFill>
                  <a:srgbClr val="FF0000"/>
                </a:solidFill>
              </a:rPr>
              <a:t>(s);</a:t>
            </a:r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331958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1F636-52FF-F23F-E29D-3C57BD8DD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Emptiness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C5228-2181-A43E-4D18-7285F66360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Vector&lt;String&gt; v = new Vector&lt;&gt;();</a:t>
            </a:r>
          </a:p>
          <a:p>
            <a:pPr marL="0" indent="0">
              <a:buNone/>
            </a:pPr>
            <a:r>
              <a:rPr lang="en-IN" b="1" dirty="0" err="1">
                <a:solidFill>
                  <a:srgbClr val="FF0000"/>
                </a:solidFill>
              </a:rPr>
              <a:t>System.out.println</a:t>
            </a:r>
            <a:r>
              <a:rPr lang="en-IN" b="1" dirty="0">
                <a:solidFill>
                  <a:srgbClr val="FF0000"/>
                </a:solidFill>
              </a:rPr>
              <a:t>(</a:t>
            </a:r>
            <a:r>
              <a:rPr lang="en-IN" b="1" dirty="0" err="1">
                <a:solidFill>
                  <a:srgbClr val="FF0000"/>
                </a:solidFill>
              </a:rPr>
              <a:t>v.isEmpty</a:t>
            </a:r>
            <a:r>
              <a:rPr lang="en-IN" b="1" dirty="0">
                <a:solidFill>
                  <a:srgbClr val="FF0000"/>
                </a:solidFill>
              </a:rPr>
              <a:t>());  // true</a:t>
            </a:r>
          </a:p>
          <a:p>
            <a:pPr marL="0" indent="0">
              <a:buNone/>
            </a:pPr>
            <a:r>
              <a:rPr lang="en-IN" b="1" dirty="0" err="1">
                <a:solidFill>
                  <a:srgbClr val="FF0000"/>
                </a:solidFill>
              </a:rPr>
              <a:t>v.add</a:t>
            </a:r>
            <a:r>
              <a:rPr lang="en-IN" b="1" dirty="0">
                <a:solidFill>
                  <a:srgbClr val="FF0000"/>
                </a:solidFill>
              </a:rPr>
              <a:t>("A");</a:t>
            </a:r>
          </a:p>
          <a:p>
            <a:pPr marL="0" indent="0">
              <a:buNone/>
            </a:pPr>
            <a:r>
              <a:rPr lang="en-IN" b="1" dirty="0" err="1">
                <a:solidFill>
                  <a:srgbClr val="FF0000"/>
                </a:solidFill>
              </a:rPr>
              <a:t>System.out.println</a:t>
            </a:r>
            <a:r>
              <a:rPr lang="en-IN" b="1" dirty="0">
                <a:solidFill>
                  <a:srgbClr val="FF0000"/>
                </a:solidFill>
              </a:rPr>
              <a:t>(</a:t>
            </a:r>
            <a:r>
              <a:rPr lang="en-IN" b="1" dirty="0" err="1">
                <a:solidFill>
                  <a:srgbClr val="FF0000"/>
                </a:solidFill>
              </a:rPr>
              <a:t>v.isEmpty</a:t>
            </a:r>
            <a:r>
              <a:rPr lang="en-IN" b="1" dirty="0">
                <a:solidFill>
                  <a:srgbClr val="FF0000"/>
                </a:solidFill>
              </a:rPr>
              <a:t>());  // false</a:t>
            </a:r>
          </a:p>
        </p:txBody>
      </p:sp>
    </p:spTree>
    <p:extLst>
      <p:ext uri="{BB962C8B-B14F-4D97-AF65-F5344CB8AC3E}">
        <p14:creationId xmlns:p14="http://schemas.microsoft.com/office/powerpoint/2010/main" val="36976806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CF96E-AF30-9E60-8F4C-80CA4E947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Iterable</a:t>
            </a:r>
            <a:r>
              <a:rPr lang="en-IN" dirty="0"/>
              <a:t> and Iterator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AC4A3-39AE-9A63-372D-787723CD58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IN" dirty="0"/>
              <a:t>Before these interfaces, every collection type had its own way of being traversed.</a:t>
            </a:r>
          </a:p>
          <a:p>
            <a:pPr marL="0" indent="0" algn="just">
              <a:buNone/>
            </a:pPr>
            <a:r>
              <a:rPr lang="en-IN" dirty="0"/>
              <a:t>Arrays use an index and length, Vector used Enumeration, and if you wrote a custom data structure (say, a </a:t>
            </a:r>
            <a:r>
              <a:rPr lang="en-IN" dirty="0" err="1"/>
              <a:t>PatientQueue</a:t>
            </a:r>
            <a:r>
              <a:rPr lang="en-IN" dirty="0"/>
              <a:t>), there was no standard contract for how to walk through it. </a:t>
            </a:r>
          </a:p>
          <a:p>
            <a:pPr marL="0" indent="0" algn="just">
              <a:buNone/>
            </a:pPr>
            <a:r>
              <a:rPr lang="en-IN" dirty="0" err="1"/>
              <a:t>Iterable</a:t>
            </a:r>
            <a:r>
              <a:rPr lang="en-IN" dirty="0"/>
              <a:t> and Iterator standardize traversal: any class that implements </a:t>
            </a:r>
            <a:r>
              <a:rPr lang="en-IN" dirty="0" err="1"/>
              <a:t>Iterable</a:t>
            </a:r>
            <a:r>
              <a:rPr lang="en-IN" dirty="0"/>
              <a:t> can be used in a for-each loop, regardless of its internal structure (array, linked list, tree, hash table).</a:t>
            </a:r>
          </a:p>
        </p:txBody>
      </p:sp>
    </p:spTree>
    <p:extLst>
      <p:ext uri="{BB962C8B-B14F-4D97-AF65-F5344CB8AC3E}">
        <p14:creationId xmlns:p14="http://schemas.microsoft.com/office/powerpoint/2010/main" val="41694227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03865-6DE7-B6B9-2386-8A45AC437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F925F-AE30-1F64-ED24-589D668350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 err="1"/>
              <a:t>Iterable</a:t>
            </a:r>
            <a:r>
              <a:rPr lang="en-IN" b="1" dirty="0"/>
              <a:t>&lt;T&gt; — the interface</a:t>
            </a:r>
          </a:p>
          <a:p>
            <a:pPr marL="0" indent="0">
              <a:buNone/>
            </a:pPr>
            <a:r>
              <a:rPr lang="en-IN" dirty="0"/>
              <a:t>public interface </a:t>
            </a:r>
            <a:r>
              <a:rPr lang="en-IN" dirty="0" err="1"/>
              <a:t>Iterable</a:t>
            </a:r>
            <a:r>
              <a:rPr lang="en-IN" dirty="0"/>
              <a:t>&lt;T&gt; {</a:t>
            </a:r>
          </a:p>
          <a:p>
            <a:pPr marL="0" indent="0">
              <a:buNone/>
            </a:pPr>
            <a:r>
              <a:rPr lang="en-IN" dirty="0"/>
              <a:t>    Iterator&lt;T&gt; iterator();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Iterator&lt;T&gt; — the interface</a:t>
            </a:r>
          </a:p>
          <a:p>
            <a:pPr marL="0" indent="0">
              <a:buNone/>
            </a:pPr>
            <a:r>
              <a:rPr lang="en-IN" dirty="0"/>
              <a:t>public interface Iterator&lt;T&gt; {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boolean</a:t>
            </a:r>
            <a:r>
              <a:rPr lang="en-IN" dirty="0"/>
              <a:t> </a:t>
            </a:r>
            <a:r>
              <a:rPr lang="en-IN" dirty="0" err="1"/>
              <a:t>hasNext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T next();</a:t>
            </a:r>
          </a:p>
          <a:p>
            <a:pPr marL="0" indent="0">
              <a:buNone/>
            </a:pPr>
            <a:r>
              <a:rPr lang="en-IN" dirty="0"/>
              <a:t>    default void remove() { throw new </a:t>
            </a:r>
            <a:r>
              <a:rPr lang="en-IN" dirty="0" err="1"/>
              <a:t>UnsupportedOperationException</a:t>
            </a:r>
            <a:r>
              <a:rPr lang="en-IN" dirty="0"/>
              <a:t>();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36854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D0BD1-0847-62AB-A696-147920389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96B65-E510-7A4B-EDA7-3F0FF1CD5B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Three methods under iterator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E058231-9D68-3FF9-982E-EE3E3DFB8632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858294"/>
          <a:ext cx="10515600" cy="201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51428632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5750564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15956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hasNext()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Returns true if there's another element to visit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22965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next()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Returns the current element and advances the cursor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2789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remove()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Removes the last element returned by next() — the only safe way to remove elements while iterating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20242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272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B6522-88CA-D3E2-CD59-897456008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3274A0-A74D-47BF-F6E5-405279C82D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Vector&lt;String&gt; patients = new Vector&lt;&gt;();</a:t>
            </a:r>
          </a:p>
          <a:p>
            <a:pPr marL="0" indent="0">
              <a:buNone/>
            </a:pPr>
            <a:r>
              <a:rPr lang="en-IN" dirty="0" err="1"/>
              <a:t>patients.add</a:t>
            </a:r>
            <a:r>
              <a:rPr lang="en-IN" dirty="0"/>
              <a:t>("Ravi"); </a:t>
            </a:r>
            <a:r>
              <a:rPr lang="en-IN" dirty="0" err="1"/>
              <a:t>patients.add</a:t>
            </a:r>
            <a:r>
              <a:rPr lang="en-IN" dirty="0"/>
              <a:t>("Priya"); </a:t>
            </a:r>
            <a:r>
              <a:rPr lang="en-IN" dirty="0" err="1"/>
              <a:t>patients.add</a:t>
            </a:r>
            <a:r>
              <a:rPr lang="en-IN" dirty="0"/>
              <a:t>("Kumar");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Iterator&lt;String&gt; it = </a:t>
            </a:r>
            <a:r>
              <a:rPr lang="en-IN" dirty="0" err="1">
                <a:solidFill>
                  <a:srgbClr val="FF0000"/>
                </a:solidFill>
              </a:rPr>
              <a:t>patients.iterator</a:t>
            </a:r>
            <a:r>
              <a:rPr lang="en-IN" dirty="0">
                <a:solidFill>
                  <a:srgbClr val="FF0000"/>
                </a:solidFill>
              </a:rPr>
              <a:t>();  // patients (</a:t>
            </a:r>
            <a:r>
              <a:rPr lang="en-IN" dirty="0" err="1">
                <a:solidFill>
                  <a:srgbClr val="FF0000"/>
                </a:solidFill>
              </a:rPr>
              <a:t>Iterable</a:t>
            </a:r>
            <a:r>
              <a:rPr lang="en-IN" dirty="0">
                <a:solidFill>
                  <a:srgbClr val="FF0000"/>
                </a:solidFill>
              </a:rPr>
              <a:t>) produces an Iterator </a:t>
            </a:r>
          </a:p>
          <a:p>
            <a:pPr marL="0" indent="0">
              <a:buNone/>
            </a:pPr>
            <a:r>
              <a:rPr lang="en-IN" dirty="0"/>
              <a:t>while (</a:t>
            </a:r>
            <a:r>
              <a:rPr lang="en-IN" dirty="0" err="1"/>
              <a:t>it.hasNext</a:t>
            </a:r>
            <a:r>
              <a:rPr lang="en-IN" dirty="0"/>
              <a:t>()) {</a:t>
            </a:r>
          </a:p>
          <a:p>
            <a:pPr marL="0" indent="0">
              <a:buNone/>
            </a:pPr>
            <a:r>
              <a:rPr lang="en-IN" dirty="0"/>
              <a:t>    String name = </a:t>
            </a:r>
            <a:r>
              <a:rPr lang="en-IN" dirty="0" err="1"/>
              <a:t>it.next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System.out.println</a:t>
            </a:r>
            <a:r>
              <a:rPr lang="en-IN" dirty="0"/>
              <a:t>(name);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606826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3318B-2CC3-815F-5FE1-F1D19F476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16144AE-AE33-5856-D415-45A8BD01D3A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620974" y="1809092"/>
          <a:ext cx="6950052" cy="43844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16684">
                  <a:extLst>
                    <a:ext uri="{9D8B030D-6E8A-4147-A177-3AD203B41FA5}">
                      <a16:colId xmlns:a16="http://schemas.microsoft.com/office/drawing/2014/main" val="189570127"/>
                    </a:ext>
                  </a:extLst>
                </a:gridCol>
                <a:gridCol w="2316684">
                  <a:extLst>
                    <a:ext uri="{9D8B030D-6E8A-4147-A177-3AD203B41FA5}">
                      <a16:colId xmlns:a16="http://schemas.microsoft.com/office/drawing/2014/main" val="4258690894"/>
                    </a:ext>
                  </a:extLst>
                </a:gridCol>
                <a:gridCol w="2316684">
                  <a:extLst>
                    <a:ext uri="{9D8B030D-6E8A-4147-A177-3AD203B41FA5}">
                      <a16:colId xmlns:a16="http://schemas.microsoft.com/office/drawing/2014/main" val="2437198183"/>
                    </a:ext>
                  </a:extLst>
                </a:gridCol>
              </a:tblGrid>
              <a:tr h="4230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Role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Represents "this object can be iterated over"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Represents "the actual traversal mechanism"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3386716230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Package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java.lang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java.util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3711403255"/>
                  </a:ext>
                </a:extLst>
              </a:tr>
              <a:tr h="4230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Methods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 method: iterator()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3 methods: hasNext(), next(), remove()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3935681757"/>
                  </a:ext>
                </a:extLst>
              </a:tr>
              <a:tr h="4230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What it returns/does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Returns an Iterator object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Does the actual step-by-step traversal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3477249668"/>
                  </a:ext>
                </a:extLst>
              </a:tr>
              <a:tr h="6043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Who implements it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The collection class itself (ArrayList, Vector, HashSet, your custom class)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A separate helper object created by the collection (often an inner/anonymous class)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1777290594"/>
                  </a:ext>
                </a:extLst>
              </a:tr>
              <a:tr h="4230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Enables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The enhanced for-each loop (for (x : collection))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Manual while loop traversal with cursor control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1468347341"/>
                  </a:ext>
                </a:extLst>
              </a:tr>
              <a:tr h="6043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State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Stateless — just a factory/contract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Stateful — holds a cursor/position, remembers where it is in the traversal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2241553193"/>
                  </a:ext>
                </a:extLst>
              </a:tr>
              <a:tr h="4230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Can you remove elements with it?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No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Yes, via remove()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993563987"/>
                  </a:ext>
                </a:extLst>
              </a:tr>
              <a:tr h="7856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Reusability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The Iterable object (the collection) is reused indefinitely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A single Iterator instance is single-use — once exhausted, you get a fresh one by calling iterator() again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9600723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24346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4A2E9-381D-04BB-A1E5-E5844ACF0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Using iterator we can remove elements while traversing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763CD-C490-63B3-5B64-C8FA29B868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// CORRECT — use Iterator's own remove()</a:t>
            </a:r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Iterator&lt;String&gt; it = </a:t>
            </a:r>
            <a:r>
              <a:rPr lang="en-IN" b="1" dirty="0" err="1">
                <a:solidFill>
                  <a:srgbClr val="FF0000"/>
                </a:solidFill>
              </a:rPr>
              <a:t>patients.iterator</a:t>
            </a:r>
            <a:r>
              <a:rPr lang="en-IN" b="1" dirty="0">
                <a:solidFill>
                  <a:srgbClr val="FF0000"/>
                </a:solidFill>
              </a:rPr>
              <a:t>();</a:t>
            </a:r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while (</a:t>
            </a:r>
            <a:r>
              <a:rPr lang="en-IN" b="1" dirty="0" err="1">
                <a:solidFill>
                  <a:srgbClr val="FF0000"/>
                </a:solidFill>
              </a:rPr>
              <a:t>it.hasNext</a:t>
            </a:r>
            <a:r>
              <a:rPr lang="en-IN" b="1" dirty="0">
                <a:solidFill>
                  <a:srgbClr val="FF0000"/>
                </a:solidFill>
              </a:rPr>
              <a:t>()) {</a:t>
            </a:r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    String name = </a:t>
            </a:r>
            <a:r>
              <a:rPr lang="en-IN" b="1" dirty="0" err="1">
                <a:solidFill>
                  <a:srgbClr val="FF0000"/>
                </a:solidFill>
              </a:rPr>
              <a:t>it.next</a:t>
            </a:r>
            <a:r>
              <a:rPr lang="en-IN" b="1" dirty="0">
                <a:solidFill>
                  <a:srgbClr val="FF0000"/>
                </a:solidFill>
              </a:rPr>
              <a:t>();</a:t>
            </a:r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    if (</a:t>
            </a:r>
            <a:r>
              <a:rPr lang="en-IN" b="1" dirty="0" err="1">
                <a:solidFill>
                  <a:srgbClr val="FF0000"/>
                </a:solidFill>
              </a:rPr>
              <a:t>name.equals</a:t>
            </a:r>
            <a:r>
              <a:rPr lang="en-IN" b="1" dirty="0">
                <a:solidFill>
                  <a:srgbClr val="FF0000"/>
                </a:solidFill>
              </a:rPr>
              <a:t>("Priya")) {</a:t>
            </a:r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        </a:t>
            </a:r>
            <a:r>
              <a:rPr lang="en-IN" b="1" dirty="0" err="1">
                <a:solidFill>
                  <a:srgbClr val="FF0000"/>
                </a:solidFill>
              </a:rPr>
              <a:t>it.remove</a:t>
            </a:r>
            <a:r>
              <a:rPr lang="en-IN" b="1" dirty="0">
                <a:solidFill>
                  <a:srgbClr val="FF0000"/>
                </a:solidFill>
              </a:rPr>
              <a:t>();   // safe — Iterator knows how to fix its internal cursor</a:t>
            </a:r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    }</a:t>
            </a:r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766150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4C7D7-24F2-5D11-EDEE-AABEC8FED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Java Math Class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7E300-A4CE-E7B1-32A8-15D3CD7148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</a:t>
            </a:r>
            <a:r>
              <a:rPr lang="en-IN" b="1" dirty="0" err="1"/>
              <a:t>java.lang.Math</a:t>
            </a:r>
            <a:r>
              <a:rPr lang="en-IN" dirty="0"/>
              <a:t> class contains methods for performing basic numeric operations such as the elementary exponential, logarithm, square root, and trigonometric functions.</a:t>
            </a:r>
          </a:p>
          <a:p>
            <a:r>
              <a:rPr lang="en-IN" dirty="0"/>
              <a:t>This class inherits methods from the following classes −</a:t>
            </a:r>
          </a:p>
          <a:p>
            <a:pPr lvl="0"/>
            <a:r>
              <a:rPr lang="en-IN" dirty="0" err="1"/>
              <a:t>java.lang.Object</a:t>
            </a:r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12720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0B6F3-5802-96D1-29F1-E7809F039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CDC8D-896C-062B-A8D3-E0933A6D9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Main {</a:t>
            </a: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static void main(String[] 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 marL="0" indent="0">
              <a:buNone/>
            </a:pPr>
            <a:r>
              <a:rPr lang="en-I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Math.abs</a:t>
            </a:r>
            <a:r>
              <a:rPr lang="en-I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(-10));       // 10</a:t>
            </a:r>
          </a:p>
          <a:p>
            <a:pPr marL="0" indent="0">
              <a:buNone/>
            </a:pPr>
            <a:r>
              <a:rPr lang="en-I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Math.sqrt</a:t>
            </a:r>
            <a:r>
              <a:rPr lang="en-I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(25));       // 5.0</a:t>
            </a:r>
          </a:p>
          <a:p>
            <a:pPr marL="0" indent="0">
              <a:buNone/>
            </a:pPr>
            <a:r>
              <a:rPr lang="en-I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Math.pow</a:t>
            </a:r>
            <a:r>
              <a:rPr lang="en-I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 3));      // 8.0</a:t>
            </a:r>
          </a:p>
          <a:p>
            <a:pPr marL="0" indent="0">
              <a:buNone/>
            </a:pPr>
            <a:r>
              <a:rPr lang="en-I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Math.max</a:t>
            </a:r>
            <a:r>
              <a:rPr lang="en-I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(10, 20));    // 20</a:t>
            </a:r>
          </a:p>
          <a:p>
            <a:pPr marL="0" indent="0">
              <a:buNone/>
            </a:pPr>
            <a:r>
              <a:rPr lang="en-I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Math.min</a:t>
            </a:r>
            <a:r>
              <a:rPr lang="en-I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(10, 20));    // 10</a:t>
            </a:r>
          </a:p>
          <a:p>
            <a:pPr marL="0" indent="0">
              <a:buNone/>
            </a:pPr>
            <a:r>
              <a:rPr lang="en-I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Math.ceil</a:t>
            </a:r>
            <a:r>
              <a:rPr lang="en-I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(4.3));      // 5.0</a:t>
            </a:r>
          </a:p>
          <a:p>
            <a:pPr marL="0" indent="0">
              <a:buNone/>
            </a:pPr>
            <a:r>
              <a:rPr lang="en-I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Math.floor</a:t>
            </a:r>
            <a:r>
              <a:rPr lang="en-I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(4.8));     // 4.0</a:t>
            </a:r>
          </a:p>
          <a:p>
            <a:pPr marL="0" indent="0">
              <a:buNone/>
            </a:pPr>
            <a:r>
              <a:rPr lang="en-I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Math.round</a:t>
            </a:r>
            <a:r>
              <a:rPr lang="en-I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(4.6));     // 5</a:t>
            </a:r>
          </a:p>
          <a:p>
            <a:pPr marL="0" indent="0">
              <a:buNone/>
            </a:pPr>
            <a:r>
              <a:rPr lang="en-I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Math.random</a:t>
            </a:r>
            <a:r>
              <a:rPr lang="en-I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());       // 0.0 to &lt; 1.0</a:t>
            </a: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209981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1744</Words>
  <Application>Microsoft Office PowerPoint</Application>
  <PresentationFormat>Widescreen</PresentationFormat>
  <Paragraphs>179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Times New Roman</vt:lpstr>
      <vt:lpstr>Office Theme</vt:lpstr>
      <vt:lpstr>Vectors</vt:lpstr>
      <vt:lpstr>Vector</vt:lpstr>
      <vt:lpstr>PowerPoint Presentation</vt:lpstr>
      <vt:lpstr>Vector declaration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Iteration</vt:lpstr>
      <vt:lpstr>Emptiness check</vt:lpstr>
      <vt:lpstr>Iterable and Iterator</vt:lpstr>
      <vt:lpstr>PowerPoint Presentation</vt:lpstr>
      <vt:lpstr>PowerPoint Presentation</vt:lpstr>
      <vt:lpstr>PowerPoint Presentation</vt:lpstr>
      <vt:lpstr>PowerPoint Presentation</vt:lpstr>
      <vt:lpstr>Using iterator we can remove elements while traversing</vt:lpstr>
      <vt:lpstr>Java Math Class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Anusuya R</dc:creator>
  <cp:lastModifiedBy>Anusuya R</cp:lastModifiedBy>
  <cp:revision>1</cp:revision>
  <dcterms:created xsi:type="dcterms:W3CDTF">2026-09-22T03:10:44Z</dcterms:created>
  <dcterms:modified xsi:type="dcterms:W3CDTF">2026-09-22T05:13:34Z</dcterms:modified>
</cp:coreProperties>
</file>