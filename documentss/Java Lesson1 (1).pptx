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1"/>
  </p:notesMasterIdLst>
  <p:sldIdLst>
    <p:sldId id="256" r:id="rId2"/>
    <p:sldId id="265" r:id="rId3"/>
    <p:sldId id="277" r:id="rId4"/>
    <p:sldId id="266" r:id="rId5"/>
    <p:sldId id="267" r:id="rId6"/>
    <p:sldId id="28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9" r:id="rId16"/>
    <p:sldId id="278" r:id="rId17"/>
    <p:sldId id="279" r:id="rId18"/>
    <p:sldId id="281" r:id="rId19"/>
    <p:sldId id="270" r:id="rId20"/>
    <p:sldId id="272" r:id="rId21"/>
    <p:sldId id="271" r:id="rId22"/>
    <p:sldId id="282" r:id="rId23"/>
    <p:sldId id="273" r:id="rId24"/>
    <p:sldId id="274" r:id="rId25"/>
    <p:sldId id="275" r:id="rId26"/>
    <p:sldId id="304" r:id="rId27"/>
    <p:sldId id="305" r:id="rId28"/>
    <p:sldId id="306" r:id="rId29"/>
    <p:sldId id="307" r:id="rId30"/>
    <p:sldId id="308" r:id="rId31"/>
    <p:sldId id="268" r:id="rId32"/>
    <p:sldId id="276" r:id="rId33"/>
    <p:sldId id="302" r:id="rId34"/>
    <p:sldId id="283" r:id="rId35"/>
    <p:sldId id="284" r:id="rId36"/>
    <p:sldId id="286" r:id="rId37"/>
    <p:sldId id="295" r:id="rId38"/>
    <p:sldId id="298" r:id="rId39"/>
    <p:sldId id="296" r:id="rId40"/>
    <p:sldId id="288" r:id="rId41"/>
    <p:sldId id="299" r:id="rId42"/>
    <p:sldId id="294" r:id="rId43"/>
    <p:sldId id="287" r:id="rId44"/>
    <p:sldId id="300" r:id="rId45"/>
    <p:sldId id="289" r:id="rId46"/>
    <p:sldId id="291" r:id="rId47"/>
    <p:sldId id="301" r:id="rId48"/>
    <p:sldId id="292" r:id="rId49"/>
    <p:sldId id="303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12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uya R" userId="85eefe040dbd19ca" providerId="LiveId" clId="{F6C0FBD5-51B7-4E53-9C14-EFF993B86CB3}"/>
    <pc:docChg chg="undo custSel addSld modSld">
      <pc:chgData name="Anusuya R" userId="85eefe040dbd19ca" providerId="LiveId" clId="{F6C0FBD5-51B7-4E53-9C14-EFF993B86CB3}" dt="2026-09-29T07:13:34.584" v="473" actId="20577"/>
      <pc:docMkLst>
        <pc:docMk/>
      </pc:docMkLst>
      <pc:sldChg chg="delSp modSp mod">
        <pc:chgData name="Anusuya R" userId="85eefe040dbd19ca" providerId="LiveId" clId="{F6C0FBD5-51B7-4E53-9C14-EFF993B86CB3}" dt="2026-09-29T07:13:34.584" v="473" actId="20577"/>
        <pc:sldMkLst>
          <pc:docMk/>
          <pc:sldMk cId="1075440915" sldId="256"/>
        </pc:sldMkLst>
        <pc:spChg chg="mod">
          <ac:chgData name="Anusuya R" userId="85eefe040dbd19ca" providerId="LiveId" clId="{F6C0FBD5-51B7-4E53-9C14-EFF993B86CB3}" dt="2026-09-29T07:13:34.584" v="473" actId="20577"/>
          <ac:spMkLst>
            <pc:docMk/>
            <pc:sldMk cId="1075440915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9C74-25A8-4063-ADDB-DD112477666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EE949-BB28-4017-B2B8-EE3CB65A3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4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obe.com/tiobe-index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https://www.tiobe.com/tiobe-index/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6EE949-BB28-4017-B2B8-EE3CB65A34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77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6EE949-BB28-4017-B2B8-EE3CB65A340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75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it as Example.java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6EE949-BB28-4017-B2B8-EE3CB65A340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96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2362200"/>
            <a:ext cx="6477000" cy="1828800"/>
          </a:xfrm>
        </p:spPr>
        <p:txBody>
          <a:bodyPr/>
          <a:lstStyle/>
          <a:p>
            <a:pPr algn="ctr"/>
            <a:r>
              <a:rPr lang="en-US" dirty="0"/>
              <a:t>Java Programming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76200" y="6019800"/>
            <a:ext cx="3214255" cy="762000"/>
          </a:xfrm>
        </p:spPr>
        <p:txBody>
          <a:bodyPr>
            <a:normAutofit/>
          </a:bodyPr>
          <a:lstStyle/>
          <a:p>
            <a:r>
              <a:rPr lang="en-US" dirty="0" err="1"/>
              <a:t>Dr.R</a:t>
            </a:r>
            <a:r>
              <a:rPr lang="en-US" err="1"/>
              <a:t>.</a:t>
            </a:r>
            <a:r>
              <a:rPr lang="en-US"/>
              <a:t>Anusuya</a:t>
            </a:r>
            <a:endParaRPr lang="en-US" dirty="0"/>
          </a:p>
        </p:txBody>
      </p:sp>
      <p:sp>
        <p:nvSpPr>
          <p:cNvPr id="6" name="AutoShape 6" descr="Image result for java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371600"/>
            <a:ext cx="193357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544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Java is a software platform and programming language that is class based, object-oriented and intended for developers to create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4810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 Oriented Programming Model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Java is object oriented programming model.</a:t>
            </a:r>
          </a:p>
          <a:p>
            <a:r>
              <a:rPr lang="en-US" dirty="0"/>
              <a:t>Everything is considered as object in Java.</a:t>
            </a:r>
          </a:p>
          <a:p>
            <a:r>
              <a:rPr lang="en-US" dirty="0"/>
              <a:t>An object always would have a state and a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51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Java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1714627"/>
            <a:ext cx="8153400" cy="4266946"/>
          </a:xfrm>
        </p:spPr>
      </p:pic>
    </p:spTree>
    <p:extLst>
      <p:ext uri="{BB962C8B-B14F-4D97-AF65-F5344CB8AC3E}">
        <p14:creationId xmlns:p14="http://schemas.microsoft.com/office/powerpoint/2010/main" val="265596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Popularity of Java as on Aug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74EFC-B4EF-AAC5-853F-0B2882CCB6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44D84-5F18-DE8B-5E23-D4EF0A591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9044"/>
            <a:ext cx="9144000" cy="349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2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creation of C(1989) is considered by many to have marked the beginning of the modern age of computer languages.</a:t>
            </a:r>
          </a:p>
          <a:p>
            <a:pPr algn="just"/>
            <a:r>
              <a:rPr lang="en-US" dirty="0"/>
              <a:t>As the complexity of programs increased beyond 250000 lines of code C could not handle and hence C++ was developed  as an object oriented programming language.</a:t>
            </a:r>
          </a:p>
          <a:p>
            <a:pPr algn="just"/>
            <a:r>
              <a:rPr lang="en-US" dirty="0"/>
              <a:t>C++ also called C with classes and was widely used in early 1990s.</a:t>
            </a:r>
          </a:p>
          <a:p>
            <a:pPr algn="just"/>
            <a:r>
              <a:rPr lang="en-US" dirty="0"/>
              <a:t>Within few years internet and www was introduced which called for a new programming revolution.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4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history of Java starts with Green Team of Sun Microsystems.</a:t>
            </a:r>
          </a:p>
          <a:p>
            <a:r>
              <a:rPr lang="en-US" dirty="0"/>
              <a:t>The team comprises of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James Gosling   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Mike Sheridan  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Patrick </a:t>
            </a:r>
            <a:r>
              <a:rPr lang="en-US" dirty="0" err="1"/>
              <a:t>Naughton</a:t>
            </a:r>
            <a:r>
              <a:rPr lang="en-US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2" y="3124200"/>
            <a:ext cx="103822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1" y="3962400"/>
            <a:ext cx="10382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1" y="5124450"/>
            <a:ext cx="1038226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7986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Originally named as </a:t>
            </a:r>
            <a:r>
              <a:rPr lang="en-US" dirty="0" err="1"/>
              <a:t>Greentalk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The team initiated the Java language project in 1991.</a:t>
            </a:r>
          </a:p>
          <a:p>
            <a:pPr algn="just"/>
            <a:r>
              <a:rPr lang="en-US" dirty="0"/>
              <a:t>Team initiated a task to develop a language to be used in digital devices such as televisions and set-top boxes.</a:t>
            </a:r>
          </a:p>
          <a:p>
            <a:pPr algn="just"/>
            <a:r>
              <a:rPr lang="en-US" dirty="0"/>
              <a:t>It was named “</a:t>
            </a:r>
            <a:r>
              <a:rPr lang="en-US" dirty="0" err="1"/>
              <a:t>Greentalk</a:t>
            </a:r>
            <a:r>
              <a:rPr lang="en-US" dirty="0"/>
              <a:t>” and file extension was .</a:t>
            </a:r>
            <a:r>
              <a:rPr lang="en-US" dirty="0" err="1"/>
              <a:t>gt.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6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Renamed to Oak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Later it was renamed to “Oak”.</a:t>
            </a:r>
          </a:p>
          <a:p>
            <a:pPr algn="just"/>
            <a:r>
              <a:rPr lang="en-US" dirty="0"/>
              <a:t>Name is inspired from “Oak Tree” which was outside Gosling’s office.</a:t>
            </a:r>
          </a:p>
          <a:p>
            <a:pPr algn="just"/>
            <a:r>
              <a:rPr lang="en-US" b="1" dirty="0"/>
              <a:t>Why Oak?</a:t>
            </a:r>
            <a:r>
              <a:rPr lang="en-US" dirty="0"/>
              <a:t> Oak is a symbol of strength and chosen as a national tree of many countries like the U.S.A., France, Germany, Romania, etc.</a:t>
            </a:r>
          </a:p>
          <a:p>
            <a:pPr algn="just"/>
            <a:r>
              <a:rPr lang="en-US" dirty="0"/>
              <a:t>In 1995, the team decided to rename because it was already a trademark by Oak Technologies.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8600"/>
            <a:ext cx="12382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42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Name was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team gathered to choose a new name. </a:t>
            </a:r>
          </a:p>
          <a:p>
            <a:r>
              <a:rPr lang="en-US" dirty="0"/>
              <a:t>The suggested words were "dynamic", "revolutionary", "Silk", "jolt", "DNA", etc. </a:t>
            </a:r>
          </a:p>
          <a:p>
            <a:r>
              <a:rPr lang="en-US" dirty="0"/>
              <a:t>They wanted something that reflected the essence of the technology: revolutionary, dynamic, lively, cool, unique, and easy to spell and fun to say.</a:t>
            </a:r>
          </a:p>
          <a:p>
            <a:r>
              <a:rPr lang="en-US" dirty="0"/>
              <a:t>According to James Gosling, "Java was one of the top choices along with </a:t>
            </a:r>
            <a:r>
              <a:rPr lang="en-US" b="1" dirty="0"/>
              <a:t>Silk</a:t>
            </a:r>
            <a:r>
              <a:rPr lang="en-US" dirty="0"/>
              <a:t>". Since Java was so unique, most of the team members preferred Java than other names.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81000"/>
            <a:ext cx="97155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8985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657600"/>
            <a:ext cx="329565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76400" y="1752600"/>
            <a:ext cx="5715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  <a:latin typeface="Aharoni" pitchFamily="2" charset="-79"/>
                <a:cs typeface="Aharoni" pitchFamily="2" charset="-79"/>
              </a:rPr>
              <a:t>Java is an island of Indonesia where the first coffee was produced (called java coffee). It is a kind of espresso bean. Java name was chosen by James Gosling while having coffee near his office.</a:t>
            </a:r>
          </a:p>
        </p:txBody>
      </p:sp>
    </p:spTree>
    <p:extLst>
      <p:ext uri="{BB962C8B-B14F-4D97-AF65-F5344CB8AC3E}">
        <p14:creationId xmlns:p14="http://schemas.microsoft.com/office/powerpoint/2010/main" val="92582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Official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Java was selected as one of the ten best products of 1995 by Time Magazine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JDK 1.0 released in(January 23, 1996). </a:t>
            </a:r>
          </a:p>
          <a:p>
            <a:pPr algn="just"/>
            <a:r>
              <a:rPr lang="en-US" dirty="0"/>
              <a:t>After the first release of Java, there have been many additional features added to the language. </a:t>
            </a:r>
          </a:p>
          <a:p>
            <a:pPr algn="just"/>
            <a:r>
              <a:rPr lang="en-US" dirty="0"/>
              <a:t>Now Java is being used in Windows applications, Web applications, enterprise applications, mobile applications, cards, etc. Each new version adds the new features in Java.</a:t>
            </a:r>
          </a:p>
        </p:txBody>
      </p:sp>
    </p:spTree>
    <p:extLst>
      <p:ext uri="{BB962C8B-B14F-4D97-AF65-F5344CB8AC3E}">
        <p14:creationId xmlns:p14="http://schemas.microsoft.com/office/powerpoint/2010/main" val="119492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JDK VERSION RELEASED SO FAR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46E2763-0985-733A-EB9D-B7CCFF8AFCE7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4098925" y="3058160"/>
          <a:ext cx="1181100" cy="135128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934095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March, 17th 2020</a:t>
                      </a:r>
                      <a:endParaRPr lang="en-IN">
                        <a:effectLst/>
                      </a:endParaRPr>
                    </a:p>
                  </a:txBody>
                  <a:tcPr marL="68580" marR="6858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363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endParaRPr lang="en-IN" dirty="0">
                        <a:effectLst/>
                      </a:endParaRPr>
                    </a:p>
                  </a:txBody>
                  <a:tcPr marL="68580" marR="6858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2624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1600199"/>
            <a:ext cx="8153400" cy="495299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Many java versions have been released till now. The current stable release of Java is Java SE 22.0.2.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JDK Alpha and Beta (1995)                     13. Java SE 11 (September, 25th 2018)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JDK 1.0 (23rd Jan 1996)                          14. Java SE 12 (March, 19th 2019)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JDK 1.1 (19th Feb 1997)                          15. Java SE 13 (September, 17th 2019)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J2SE 1.2 (8th Dec 1998)                           16. Java SE 14 (March 17,2020)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J2SE 1.3 (8th May 2000)                          17. Java SE 15 (September 15,2020)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J2SE 1.4 (6th Feb 2002)                            18. Java SE 16 (March 16,2021)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J2SE 5.0 (30th Sep 2004)                          19. Java SE 17 (September 2021)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Java SE 6 (11th Dec 2006)                        20. Java SE 18 (March, 22nd 2022)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Java SE 7 (28th July 2011)                       21. Java SE 19 (September, 20th 2022)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Java SE 8 (18th Mar 2014)                        22. Java SE 20 (March 21,2023)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Java SE 9 (21st Sep 2017)                         23. Java SE 21 (September 2023)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Java SE 10 (20th Mar 2018)                      24. Java SE 22 (March 19,2024)</a:t>
            </a:r>
          </a:p>
          <a:p>
            <a:r>
              <a:rPr lang="en-US" b="1" dirty="0">
                <a:solidFill>
                  <a:srgbClr val="7030A0"/>
                </a:solidFill>
              </a:rPr>
              <a:t>                                                                        25. Java SE 23 (September 17.2024)</a:t>
            </a:r>
          </a:p>
          <a:p>
            <a:r>
              <a:rPr lang="en-US" b="1" dirty="0">
                <a:solidFill>
                  <a:srgbClr val="7030A0"/>
                </a:solidFill>
              </a:rPr>
              <a:t>                                                                        26. Java SE 24 (March 18, 2025)</a:t>
            </a:r>
          </a:p>
          <a:p>
            <a:r>
              <a:rPr lang="en-US" b="1" dirty="0">
                <a:solidFill>
                  <a:srgbClr val="7030A0"/>
                </a:solidFill>
              </a:rPr>
              <a:t>			                           27. Java SE 25 (September 16,2025)</a:t>
            </a:r>
          </a:p>
          <a:p>
            <a:r>
              <a:rPr lang="en-US" b="1" dirty="0">
                <a:solidFill>
                  <a:srgbClr val="7030A0"/>
                </a:solidFill>
              </a:rPr>
              <a:t>				            28. Java </a:t>
            </a:r>
            <a:r>
              <a:rPr lang="en-US" b="1">
                <a:solidFill>
                  <a:srgbClr val="7030A0"/>
                </a:solidFill>
              </a:rPr>
              <a:t>SE 26 (March 17, 2026) </a:t>
            </a:r>
            <a:r>
              <a:rPr lang="en-US" b="1" dirty="0">
                <a:solidFill>
                  <a:srgbClr val="7030A0"/>
                </a:solidFill>
              </a:rPr>
              <a:t>		</a:t>
            </a:r>
          </a:p>
          <a:p>
            <a:r>
              <a:rPr lang="en-US" b="1" dirty="0">
                <a:solidFill>
                  <a:srgbClr val="7030A0"/>
                </a:solidFill>
              </a:rPr>
              <a:t>	</a:t>
            </a:r>
          </a:p>
          <a:p>
            <a:pPr marL="342900" indent="-342900">
              <a:buFont typeface="+mj-lt"/>
              <a:buAutoNum type="arabicPeriod"/>
            </a:pP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45F723B-13BB-F408-6EC4-CDFC7A7EB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3057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6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as Open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On November 13, 2006, Sun Microsystems released Java as free and open source software under the terms of General Public License(GPL).</a:t>
            </a:r>
          </a:p>
          <a:p>
            <a:pPr algn="just"/>
            <a:r>
              <a:rPr lang="en-US" dirty="0"/>
              <a:t>Oracle corporation acquired Java in 2009-2010.</a:t>
            </a:r>
          </a:p>
        </p:txBody>
      </p:sp>
    </p:spTree>
    <p:extLst>
      <p:ext uri="{BB962C8B-B14F-4D97-AF65-F5344CB8AC3E}">
        <p14:creationId xmlns:p14="http://schemas.microsoft.com/office/powerpoint/2010/main" val="402468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Buzzwords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208155"/>
            <a:ext cx="8153400" cy="3279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0774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Buzzwords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Simple</a:t>
            </a:r>
            <a:r>
              <a:rPr lang="en-US" dirty="0"/>
              <a:t> – Easy to learn and use effectively.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Object oriented </a:t>
            </a:r>
            <a:r>
              <a:rPr lang="en-US" dirty="0"/>
              <a:t>– clean, usable, pragmatic approach to objects.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Robust</a:t>
            </a:r>
            <a:r>
              <a:rPr lang="en-US" dirty="0"/>
              <a:t> – Checks code at compile and run time. Handles memory management and exceptional conditions effectively.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Multithreaded</a:t>
            </a:r>
            <a:r>
              <a:rPr lang="en-US" dirty="0"/>
              <a:t> – supports multithreaded programming which helps in doing many things simultaneously.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40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Buzzwords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Architectural neutral- </a:t>
            </a:r>
            <a:r>
              <a:rPr lang="en-US" dirty="0"/>
              <a:t>Java Virtual Machine(JVM) helps to achieve “Write Once Run </a:t>
            </a:r>
            <a:r>
              <a:rPr lang="en-US" dirty="0" err="1"/>
              <a:t>anyhwhere</a:t>
            </a:r>
            <a:r>
              <a:rPr lang="en-US" dirty="0"/>
              <a:t>” regardless of OS, processor and core system.</a:t>
            </a:r>
          </a:p>
          <a:p>
            <a:r>
              <a:rPr lang="en-US" dirty="0">
                <a:solidFill>
                  <a:srgbClr val="FF0000"/>
                </a:solidFill>
              </a:rPr>
              <a:t>Interpreted and High Performance </a:t>
            </a:r>
            <a:r>
              <a:rPr lang="en-US" dirty="0"/>
              <a:t>– Java was designed to perform well on very low power CPUs.</a:t>
            </a:r>
          </a:p>
          <a:p>
            <a:r>
              <a:rPr lang="en-US" dirty="0">
                <a:solidFill>
                  <a:srgbClr val="FF0000"/>
                </a:solidFill>
              </a:rPr>
              <a:t>Distributed</a:t>
            </a:r>
            <a:r>
              <a:rPr lang="en-US" dirty="0"/>
              <a:t> – Java is designed for the distributed environment of the internet</a:t>
            </a:r>
          </a:p>
          <a:p>
            <a:r>
              <a:rPr lang="en-US" dirty="0">
                <a:solidFill>
                  <a:srgbClr val="FF0000"/>
                </a:solidFill>
              </a:rPr>
              <a:t>Dynamic</a:t>
            </a:r>
            <a:r>
              <a:rPr lang="en-US" dirty="0"/>
              <a:t> – can accesses object at run time.</a:t>
            </a:r>
          </a:p>
          <a:p>
            <a:r>
              <a:rPr lang="en-US" dirty="0">
                <a:solidFill>
                  <a:srgbClr val="FF0000"/>
                </a:solidFill>
              </a:rPr>
              <a:t>Security</a:t>
            </a:r>
            <a:r>
              <a:rPr lang="en-US" dirty="0"/>
              <a:t>- Java program runs only in the java execution environment and not allowing to access other parts of the computer.</a:t>
            </a:r>
          </a:p>
          <a:p>
            <a:r>
              <a:rPr lang="en-US" dirty="0">
                <a:solidFill>
                  <a:srgbClr val="FF0000"/>
                </a:solidFill>
              </a:rPr>
              <a:t>Portable</a:t>
            </a:r>
            <a:r>
              <a:rPr lang="en-US" dirty="0"/>
              <a:t> – Only JVM needs to be implemented for each platform.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63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Java is important for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Internet requires dynamic, portable and secure programming language for transmission of contents over the internet.</a:t>
            </a:r>
          </a:p>
          <a:p>
            <a:pPr algn="just"/>
            <a:r>
              <a:rPr lang="en-US" dirty="0"/>
              <a:t>Java provides these features and hence became popular for internet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2899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to be popular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Java has worldwide popularity.</a:t>
            </a:r>
          </a:p>
          <a:p>
            <a:r>
              <a:rPr lang="en-US" dirty="0"/>
              <a:t>Platform independence.</a:t>
            </a:r>
          </a:p>
          <a:p>
            <a:r>
              <a:rPr lang="en-US" dirty="0"/>
              <a:t>Parallel and distributed environment.</a:t>
            </a:r>
          </a:p>
          <a:p>
            <a:r>
              <a:rPr lang="en-US" dirty="0"/>
              <a:t>Base for Android mobile platform.</a:t>
            </a:r>
          </a:p>
          <a:p>
            <a:r>
              <a:rPr lang="en-US" dirty="0"/>
              <a:t>Java offers backward compatibility.</a:t>
            </a:r>
          </a:p>
          <a:p>
            <a:r>
              <a:rPr lang="en-US" dirty="0"/>
              <a:t>Reliability, Speed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10911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Programming Features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752600"/>
            <a:ext cx="8153400" cy="4495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9859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Programming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Java core –system software or application software.</a:t>
            </a:r>
          </a:p>
          <a:p>
            <a:r>
              <a:rPr lang="en-US" dirty="0"/>
              <a:t>Java Applet – for developing GUIs.</a:t>
            </a:r>
          </a:p>
          <a:p>
            <a:r>
              <a:rPr lang="en-US" dirty="0"/>
              <a:t>Java Internet – for implementing network programming </a:t>
            </a:r>
          </a:p>
        </p:txBody>
      </p:sp>
    </p:spTree>
    <p:extLst>
      <p:ext uri="{BB962C8B-B14F-4D97-AF65-F5344CB8AC3E}">
        <p14:creationId xmlns:p14="http://schemas.microsoft.com/office/powerpoint/2010/main" val="1990673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</a:t>
            </a:r>
            <a:r>
              <a:rPr lang="en-US" dirty="0" err="1"/>
              <a:t>Langauage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Machine Level – in 0’s and 1’s</a:t>
            </a:r>
          </a:p>
          <a:p>
            <a:r>
              <a:rPr lang="en-US" dirty="0"/>
              <a:t>Assembly Level – </a:t>
            </a:r>
          </a:p>
          <a:p>
            <a:r>
              <a:rPr lang="en-US" dirty="0"/>
              <a:t>High Level –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Every program is converted to machine level to be understood by the system.</a:t>
            </a:r>
          </a:p>
          <a:p>
            <a:r>
              <a:rPr lang="en-US" dirty="0"/>
              <a:t>High level language is converted to machine level with the help of interpreter and compiler.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16" y="2286000"/>
            <a:ext cx="9620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2838450"/>
            <a:ext cx="97155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6679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C/C++ Execution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5153025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371600" y="1600200"/>
            <a:ext cx="5715000" cy="4495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Process of C code execution</a:t>
            </a:r>
          </a:p>
        </p:txBody>
      </p:sp>
    </p:spTree>
    <p:extLst>
      <p:ext uri="{BB962C8B-B14F-4D97-AF65-F5344CB8AC3E}">
        <p14:creationId xmlns:p14="http://schemas.microsoft.com/office/powerpoint/2010/main" val="2345625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Execution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292" y="1600200"/>
            <a:ext cx="696036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85" y="1676400"/>
            <a:ext cx="787717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36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Byte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Java source code is compiled to special format called  Java Byte Code( .class files).</a:t>
            </a:r>
          </a:p>
          <a:p>
            <a:pPr algn="just"/>
            <a:r>
              <a:rPr lang="en-US" dirty="0" err="1"/>
              <a:t>Bytecode</a:t>
            </a:r>
            <a:r>
              <a:rPr lang="en-US" dirty="0"/>
              <a:t> is program code that has been compiled from source code into low-level code designed for a software interpreter.</a:t>
            </a:r>
          </a:p>
          <a:p>
            <a:pPr algn="just"/>
            <a:r>
              <a:rPr lang="en-US" dirty="0"/>
              <a:t> Java Byte Code is compiled from Java source code and can be run on a Java Virtual Machine (JVM). </a:t>
            </a:r>
          </a:p>
          <a:p>
            <a:pPr algn="just"/>
            <a:r>
              <a:rPr lang="en-US" dirty="0"/>
              <a:t>Java is both interpreted and compiled language.</a:t>
            </a:r>
          </a:p>
          <a:p>
            <a:pPr algn="just"/>
            <a:r>
              <a:rPr lang="en-US" dirty="0"/>
              <a:t>This byte code can be run on any machine irrelevant of the architecture. This makes Java Platform independent.</a:t>
            </a:r>
          </a:p>
          <a:p>
            <a:pPr algn="just"/>
            <a:r>
              <a:rPr lang="en-US" dirty="0"/>
              <a:t>This makes Java </a:t>
            </a:r>
            <a:r>
              <a:rPr lang="en-US" b="1" dirty="0">
                <a:solidFill>
                  <a:srgbClr val="FF0000"/>
                </a:solidFill>
              </a:rPr>
              <a:t>“Write Once Run Anywhere”</a:t>
            </a:r>
          </a:p>
        </p:txBody>
      </p:sp>
    </p:spTree>
    <p:extLst>
      <p:ext uri="{BB962C8B-B14F-4D97-AF65-F5344CB8AC3E}">
        <p14:creationId xmlns:p14="http://schemas.microsoft.com/office/powerpoint/2010/main" val="4260054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5B54-9603-04A8-386A-26B7D691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B8652-54C3-789E-5765-DEB12404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Byte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80AD0-7DBC-9AF4-663E-CA01D21498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Source file (.java) → compiled by </a:t>
            </a:r>
            <a:r>
              <a:rPr lang="en-IN" dirty="0" err="1"/>
              <a:t>javac</a:t>
            </a:r>
            <a:r>
              <a:rPr lang="en-IN" dirty="0"/>
              <a:t> → bytecode (.class file).</a:t>
            </a:r>
          </a:p>
          <a:p>
            <a:pPr algn="just"/>
            <a:r>
              <a:rPr lang="en-IN" dirty="0"/>
              <a:t>Bytecode is NOT machine code (not directly executable by hardware) and NOT human-readable source.</a:t>
            </a:r>
          </a:p>
          <a:p>
            <a:pPr algn="just"/>
            <a:r>
              <a:rPr lang="en-IN" dirty="0"/>
              <a:t>It sits in between Consists of a set of instructions (opcodes) designed specifically for the JVM's instruction set like </a:t>
            </a:r>
            <a:r>
              <a:rPr lang="en-IN" dirty="0" err="1"/>
              <a:t>iload</a:t>
            </a:r>
            <a:r>
              <a:rPr lang="en-IN" dirty="0"/>
              <a:t>, </a:t>
            </a:r>
            <a:r>
              <a:rPr lang="en-IN" dirty="0" err="1"/>
              <a:t>invokevirtual</a:t>
            </a:r>
            <a:r>
              <a:rPr lang="en-IN" dirty="0"/>
              <a:t>, </a:t>
            </a:r>
            <a:r>
              <a:rPr lang="en-IN" dirty="0" err="1"/>
              <a:t>areturn</a:t>
            </a:r>
            <a:r>
              <a:rPr lang="en-IN" dirty="0"/>
              <a:t>, etc.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218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BE27-854A-1745-BE1C-1B0561CF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JVM (Java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08D5-5B52-4EB7-29C3-0746F49829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The runtime engine that actually executes Java bytecode Platform-specific (Windows JVM, Linux JVM, etc.) .</a:t>
            </a:r>
          </a:p>
          <a:p>
            <a:r>
              <a:rPr lang="en-IN" dirty="0"/>
              <a:t>This is what gives Java its "write once, run anywhere" property Includes the class loader, bytecode verifier, and execution engine (interpreter + JIT compiler).</a:t>
            </a:r>
          </a:p>
          <a:p>
            <a:r>
              <a:rPr lang="en-IN" dirty="0"/>
              <a:t>Does NOT ship standalone. It's bundled inside the JRE</a:t>
            </a:r>
          </a:p>
        </p:txBody>
      </p:sp>
    </p:spTree>
    <p:extLst>
      <p:ext uri="{BB962C8B-B14F-4D97-AF65-F5344CB8AC3E}">
        <p14:creationId xmlns:p14="http://schemas.microsoft.com/office/powerpoint/2010/main" val="3146020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618D-0E56-E6C5-71A0-910C81F1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3554F-656C-70A5-F3D6-DE9092D4C38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JRE (Java Runtime Environment)</a:t>
            </a:r>
            <a:endParaRPr lang="en-IN" dirty="0"/>
          </a:p>
          <a:p>
            <a:r>
              <a:rPr lang="en-IN" dirty="0"/>
              <a:t>= JVM + core libraries (</a:t>
            </a:r>
            <a:r>
              <a:rPr lang="en-IN" dirty="0" err="1"/>
              <a:t>java.lang</a:t>
            </a:r>
            <a:r>
              <a:rPr lang="en-IN" dirty="0"/>
              <a:t>, </a:t>
            </a:r>
            <a:r>
              <a:rPr lang="en-IN" dirty="0" err="1"/>
              <a:t>java.util</a:t>
            </a:r>
            <a:r>
              <a:rPr lang="en-IN" dirty="0"/>
              <a:t>, java.io, etc.) + supporting files needed to </a:t>
            </a:r>
            <a:r>
              <a:rPr lang="en-IN" i="1" dirty="0"/>
              <a:t>run</a:t>
            </a:r>
            <a:r>
              <a:rPr lang="en-IN" dirty="0"/>
              <a:t> Java applications</a:t>
            </a:r>
          </a:p>
          <a:p>
            <a:r>
              <a:rPr lang="en-IN" dirty="0"/>
              <a:t>Meant for end users who just want to run Java programs, not develop them.</a:t>
            </a:r>
          </a:p>
          <a:p>
            <a:r>
              <a:rPr lang="en-IN" dirty="0"/>
              <a:t>Does not include compiler (</a:t>
            </a:r>
            <a:r>
              <a:rPr lang="en-IN" dirty="0" err="1"/>
              <a:t>javac</a:t>
            </a:r>
            <a:r>
              <a:rPr lang="en-IN" dirty="0"/>
              <a:t>), debugger, or other development 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405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1F7E-E340-6FA4-74EA-1FBBA28F4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C6E06-3DE4-9E13-370A-D719D0D725E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JDK (Java Development Kit)</a:t>
            </a:r>
            <a:endParaRPr lang="en-IN" dirty="0"/>
          </a:p>
          <a:p>
            <a:r>
              <a:rPr lang="en-IN" dirty="0"/>
              <a:t>= JRE + development tools</a:t>
            </a:r>
          </a:p>
          <a:p>
            <a:r>
              <a:rPr lang="en-IN" dirty="0"/>
              <a:t>Includes: </a:t>
            </a:r>
            <a:r>
              <a:rPr lang="en-IN" dirty="0" err="1"/>
              <a:t>javac</a:t>
            </a:r>
            <a:r>
              <a:rPr lang="en-IN" dirty="0"/>
              <a:t> (compiler), </a:t>
            </a:r>
            <a:r>
              <a:rPr lang="en-IN" dirty="0" err="1"/>
              <a:t>javadoc</a:t>
            </a:r>
            <a:r>
              <a:rPr lang="en-IN" dirty="0"/>
              <a:t>, jar, </a:t>
            </a:r>
            <a:r>
              <a:rPr lang="en-IN" dirty="0" err="1"/>
              <a:t>jdb</a:t>
            </a:r>
            <a:r>
              <a:rPr lang="en-IN" dirty="0"/>
              <a:t> (debugger), </a:t>
            </a:r>
            <a:r>
              <a:rPr lang="en-IN" dirty="0" err="1"/>
              <a:t>jconsole</a:t>
            </a:r>
            <a:r>
              <a:rPr lang="en-IN" dirty="0"/>
              <a:t>, profilers, etc.</a:t>
            </a:r>
          </a:p>
          <a:p>
            <a:r>
              <a:rPr lang="en-IN" dirty="0"/>
              <a:t>Meant for developers who need to </a:t>
            </a:r>
            <a:r>
              <a:rPr lang="en-IN" i="1" dirty="0"/>
              <a:t>write and compile</a:t>
            </a:r>
            <a:r>
              <a:rPr lang="en-IN" dirty="0"/>
              <a:t> Java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673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18C5-2B28-A418-F079-C796C78F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Why Most Other Languages Aren't Platform Independent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C825-34B4-76EF-14BF-2A72023B10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The compiler translates directly into instructions the target CPU understands (x86, ARM, etc.) </a:t>
            </a:r>
          </a:p>
          <a:p>
            <a:pPr algn="just"/>
            <a:r>
              <a:rPr lang="en-IN" dirty="0"/>
              <a:t>That machine code is tied to: </a:t>
            </a:r>
          </a:p>
          <a:p>
            <a:pPr lvl="1" algn="just"/>
            <a:r>
              <a:rPr lang="en-IN" dirty="0"/>
              <a:t>The instruction set of the CPU (x86 vs ARM instructions are different)</a:t>
            </a:r>
          </a:p>
          <a:p>
            <a:pPr lvl="1" algn="just"/>
            <a:r>
              <a:rPr lang="en-IN" dirty="0"/>
              <a:t>The OS's binary format (Windows uses .exe/PE format, Linux uses ELF, macOS uses Mach-O)</a:t>
            </a:r>
          </a:p>
          <a:p>
            <a:pPr lvl="1" algn="just"/>
            <a:r>
              <a:rPr lang="en-IN" dirty="0"/>
              <a:t>The OS's system calls / APIs the program depends on</a:t>
            </a:r>
          </a:p>
          <a:p>
            <a:pPr algn="just"/>
            <a:r>
              <a:rPr lang="en-IN" dirty="0"/>
              <a:t>Result: a .exe compiled on Windows simply cannot run on Linux, wrong binary format, wrong system calls, possibly wrong CPU instructions too.</a:t>
            </a:r>
          </a:p>
        </p:txBody>
      </p:sp>
    </p:spTree>
    <p:extLst>
      <p:ext uri="{BB962C8B-B14F-4D97-AF65-F5344CB8AC3E}">
        <p14:creationId xmlns:p14="http://schemas.microsoft.com/office/powerpoint/2010/main" val="428510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 JDK,JVM,JRE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828800"/>
            <a:ext cx="8153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9605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Java code runs?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29" y="1752600"/>
            <a:ext cx="8375072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822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2E90-1642-FF3A-63F4-FA8E4958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the Process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0B89D-19E7-3909-8BED-9CCEE027ACF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Write: You write the Java source code in .java files.</a:t>
            </a:r>
          </a:p>
          <a:p>
            <a:pPr algn="just"/>
            <a:r>
              <a:rPr lang="en-US" dirty="0"/>
              <a:t>Compile: The </a:t>
            </a:r>
            <a:r>
              <a:rPr lang="en-US" dirty="0" err="1"/>
              <a:t>javac</a:t>
            </a:r>
            <a:r>
              <a:rPr lang="en-US" dirty="0"/>
              <a:t> compiler compiles the source code into bytecode (.class files).</a:t>
            </a:r>
          </a:p>
          <a:p>
            <a:pPr algn="just"/>
            <a:r>
              <a:rPr lang="en-US" dirty="0"/>
              <a:t>Load: The JVM’s Class Loader loads the bytecode into memory.</a:t>
            </a:r>
          </a:p>
          <a:p>
            <a:pPr algn="just"/>
            <a:r>
              <a:rPr lang="en-US" dirty="0"/>
              <a:t>Verify: The Bytecode Verifier checks the bytecode for safety and correctness.</a:t>
            </a:r>
          </a:p>
          <a:p>
            <a:pPr algn="just"/>
            <a:r>
              <a:rPr lang="en-US" dirty="0"/>
              <a:t>Execute: The JVM executes the bytecode, converting it to native machine code using the JIT compiler for optimized performance.</a:t>
            </a:r>
          </a:p>
          <a:p>
            <a:pPr algn="just"/>
            <a:r>
              <a:rPr lang="en-US" dirty="0"/>
              <a:t>Run: The native code is executed on the host machine, running your Java program.</a:t>
            </a:r>
          </a:p>
          <a:p>
            <a:pPr algn="just"/>
            <a:r>
              <a:rPr lang="en-US" dirty="0"/>
              <a:t>Manage Memory: The JVM handles memory management, including garbage collection.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213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FOP </a:t>
            </a:r>
            <a:r>
              <a:rPr lang="en-US" dirty="0" err="1"/>
              <a:t>Vs</a:t>
            </a:r>
            <a:r>
              <a:rPr lang="en-US" dirty="0"/>
              <a:t> OOP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5334956"/>
              </p:ext>
            </p:extLst>
          </p:nvPr>
        </p:nvGraphicFramePr>
        <p:xfrm>
          <a:off x="-685800" y="1386840"/>
          <a:ext cx="10896599" cy="626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0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3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Oriented Programming(FOP)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 Oriented Programming(OOP)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 is divided into small parts called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Program is divided into parts called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objects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Importance is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not given to data </a:t>
                      </a:r>
                      <a:r>
                        <a:rPr lang="en-US" dirty="0"/>
                        <a:t>but to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Importance is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given to data</a:t>
                      </a:r>
                      <a:r>
                        <a:rPr lang="en-US" dirty="0"/>
                        <a:t> than the procedures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Follows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top down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Follows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bottom up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r>
                        <a:rPr lang="en-US" dirty="0"/>
                        <a:t>Access </a:t>
                      </a:r>
                      <a:r>
                        <a:rPr lang="en-US" dirty="0" err="1"/>
                        <a:t>specifiers</a:t>
                      </a:r>
                      <a:endParaRPr lang="en-US" dirty="0"/>
                    </a:p>
                    <a:p>
                      <a:r>
                        <a:rPr lang="en-US" dirty="0"/>
                        <a:t>Data Moving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not have access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FF0000"/>
                          </a:solidFill>
                        </a:rPr>
                        <a:t>specifiers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Have three access </a:t>
                      </a:r>
                      <a:r>
                        <a:rPr lang="en-US" dirty="0" err="1"/>
                        <a:t>specifiers</a:t>
                      </a:r>
                      <a:r>
                        <a:rPr lang="en-US" dirty="0"/>
                        <a:t>: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Public, Private and Protected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Data cannot move</a:t>
                      </a:r>
                      <a:r>
                        <a:rPr lang="en-US" dirty="0"/>
                        <a:t> easily from functions to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Object can communicate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baseline="0" dirty="0"/>
                        <a:t>with each other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Functions uses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global data </a:t>
                      </a:r>
                      <a:r>
                        <a:rPr lang="en-US" dirty="0"/>
                        <a:t>for sharing that can be accessed easily across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use local data </a:t>
                      </a:r>
                      <a:r>
                        <a:rPr lang="en-US" baseline="0" dirty="0"/>
                        <a:t>and can accessed in a  controlled manner.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Hiding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data hiding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is possible. </a:t>
                      </a:r>
                      <a:r>
                        <a:rPr lang="en-US" baseline="0" dirty="0"/>
                        <a:t>Hence no security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Provides data hiding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Polymorphism is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not 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Polymorphism is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 Visual Basic, FORTRAN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C++, Java, C#,.NET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613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programming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Java is based on the concept of object-oriented programming. Object contain data and functionality to handle data. This is controlled by the following four paradigms.</a:t>
            </a:r>
          </a:p>
          <a:p>
            <a:pPr lvl="1"/>
            <a:r>
              <a:rPr lang="en-US" dirty="0"/>
              <a:t>Encapsulation</a:t>
            </a:r>
          </a:p>
          <a:p>
            <a:pPr lvl="1"/>
            <a:r>
              <a:rPr lang="en-US" dirty="0"/>
              <a:t>Inheritance</a:t>
            </a:r>
          </a:p>
          <a:p>
            <a:pPr lvl="1"/>
            <a:r>
              <a:rPr lang="en-US" dirty="0"/>
              <a:t>Information hiding</a:t>
            </a:r>
          </a:p>
          <a:p>
            <a:pPr lvl="1"/>
            <a:r>
              <a:rPr lang="en-US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23103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Encapsulation is the process of wrapping code and data together into a single unit, for example , capsule which is mixed of several medicines.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186" y="3886200"/>
            <a:ext cx="405765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6949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18" l="24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69" y="1937264"/>
            <a:ext cx="4180931" cy="4352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7727" l="0" r="9837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69" y="3052336"/>
            <a:ext cx="117157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243" y="4955193"/>
            <a:ext cx="5810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Left Brace 4"/>
          <p:cNvSpPr/>
          <p:nvPr/>
        </p:nvSpPr>
        <p:spPr>
          <a:xfrm flipH="1">
            <a:off x="5562600" y="2677299"/>
            <a:ext cx="495300" cy="958334"/>
          </a:xfrm>
          <a:prstGeom prst="leftBrace">
            <a:avLst>
              <a:gd name="adj1" fmla="val 8333"/>
              <a:gd name="adj2" fmla="val 575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553200" y="2971800"/>
            <a:ext cx="72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1" name="Left Brace 10"/>
          <p:cNvSpPr/>
          <p:nvPr/>
        </p:nvSpPr>
        <p:spPr>
          <a:xfrm flipH="1">
            <a:off x="5556612" y="3883205"/>
            <a:ext cx="495300" cy="2060395"/>
          </a:xfrm>
          <a:prstGeom prst="leftBrace">
            <a:avLst>
              <a:gd name="adj1" fmla="val 8333"/>
              <a:gd name="adj2" fmla="val 4873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517277" y="4728736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1065722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Example</a:t>
            </a:r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62" y="2119312"/>
            <a:ext cx="1571625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2133600" y="2286000"/>
            <a:ext cx="5029200" cy="2819400"/>
            <a:chOff x="2133600" y="2286000"/>
            <a:chExt cx="5029200" cy="2819400"/>
          </a:xfrm>
        </p:grpSpPr>
        <p:sp>
          <p:nvSpPr>
            <p:cNvPr id="4" name="Right Brace 3"/>
            <p:cNvSpPr/>
            <p:nvPr/>
          </p:nvSpPr>
          <p:spPr>
            <a:xfrm>
              <a:off x="5181600" y="2286000"/>
              <a:ext cx="457200" cy="14478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943600" y="2825234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  <p:sp>
          <p:nvSpPr>
            <p:cNvPr id="6" name="Right Brace 5"/>
            <p:cNvSpPr/>
            <p:nvPr/>
          </p:nvSpPr>
          <p:spPr>
            <a:xfrm>
              <a:off x="5181600" y="3733800"/>
              <a:ext cx="457200" cy="13716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943600" y="4234934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method</a:t>
              </a:r>
            </a:p>
          </p:txBody>
        </p:sp>
        <p:pic>
          <p:nvPicPr>
            <p:cNvPr id="1945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3009900"/>
              <a:ext cx="1314450" cy="1114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2207623" y="4290757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Borrower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76911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Example</a:t>
            </a:r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279447"/>
            <a:ext cx="8153400" cy="313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48967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Inheritance in Java is a mechanism in which one object acquires all the properties and behaviors of a parent object. It is an important OOPs concept in Java. </a:t>
            </a:r>
          </a:p>
        </p:txBody>
      </p:sp>
    </p:spTree>
    <p:extLst>
      <p:ext uri="{BB962C8B-B14F-4D97-AF65-F5344CB8AC3E}">
        <p14:creationId xmlns:p14="http://schemas.microsoft.com/office/powerpoint/2010/main" val="3867270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Inheritence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95363"/>
            <a:ext cx="9143999" cy="517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659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81534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0743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Polymorphism in Java is a way where we can perform a single action in many ways. Polymorphism is derived from 2 Greek words: poly and morphs. The word "poly" means many and "morphs" means forms. So polymorphism means many forms.</a:t>
            </a:r>
          </a:p>
        </p:txBody>
      </p:sp>
    </p:spTree>
    <p:extLst>
      <p:ext uri="{BB962C8B-B14F-4D97-AF65-F5344CB8AC3E}">
        <p14:creationId xmlns:p14="http://schemas.microsoft.com/office/powerpoint/2010/main" val="11193438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543800" cy="4876800"/>
          </a:xfrm>
        </p:spPr>
      </p:pic>
    </p:spTree>
    <p:extLst>
      <p:ext uri="{BB962C8B-B14F-4D97-AF65-F5344CB8AC3E}">
        <p14:creationId xmlns:p14="http://schemas.microsoft.com/office/powerpoint/2010/main" val="8429544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Example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/* Sample Program</a:t>
            </a:r>
          </a:p>
          <a:p>
            <a:pPr marL="0" indent="0">
              <a:buNone/>
            </a:pPr>
            <a:r>
              <a:rPr lang="en-US" dirty="0"/>
              <a:t>Example.java</a:t>
            </a:r>
          </a:p>
          <a:p>
            <a:pPr marL="0" indent="0">
              <a:buNone/>
            </a:pPr>
            <a:r>
              <a:rPr lang="en-US" dirty="0"/>
              <a:t>*/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("Hello World");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82774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Dissecting a Java Program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/* …..*/</a:t>
            </a:r>
            <a:r>
              <a:rPr lang="en-US" dirty="0"/>
              <a:t> - For multi line comment.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/>
              <a:t> - For single line comment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main</a:t>
            </a:r>
            <a:r>
              <a:rPr lang="en-US" dirty="0"/>
              <a:t> – All java applications begin execution by calling main(). main() is called by java interpreter before any objects are made.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public</a:t>
            </a:r>
            <a:r>
              <a:rPr lang="en-US" dirty="0"/>
              <a:t> – an access </a:t>
            </a:r>
            <a:r>
              <a:rPr lang="en-US" dirty="0" err="1"/>
              <a:t>specifier</a:t>
            </a:r>
            <a:r>
              <a:rPr lang="en-US" dirty="0"/>
              <a:t>. main() is declared public which allows the code outside of its class to call main() when the program starts.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static</a:t>
            </a:r>
            <a:r>
              <a:rPr lang="en-US" dirty="0"/>
              <a:t> – allows main() to be called without having to instantiate a particular instance of the class.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void</a:t>
            </a:r>
            <a:r>
              <a:rPr lang="en-US" dirty="0"/>
              <a:t> – tells compiler that main() does not return any value.</a:t>
            </a:r>
          </a:p>
          <a:p>
            <a:pPr algn="just"/>
            <a:r>
              <a:rPr lang="en-US" dirty="0"/>
              <a:t>Java is case sensitive.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89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First compile the code</a:t>
            </a:r>
          </a:p>
          <a:p>
            <a:pPr marL="594360" lvl="2" indent="0">
              <a:buNone/>
            </a:pPr>
            <a:r>
              <a:rPr lang="en-US" dirty="0" err="1"/>
              <a:t>javac</a:t>
            </a:r>
            <a:r>
              <a:rPr lang="en-US" dirty="0"/>
              <a:t> Example.java</a:t>
            </a:r>
          </a:p>
          <a:p>
            <a:pPr marL="594360" lvl="2" indent="0">
              <a:buNone/>
            </a:pPr>
            <a:endParaRPr lang="en-US" dirty="0"/>
          </a:p>
          <a:p>
            <a:r>
              <a:rPr lang="en-US" dirty="0"/>
              <a:t>Then execute</a:t>
            </a:r>
          </a:p>
          <a:p>
            <a:pPr marL="594360" lvl="2" indent="0">
              <a:buNone/>
            </a:pPr>
            <a:r>
              <a:rPr lang="en-US" dirty="0"/>
              <a:t>java Example.java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209800"/>
            <a:ext cx="33528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657600" y="22098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3000" y="2057400"/>
            <a:ext cx="2209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377" y="3581400"/>
            <a:ext cx="35052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352800" y="3352800"/>
            <a:ext cx="18288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34000" y="33528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name</a:t>
            </a:r>
          </a:p>
        </p:txBody>
      </p:sp>
    </p:spTree>
    <p:extLst>
      <p:ext uri="{BB962C8B-B14F-4D97-AF65-F5344CB8AC3E}">
        <p14:creationId xmlns:p14="http://schemas.microsoft.com/office/powerpoint/2010/main" val="2140264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IDEs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IntelliJ IDEA</a:t>
            </a:r>
          </a:p>
          <a:p>
            <a:r>
              <a:rPr lang="en-IN" dirty="0"/>
              <a:t>Eclipse</a:t>
            </a:r>
          </a:p>
          <a:p>
            <a:r>
              <a:rPr lang="en-IN" dirty="0"/>
              <a:t>NetBeans</a:t>
            </a:r>
          </a:p>
          <a:p>
            <a:r>
              <a:rPr lang="en-IN" dirty="0"/>
              <a:t>VS Code with Java Extensions</a:t>
            </a:r>
          </a:p>
        </p:txBody>
      </p:sp>
    </p:spTree>
    <p:extLst>
      <p:ext uri="{BB962C8B-B14F-4D97-AF65-F5344CB8AC3E}">
        <p14:creationId xmlns:p14="http://schemas.microsoft.com/office/powerpoint/2010/main" val="1169167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7D50-12D3-BFAA-4F78-A45826B4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97AD-FA35-AE46-E3D2-AD1183ACCF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Program to add two numbers and display the result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AddTwoNumbers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Declare two integer variables</a:t>
            </a:r>
          </a:p>
          <a:p>
            <a:pPr marL="0" indent="0">
              <a:buNone/>
            </a:pPr>
            <a:r>
              <a:rPr lang="en-IN" dirty="0"/>
              <a:t>        int num1 = 10;</a:t>
            </a:r>
          </a:p>
          <a:p>
            <a:pPr marL="0" indent="0">
              <a:buNone/>
            </a:pPr>
            <a:r>
              <a:rPr lang="en-IN" dirty="0"/>
              <a:t>        int num2 = 20;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// Add the two numbers</a:t>
            </a:r>
          </a:p>
          <a:p>
            <a:pPr marL="0" indent="0">
              <a:buNone/>
            </a:pPr>
            <a:r>
              <a:rPr lang="en-IN" dirty="0"/>
              <a:t>        int sum = num1 + num2;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// Display the result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("The sum of " + num1 + " and " + num2 + " is: " + sum);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820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4660</TotalTime>
  <Words>2327</Words>
  <Application>Microsoft Office PowerPoint</Application>
  <PresentationFormat>On-screen Show (4:3)</PresentationFormat>
  <Paragraphs>255</Paragraphs>
  <Slides>49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Aharoni</vt:lpstr>
      <vt:lpstr>Arial</vt:lpstr>
      <vt:lpstr>Calibri</vt:lpstr>
      <vt:lpstr>Tw Cen MT</vt:lpstr>
      <vt:lpstr>Verdana</vt:lpstr>
      <vt:lpstr>Wingdings</vt:lpstr>
      <vt:lpstr>Wingdings 2</vt:lpstr>
      <vt:lpstr>Median</vt:lpstr>
      <vt:lpstr>Java Programming Introduction</vt:lpstr>
      <vt:lpstr>Java</vt:lpstr>
      <vt:lpstr>Object Oriented Programming Model </vt:lpstr>
      <vt:lpstr>Applications of Java</vt:lpstr>
      <vt:lpstr>Popularity of Java as on Aug 2024</vt:lpstr>
      <vt:lpstr>Creation of Java</vt:lpstr>
      <vt:lpstr>History of Java</vt:lpstr>
      <vt:lpstr>Originally named as Greentalk</vt:lpstr>
      <vt:lpstr>Renamed to Oak</vt:lpstr>
      <vt:lpstr>New Name was Java</vt:lpstr>
      <vt:lpstr>Java</vt:lpstr>
      <vt:lpstr>Official Release</vt:lpstr>
      <vt:lpstr>JDK VERSION RELEASED SO FAR</vt:lpstr>
      <vt:lpstr>Java as Open Source</vt:lpstr>
      <vt:lpstr>Java Buzzwords</vt:lpstr>
      <vt:lpstr>Java Buzzwords</vt:lpstr>
      <vt:lpstr>Java Buzzwords</vt:lpstr>
      <vt:lpstr>Why Java is important for internet</vt:lpstr>
      <vt:lpstr>Reason to be popular</vt:lpstr>
      <vt:lpstr>Java Programming Features</vt:lpstr>
      <vt:lpstr>Java Programming Features</vt:lpstr>
      <vt:lpstr>Programming Langauage</vt:lpstr>
      <vt:lpstr>C/C++ Execution</vt:lpstr>
      <vt:lpstr>Java Execution</vt:lpstr>
      <vt:lpstr>Java Byte Code</vt:lpstr>
      <vt:lpstr>Java Byte Code</vt:lpstr>
      <vt:lpstr>JVM (Java Virtual Machine)</vt:lpstr>
      <vt:lpstr>PowerPoint Presentation</vt:lpstr>
      <vt:lpstr>PowerPoint Presentation</vt:lpstr>
      <vt:lpstr>Why Most Other Languages Aren't Platform Independent</vt:lpstr>
      <vt:lpstr>Terminologies JDK,JVM,JRE</vt:lpstr>
      <vt:lpstr>How Java code runs?</vt:lpstr>
      <vt:lpstr>Summary of the Process </vt:lpstr>
      <vt:lpstr>FOP Vs OOP</vt:lpstr>
      <vt:lpstr>Java programming paradigms</vt:lpstr>
      <vt:lpstr>Encapsulation</vt:lpstr>
      <vt:lpstr>Encapsulation Example</vt:lpstr>
      <vt:lpstr>Encapsulation Example</vt:lpstr>
      <vt:lpstr>Encapsulation Example</vt:lpstr>
      <vt:lpstr>Inheritance</vt:lpstr>
      <vt:lpstr>Inheritence</vt:lpstr>
      <vt:lpstr>Data Hiding</vt:lpstr>
      <vt:lpstr>Polymorphism</vt:lpstr>
      <vt:lpstr>Polymorphism</vt:lpstr>
      <vt:lpstr>First Java Program</vt:lpstr>
      <vt:lpstr>Dissecting a Java Program </vt:lpstr>
      <vt:lpstr>Executing java program</vt:lpstr>
      <vt:lpstr>Various IDEs available</vt:lpstr>
      <vt:lpstr>Example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 Introduction</dc:title>
  <dc:creator>anusaya</dc:creator>
  <cp:lastModifiedBy>Anusuya R</cp:lastModifiedBy>
  <cp:revision>60</cp:revision>
  <dcterms:created xsi:type="dcterms:W3CDTF">2006-08-16T00:00:00Z</dcterms:created>
  <dcterms:modified xsi:type="dcterms:W3CDTF">2026-09-29T07:13:35Z</dcterms:modified>
</cp:coreProperties>
</file>