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5" r:id="rId3"/>
    <p:sldId id="278" r:id="rId4"/>
    <p:sldId id="279" r:id="rId5"/>
    <p:sldId id="281" r:id="rId6"/>
    <p:sldId id="282" r:id="rId7"/>
    <p:sldId id="283" r:id="rId8"/>
    <p:sldId id="280" r:id="rId9"/>
    <p:sldId id="284" r:id="rId10"/>
    <p:sldId id="285" r:id="rId11"/>
    <p:sldId id="286" r:id="rId12"/>
    <p:sldId id="287" r:id="rId13"/>
    <p:sldId id="288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4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7F64427-3E10-447A-8369-E86E4C20C63C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81C2617-5EE8-46BB-8B74-F418294646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054-3608-4EF3-8464-95CA6834A426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80947-9CBA-40FA-84D9-6D358E785E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D7FC1-1D45-49B4-9D84-93649423232D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51D81-53C8-41B2-8AAA-9226E8425A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47DD7-4EC3-4425-9471-2F7D8DCBC1CB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71C91-89C0-41A1-8C60-24D9510AC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17721-B871-4954-9B62-FC34E66D565D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78D48-5C9B-4310-8297-CC86D29E1E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21F8E-DE6C-4B5C-9982-254258B3561D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7412C-0302-44D2-9035-7D80664F03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914E89-10B3-45DE-B695-1AC613AC5EE2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32414-521A-4605-AAEB-23A4DA79F3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C5BC2-DB69-40CA-8B10-3837EFBC3752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8B9245-05A3-40D0-97AA-420A58D77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64B44-09E3-4978-B02C-EE1CBA0F7615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A8F4D7-3693-4EC5-92D8-F6C9562D33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15FD1-2DCA-4003-A740-431836C1124A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3F0E7-43F7-4BEC-91C5-47D55B1BED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6C862F-274C-4D5C-BC21-01EC8DE60019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B47DCB-80E7-41CC-99D8-265D440187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64E78-75E0-4461-9BD7-6EF27B23444E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AF7900-9847-4448-9CB3-DEFECE4ABC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5D05BD-1405-4870-A10B-233A85BC81D1}" type="datetimeFigureOut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37C4326-B966-4447-A027-8E84E183CE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Java Interface</a:t>
            </a:r>
            <a:br>
              <a:rPr lang="en-US" b="1" dirty="0" smtClean="0"/>
            </a:br>
            <a:endParaRPr lang="en-US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6D8CD80-AFA5-417B-83EF-0AA7AEB722CF}" type="datetime1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SOBUZ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148BD8-864B-47F6-A04A-99D732FF3817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sz="4000" b="1" dirty="0" smtClean="0">
                <a:latin typeface="Times New Roman" pitchFamily="18" charset="0"/>
              </a:rPr>
              <a:t>Interface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Interface is used to specify what a class must do but not how to do.</a:t>
            </a:r>
            <a:endParaRPr lang="en-US" sz="2800" dirty="0" smtClean="0">
              <a:latin typeface="Times New Roman" pitchFamily="18" charset="0"/>
            </a:endParaRPr>
          </a:p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Interface is used for making a full abstract class.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Interface is the blueprint of the class.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Similar to class but does not have instance variables.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Interfaces’ methods are declared without any body.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The only fields that can appear in an interface must be declared both static and final. By default these two keywords are added even when not specified.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Keyword “</a:t>
            </a:r>
            <a:r>
              <a:rPr lang="en-GB" sz="2800" b="1" dirty="0" smtClean="0">
                <a:latin typeface="Times New Roman" pitchFamily="18" charset="0"/>
              </a:rPr>
              <a:t>interface</a:t>
            </a:r>
            <a:r>
              <a:rPr lang="en-GB" sz="2800" dirty="0" smtClean="0">
                <a:latin typeface="Times New Roman" pitchFamily="18" charset="0"/>
              </a:rPr>
              <a:t>” is used.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6D8CD80-AFA5-417B-83EF-0AA7AEB722CF}" type="datetime1">
              <a:rPr lang="en-US"/>
              <a:pPr>
                <a:defRPr/>
              </a:pPr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SOBUZ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148BD8-864B-47F6-A04A-99D732FF3817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sz="4000" b="1" smtClean="0">
                <a:latin typeface="Times New Roman" pitchFamily="18" charset="0"/>
              </a:rPr>
              <a:t>Interface</a:t>
            </a:r>
            <a:endParaRPr lang="en-US" sz="4000" b="1" dirty="0" smtClean="0">
              <a:latin typeface="Times New Roman" pitchFamily="18" charset="0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By default all methods are </a:t>
            </a:r>
            <a:r>
              <a:rPr lang="en-GB" sz="2800" b="1" dirty="0" smtClean="0">
                <a:latin typeface="Times New Roman" pitchFamily="18" charset="0"/>
              </a:rPr>
              <a:t>public and abstract </a:t>
            </a:r>
            <a:r>
              <a:rPr lang="en-GB" sz="2800" dirty="0" smtClean="0">
                <a:latin typeface="Times New Roman" pitchFamily="18" charset="0"/>
              </a:rPr>
              <a:t>in interface.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GB" sz="2800" b="1" dirty="0" smtClean="0">
                <a:latin typeface="Times New Roman" pitchFamily="18" charset="0"/>
              </a:rPr>
              <a:t>implement</a:t>
            </a:r>
            <a:r>
              <a:rPr lang="en-GB" sz="2800" dirty="0" smtClean="0">
                <a:latin typeface="Times New Roman" pitchFamily="18" charset="0"/>
              </a:rPr>
              <a:t> keyword is used for the implementation of interface.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We can’t create the object of the interface.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</a:rPr>
              <a:t>Multiple </a:t>
            </a:r>
            <a:r>
              <a:rPr lang="en-GB" sz="2800" dirty="0" smtClean="0">
                <a:latin typeface="Times New Roman" pitchFamily="18" charset="0"/>
              </a:rPr>
              <a:t>inheritance </a:t>
            </a:r>
            <a:r>
              <a:rPr lang="en-GB" sz="2800" dirty="0" smtClean="0">
                <a:latin typeface="Times New Roman" pitchFamily="18" charset="0"/>
              </a:rPr>
              <a:t>can be implemented by interface.</a:t>
            </a:r>
            <a:endParaRPr lang="en-US" sz="2800" dirty="0" smtClean="0">
              <a:latin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sz="3600" b="1" u="sng" dirty="0" smtClean="0">
                <a:latin typeface="Times New Roman" pitchFamily="18" charset="0"/>
              </a:rPr>
              <a:t>Benefits:</a:t>
            </a:r>
          </a:p>
          <a:p>
            <a:pPr algn="just" eaLnBrk="1" hangingPunct="1"/>
            <a:r>
              <a:rPr lang="en-GB" sz="2800" dirty="0" smtClean="0">
                <a:latin typeface="Times New Roman" pitchFamily="18" charset="0"/>
              </a:rPr>
              <a:t>Used to achieve “one interface multiple methods” aspect of polymorphism.</a:t>
            </a:r>
          </a:p>
          <a:p>
            <a:pPr algn="just" eaLnBrk="1" hangingPunct="1"/>
            <a:r>
              <a:rPr lang="en-GB" sz="2800" dirty="0" smtClean="0">
                <a:latin typeface="Times New Roman" pitchFamily="18" charset="0"/>
              </a:rPr>
              <a:t>Used to achieve loose coupling.</a:t>
            </a:r>
          </a:p>
          <a:p>
            <a:pPr eaLnBrk="1" hangingPunct="1">
              <a:buFont typeface="Wingdings" pitchFamily="2" charset="2"/>
              <a:buNone/>
            </a:pPr>
            <a:endParaRPr lang="en-US" sz="3600" b="1" u="sng" dirty="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</a:rPr>
              <a:t>Syntax for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800" dirty="0" smtClean="0"/>
              <a:t>access interface name {</a:t>
            </a:r>
          </a:p>
          <a:p>
            <a:pPr>
              <a:buNone/>
            </a:pPr>
            <a:r>
              <a:rPr lang="en-GB" sz="2800" dirty="0" smtClean="0"/>
              <a:t>return-type method-name1(parameter-list);</a:t>
            </a:r>
          </a:p>
          <a:p>
            <a:pPr>
              <a:buNone/>
            </a:pPr>
            <a:r>
              <a:rPr lang="en-GB" sz="2800" dirty="0" smtClean="0"/>
              <a:t>return-type method-name2(parameter-list);</a:t>
            </a:r>
          </a:p>
          <a:p>
            <a:pPr>
              <a:buNone/>
            </a:pPr>
            <a:r>
              <a:rPr lang="en-GB" sz="2800" dirty="0" smtClean="0"/>
              <a:t>type final-varname1=value;</a:t>
            </a:r>
          </a:p>
          <a:p>
            <a:pPr>
              <a:buNone/>
            </a:pPr>
            <a:r>
              <a:rPr lang="en-GB" sz="2800" dirty="0" smtClean="0"/>
              <a:t>type final-varname2=value;</a:t>
            </a:r>
          </a:p>
          <a:p>
            <a:pPr>
              <a:buNone/>
            </a:pPr>
            <a:r>
              <a:rPr lang="en-GB" sz="2800" dirty="0" smtClean="0"/>
              <a:t>// ...</a:t>
            </a:r>
          </a:p>
          <a:p>
            <a:pPr>
              <a:buNone/>
            </a:pPr>
            <a:r>
              <a:rPr lang="en-GB" sz="2800" dirty="0" smtClean="0"/>
              <a:t>return-type method-</a:t>
            </a:r>
            <a:r>
              <a:rPr lang="en-GB" sz="2800" dirty="0" err="1" smtClean="0"/>
              <a:t>nameN</a:t>
            </a:r>
            <a:r>
              <a:rPr lang="en-GB" sz="2800" dirty="0" smtClean="0"/>
              <a:t>(parameter-list);</a:t>
            </a:r>
          </a:p>
          <a:p>
            <a:pPr>
              <a:buNone/>
            </a:pPr>
            <a:r>
              <a:rPr lang="en-GB" sz="2800" dirty="0" smtClean="0"/>
              <a:t>Type final-</a:t>
            </a:r>
            <a:r>
              <a:rPr lang="en-GB" sz="2800" dirty="0" err="1" smtClean="0"/>
              <a:t>varnameN</a:t>
            </a:r>
            <a:r>
              <a:rPr lang="en-GB" sz="2800" dirty="0" smtClean="0"/>
              <a:t>=value;</a:t>
            </a:r>
          </a:p>
          <a:p>
            <a:pPr>
              <a:buNone/>
            </a:pPr>
            <a:r>
              <a:rPr lang="en-GB" sz="2800" dirty="0" smtClean="0"/>
              <a:t>}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81000"/>
            <a:ext cx="86106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 smtClean="0">
                <a:solidFill>
                  <a:srgbClr val="FF0000"/>
                </a:solidFill>
              </a:rPr>
              <a:t>When a class implements interface, consider the class as if it is signing a contract, agreeing to perform the specific behaviours of the interface. If the class does not perform all the behaviours of the interface, the class must declare itself as abstract.</a:t>
            </a:r>
          </a:p>
          <a:p>
            <a:pPr algn="just"/>
            <a:endParaRPr lang="en-GB" dirty="0" smtClean="0">
              <a:solidFill>
                <a:srgbClr val="FF0000"/>
              </a:solidFill>
            </a:endParaRPr>
          </a:p>
          <a:p>
            <a:pPr algn="just"/>
            <a:r>
              <a:rPr lang="en-GB" dirty="0" smtClean="0">
                <a:solidFill>
                  <a:srgbClr val="FF0000"/>
                </a:solidFill>
              </a:rPr>
              <a:t>Example:</a:t>
            </a:r>
          </a:p>
          <a:p>
            <a:pPr algn="just"/>
            <a:endParaRPr lang="en-GB" dirty="0" smtClean="0">
              <a:solidFill>
                <a:srgbClr val="FF0000"/>
              </a:solidFill>
            </a:endParaRPr>
          </a:p>
          <a:p>
            <a:pPr algn="just"/>
            <a:r>
              <a:rPr lang="en-GB" sz="1600" dirty="0" smtClean="0"/>
              <a:t>interface Animal {</a:t>
            </a:r>
          </a:p>
          <a:p>
            <a:pPr lvl="1" algn="just"/>
            <a:r>
              <a:rPr lang="en-GB" sz="1600" dirty="0" smtClean="0"/>
              <a:t>public void eat();</a:t>
            </a:r>
          </a:p>
          <a:p>
            <a:pPr lvl="1" algn="just"/>
            <a:r>
              <a:rPr lang="en-GB" sz="1600" dirty="0" smtClean="0"/>
              <a:t>public void travel();</a:t>
            </a:r>
          </a:p>
          <a:p>
            <a:pPr algn="just"/>
            <a:r>
              <a:rPr lang="en-GB" sz="1600" dirty="0" smtClean="0"/>
              <a:t>}</a:t>
            </a:r>
          </a:p>
          <a:p>
            <a:pPr algn="just"/>
            <a:endParaRPr lang="en-GB" sz="1600" dirty="0" smtClean="0"/>
          </a:p>
          <a:p>
            <a:pPr algn="just"/>
            <a:r>
              <a:rPr lang="en-GB" sz="1600" dirty="0" smtClean="0"/>
              <a:t>public class </a:t>
            </a:r>
            <a:r>
              <a:rPr lang="en-GB" sz="1600" dirty="0" err="1" smtClean="0"/>
              <a:t>MammalInt</a:t>
            </a:r>
            <a:r>
              <a:rPr lang="en-GB" sz="1600" dirty="0" smtClean="0"/>
              <a:t> implements Animal {</a:t>
            </a:r>
          </a:p>
          <a:p>
            <a:pPr algn="just"/>
            <a:endParaRPr lang="en-GB" sz="1600" dirty="0" smtClean="0"/>
          </a:p>
          <a:p>
            <a:pPr lvl="1" algn="just"/>
            <a:r>
              <a:rPr lang="en-GB" sz="1600" dirty="0" smtClean="0"/>
              <a:t>public void eat() {</a:t>
            </a:r>
          </a:p>
          <a:p>
            <a:pPr lvl="1" algn="just"/>
            <a:r>
              <a:rPr lang="en-GB" sz="1600" dirty="0" err="1" smtClean="0"/>
              <a:t>System.out.println</a:t>
            </a:r>
            <a:r>
              <a:rPr lang="en-GB" sz="1600" dirty="0" smtClean="0"/>
              <a:t>(“Mammal eats”);</a:t>
            </a:r>
          </a:p>
          <a:p>
            <a:pPr lvl="1" algn="just"/>
            <a:r>
              <a:rPr lang="en-GB" sz="1600" dirty="0" smtClean="0"/>
              <a:t>}</a:t>
            </a:r>
          </a:p>
          <a:p>
            <a:pPr lvl="1" algn="just"/>
            <a:endParaRPr lang="en-GB" sz="1600" dirty="0" smtClean="0"/>
          </a:p>
          <a:p>
            <a:pPr lvl="1" algn="just"/>
            <a:r>
              <a:rPr lang="en-GB" sz="1600" dirty="0" smtClean="0"/>
              <a:t>public void travel() {</a:t>
            </a:r>
          </a:p>
          <a:p>
            <a:pPr lvl="1" algn="just"/>
            <a:r>
              <a:rPr lang="en-GB" sz="1600" dirty="0" err="1" smtClean="0"/>
              <a:t>System.out.println</a:t>
            </a:r>
            <a:r>
              <a:rPr lang="en-GB" sz="1600" dirty="0" smtClean="0"/>
              <a:t>(“Mammal travels”);</a:t>
            </a:r>
          </a:p>
          <a:p>
            <a:pPr lvl="1" algn="just"/>
            <a:r>
              <a:rPr lang="en-GB" sz="1600" dirty="0" smtClean="0"/>
              <a:t>}</a:t>
            </a:r>
          </a:p>
          <a:p>
            <a:pPr lvl="1" algn="just"/>
            <a:endParaRPr lang="en-GB" sz="1600" dirty="0" smtClean="0"/>
          </a:p>
          <a:p>
            <a:pPr lvl="1" algn="just"/>
            <a:r>
              <a:rPr lang="en-GB" sz="1600" dirty="0" smtClean="0"/>
              <a:t>public void </a:t>
            </a:r>
            <a:r>
              <a:rPr lang="en-GB" sz="1600" dirty="0" err="1" smtClean="0"/>
              <a:t>noOfLegs</a:t>
            </a:r>
            <a:r>
              <a:rPr lang="en-GB" sz="1600" dirty="0" smtClean="0"/>
              <a:t>() {</a:t>
            </a:r>
          </a:p>
          <a:p>
            <a:pPr lvl="1" algn="just"/>
            <a:r>
              <a:rPr lang="en-GB" sz="1600" dirty="0" smtClean="0"/>
              <a:t>return 0;</a:t>
            </a:r>
          </a:p>
          <a:p>
            <a:pPr lvl="1" algn="just"/>
            <a:r>
              <a:rPr lang="en-GB" sz="1600" dirty="0" smtClean="0"/>
              <a:t>}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81000"/>
            <a:ext cx="86106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GB" dirty="0" smtClean="0"/>
              <a:t>public static void main(String </a:t>
            </a:r>
            <a:r>
              <a:rPr lang="en-GB" dirty="0" err="1" smtClean="0"/>
              <a:t>args</a:t>
            </a:r>
            <a:r>
              <a:rPr lang="en-GB" dirty="0" smtClean="0"/>
              <a:t>[])</a:t>
            </a:r>
          </a:p>
          <a:p>
            <a:pPr lvl="1" algn="just"/>
            <a:r>
              <a:rPr lang="en-GB" dirty="0" smtClean="0"/>
              <a:t>{</a:t>
            </a:r>
          </a:p>
          <a:p>
            <a:pPr lvl="1" algn="just"/>
            <a:r>
              <a:rPr lang="en-GB" dirty="0" err="1" smtClean="0"/>
              <a:t>MammalInt</a:t>
            </a:r>
            <a:r>
              <a:rPr lang="en-GB" dirty="0" smtClean="0"/>
              <a:t> m = new </a:t>
            </a:r>
            <a:r>
              <a:rPr lang="en-GB" dirty="0" err="1" smtClean="0"/>
              <a:t>MammalInt</a:t>
            </a:r>
            <a:r>
              <a:rPr lang="en-GB" dirty="0" smtClean="0"/>
              <a:t>();</a:t>
            </a:r>
          </a:p>
          <a:p>
            <a:pPr lvl="1" algn="just"/>
            <a:r>
              <a:rPr lang="en-GB" dirty="0" smtClean="0"/>
              <a:t>m.eat();</a:t>
            </a:r>
          </a:p>
          <a:p>
            <a:pPr lvl="1" algn="just"/>
            <a:r>
              <a:rPr lang="en-GB" dirty="0" smtClean="0"/>
              <a:t>m.travel();</a:t>
            </a:r>
          </a:p>
          <a:p>
            <a:pPr lvl="1" algn="just"/>
            <a:r>
              <a:rPr lang="en-GB" sz="2000" dirty="0" smtClean="0"/>
              <a:t>}</a:t>
            </a:r>
          </a:p>
          <a:p>
            <a:pPr algn="just"/>
            <a:r>
              <a:rPr lang="en-GB" sz="2000" dirty="0" smtClean="0"/>
              <a:t>}</a:t>
            </a:r>
          </a:p>
          <a:p>
            <a:pPr algn="just"/>
            <a:endParaRPr lang="en-GB" sz="2000" dirty="0" smtClean="0"/>
          </a:p>
          <a:p>
            <a:pPr algn="just"/>
            <a:r>
              <a:rPr lang="en-GB" sz="2000" dirty="0" smtClean="0"/>
              <a:t>Output:</a:t>
            </a:r>
          </a:p>
          <a:p>
            <a:pPr algn="just"/>
            <a:r>
              <a:rPr lang="en-GB" sz="2000" dirty="0" smtClean="0"/>
              <a:t>Mammal eats</a:t>
            </a:r>
          </a:p>
          <a:p>
            <a:pPr algn="just"/>
            <a:r>
              <a:rPr lang="en-GB" sz="2000" dirty="0" smtClean="0"/>
              <a:t>Mammal travels</a:t>
            </a:r>
          </a:p>
          <a:p>
            <a:pPr algn="just"/>
            <a:endParaRPr lang="en-GB" sz="20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8077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When overriding methods defined in interfaces, there are several rules to be followed: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Checked exceptions should not be declared on implementation methods other than the ones declared by the interface method or subclasses of those declared by the interface method.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The signature of the interface method and the return type should be maintained when overriding the methods.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An implementation class itself can be abstract and if so, interface methods need not be implemented..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Rules for implementing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algn="just"/>
            <a:r>
              <a:rPr lang="en-GB" dirty="0" smtClean="0"/>
              <a:t>A class can implement more than one interface at a time.</a:t>
            </a:r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A class can extend only one class, but implement many interfaces.</a:t>
            </a:r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An interface can extend another interface, in a similar way as a class can extend another class.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Extending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An interface can extend another interface in the same way that a class can extend another class.</a:t>
            </a:r>
          </a:p>
          <a:p>
            <a:r>
              <a:rPr lang="en-GB" dirty="0" smtClean="0"/>
              <a:t>The extends keyword is used to extend an interface, and the child interface inherits the methods of the parent interface.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381000"/>
            <a:ext cx="8686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Example:</a:t>
            </a:r>
          </a:p>
          <a:p>
            <a:endParaRPr lang="en-GB" dirty="0" smtClean="0"/>
          </a:p>
          <a:p>
            <a:r>
              <a:rPr lang="en-GB" dirty="0" smtClean="0"/>
              <a:t>public  interface Sports {</a:t>
            </a:r>
          </a:p>
          <a:p>
            <a:r>
              <a:rPr lang="en-GB" dirty="0" smtClean="0"/>
              <a:t>public void </a:t>
            </a:r>
            <a:r>
              <a:rPr lang="en-GB" dirty="0" err="1" smtClean="0"/>
              <a:t>setHomeTeam</a:t>
            </a:r>
            <a:r>
              <a:rPr lang="en-GB" dirty="0" smtClean="0"/>
              <a:t>(String name);</a:t>
            </a:r>
          </a:p>
          <a:p>
            <a:r>
              <a:rPr lang="en-GB" dirty="0" smtClean="0"/>
              <a:t>public void </a:t>
            </a:r>
            <a:r>
              <a:rPr lang="en-GB" dirty="0" err="1" smtClean="0"/>
              <a:t>setVisitingTeam</a:t>
            </a:r>
            <a:r>
              <a:rPr lang="en-GB" dirty="0" smtClean="0"/>
              <a:t>(String name);</a:t>
            </a:r>
          </a:p>
          <a:p>
            <a:r>
              <a:rPr lang="en-GB" dirty="0" smtClean="0"/>
              <a:t>}</a:t>
            </a:r>
          </a:p>
          <a:p>
            <a:endParaRPr lang="en-GB" dirty="0" smtClean="0"/>
          </a:p>
          <a:p>
            <a:r>
              <a:rPr lang="en-GB" dirty="0" smtClean="0"/>
              <a:t>p</a:t>
            </a:r>
            <a:r>
              <a:rPr lang="en-GB" dirty="0" smtClean="0"/>
              <a:t>ublic interface Football extends Sports {</a:t>
            </a:r>
          </a:p>
          <a:p>
            <a:r>
              <a:rPr lang="en-GB" dirty="0" smtClean="0"/>
              <a:t>p</a:t>
            </a:r>
            <a:r>
              <a:rPr lang="en-GB" dirty="0" smtClean="0"/>
              <a:t>ublic void </a:t>
            </a:r>
            <a:r>
              <a:rPr lang="en-GB" dirty="0" err="1" smtClean="0"/>
              <a:t>homeTeamScored</a:t>
            </a:r>
            <a:r>
              <a:rPr lang="en-GB" dirty="0" smtClean="0"/>
              <a:t>(</a:t>
            </a:r>
            <a:r>
              <a:rPr lang="en-GB" dirty="0" err="1" smtClean="0"/>
              <a:t>int</a:t>
            </a:r>
            <a:r>
              <a:rPr lang="en-GB" dirty="0" smtClean="0"/>
              <a:t> points);</a:t>
            </a:r>
          </a:p>
          <a:p>
            <a:r>
              <a:rPr lang="en-GB" dirty="0" smtClean="0"/>
              <a:t>p</a:t>
            </a:r>
            <a:r>
              <a:rPr lang="en-GB" dirty="0" smtClean="0"/>
              <a:t>ublic void </a:t>
            </a:r>
            <a:r>
              <a:rPr lang="en-GB" dirty="0" err="1" smtClean="0"/>
              <a:t>visitingTeamScored</a:t>
            </a:r>
            <a:r>
              <a:rPr lang="en-GB" dirty="0" smtClean="0"/>
              <a:t>(</a:t>
            </a:r>
            <a:r>
              <a:rPr lang="en-GB" dirty="0" err="1" smtClean="0"/>
              <a:t>int</a:t>
            </a:r>
            <a:r>
              <a:rPr lang="en-GB" dirty="0" smtClean="0"/>
              <a:t> points);</a:t>
            </a:r>
          </a:p>
          <a:p>
            <a:r>
              <a:rPr lang="en-GB" dirty="0" smtClean="0"/>
              <a:t>public void </a:t>
            </a:r>
            <a:r>
              <a:rPr lang="en-GB" dirty="0" err="1" smtClean="0"/>
              <a:t>endOfQuarter</a:t>
            </a:r>
            <a:r>
              <a:rPr lang="en-GB" dirty="0" smtClean="0"/>
              <a:t>(</a:t>
            </a:r>
            <a:r>
              <a:rPr lang="en-GB" dirty="0" err="1" smtClean="0"/>
              <a:t>int</a:t>
            </a:r>
            <a:r>
              <a:rPr lang="en-GB" dirty="0" smtClean="0"/>
              <a:t> quarter);</a:t>
            </a:r>
          </a:p>
          <a:p>
            <a:r>
              <a:rPr lang="en-GB" dirty="0" smtClean="0"/>
              <a:t>}</a:t>
            </a:r>
          </a:p>
          <a:p>
            <a:endParaRPr lang="en-GB" dirty="0" smtClean="0"/>
          </a:p>
          <a:p>
            <a:r>
              <a:rPr lang="en-GB" dirty="0" smtClean="0"/>
              <a:t>public interface Hockey extends Sports {</a:t>
            </a:r>
          </a:p>
          <a:p>
            <a:r>
              <a:rPr lang="en-GB" dirty="0" smtClean="0"/>
              <a:t>public void </a:t>
            </a:r>
            <a:r>
              <a:rPr lang="en-GB" dirty="0" err="1" smtClean="0"/>
              <a:t>homeGoalScored</a:t>
            </a:r>
            <a:r>
              <a:rPr lang="en-GB" dirty="0" smtClean="0"/>
              <a:t>();</a:t>
            </a:r>
          </a:p>
          <a:p>
            <a:r>
              <a:rPr lang="en-GB" dirty="0" smtClean="0"/>
              <a:t>public void </a:t>
            </a:r>
            <a:r>
              <a:rPr lang="en-GB" dirty="0" err="1" smtClean="0"/>
              <a:t>visitingGoalScored</a:t>
            </a:r>
            <a:r>
              <a:rPr lang="en-GB" dirty="0" smtClean="0"/>
              <a:t>();</a:t>
            </a:r>
          </a:p>
          <a:p>
            <a:r>
              <a:rPr lang="en-GB" dirty="0" smtClean="0"/>
              <a:t>public void </a:t>
            </a:r>
            <a:r>
              <a:rPr lang="en-GB" dirty="0" err="1" smtClean="0"/>
              <a:t>endOfPeriod</a:t>
            </a:r>
            <a:r>
              <a:rPr lang="en-GB" dirty="0" smtClean="0"/>
              <a:t>(</a:t>
            </a:r>
            <a:r>
              <a:rPr lang="en-GB" dirty="0" err="1" smtClean="0"/>
              <a:t>int</a:t>
            </a:r>
            <a:r>
              <a:rPr lang="en-GB" dirty="0" smtClean="0"/>
              <a:t> period);</a:t>
            </a:r>
          </a:p>
          <a:p>
            <a:r>
              <a:rPr lang="en-GB" dirty="0" smtClean="0"/>
              <a:t>public void </a:t>
            </a:r>
            <a:r>
              <a:rPr lang="en-GB" dirty="0" err="1" smtClean="0"/>
              <a:t>ovretimePeriod</a:t>
            </a:r>
            <a:r>
              <a:rPr lang="en-GB" dirty="0" smtClean="0"/>
              <a:t>(</a:t>
            </a:r>
            <a:r>
              <a:rPr lang="en-GB" dirty="0" err="1" smtClean="0"/>
              <a:t>int</a:t>
            </a:r>
            <a:r>
              <a:rPr lang="en-GB" dirty="0" smtClean="0"/>
              <a:t> </a:t>
            </a:r>
            <a:r>
              <a:rPr lang="en-GB" dirty="0" err="1" smtClean="0"/>
              <a:t>ot</a:t>
            </a:r>
            <a:r>
              <a:rPr lang="en-GB" dirty="0" smtClean="0"/>
              <a:t>);</a:t>
            </a:r>
          </a:p>
          <a:p>
            <a:r>
              <a:rPr lang="en-GB" dirty="0" smtClean="0"/>
              <a:t>}</a:t>
            </a:r>
            <a:r>
              <a:rPr lang="en-GB" dirty="0" smtClean="0"/>
              <a:t> </a:t>
            </a:r>
          </a:p>
          <a:p>
            <a:endParaRPr lang="en-GB" dirty="0" smtClean="0"/>
          </a:p>
          <a:p>
            <a:pPr algn="just"/>
            <a:r>
              <a:rPr lang="en-GB" dirty="0" smtClean="0"/>
              <a:t>The Hockey interface has four methods. It inherits two from sports. Thus a class that implements Hockey needs to implement all six methods. Similarly a class that implements Football needs to define five methods.</a:t>
            </a:r>
            <a:endParaRPr lang="en-GB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1000"/>
            <a:ext cx="7848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Extending multiple interfaces</a:t>
            </a:r>
          </a:p>
          <a:p>
            <a:endParaRPr lang="en-GB" dirty="0" smtClean="0"/>
          </a:p>
          <a:p>
            <a:r>
              <a:rPr lang="en-GB" dirty="0" smtClean="0"/>
              <a:t>A Java class can only extend one parent class. </a:t>
            </a:r>
          </a:p>
          <a:p>
            <a:endParaRPr lang="en-GB" dirty="0" smtClean="0"/>
          </a:p>
          <a:p>
            <a:r>
              <a:rPr lang="en-GB" dirty="0" smtClean="0"/>
              <a:t>Multiple </a:t>
            </a:r>
            <a:r>
              <a:rPr lang="en-GB" dirty="0" err="1" smtClean="0"/>
              <a:t>inheritence</a:t>
            </a:r>
            <a:r>
              <a:rPr lang="en-GB" dirty="0" smtClean="0"/>
              <a:t> is not allowed. </a:t>
            </a:r>
            <a:r>
              <a:rPr lang="en-GB" dirty="0" err="1" smtClean="0"/>
              <a:t>Inerfaces</a:t>
            </a:r>
            <a:r>
              <a:rPr lang="en-GB" dirty="0" smtClean="0"/>
              <a:t> are not classes, however, an interface can extend more than one parent interface.</a:t>
            </a:r>
          </a:p>
          <a:p>
            <a:endParaRPr lang="en-GB" dirty="0" smtClean="0"/>
          </a:p>
          <a:p>
            <a:r>
              <a:rPr lang="en-GB" dirty="0" smtClean="0"/>
              <a:t>The extend keyword  is used once, and the parent interfaces are declared in a comma </a:t>
            </a:r>
            <a:r>
              <a:rPr lang="en-GB" dirty="0" err="1" smtClean="0"/>
              <a:t>seperated</a:t>
            </a:r>
            <a:r>
              <a:rPr lang="en-GB" dirty="0" smtClean="0"/>
              <a:t> list.</a:t>
            </a:r>
          </a:p>
          <a:p>
            <a:endParaRPr lang="en-GB" dirty="0" smtClean="0"/>
          </a:p>
          <a:p>
            <a:r>
              <a:rPr lang="en-GB" dirty="0" smtClean="0"/>
              <a:t>For example ,if the Hockey interface extended both Sports and Event, it would be declared as –</a:t>
            </a:r>
          </a:p>
          <a:p>
            <a:endParaRPr lang="en-GB" dirty="0" smtClean="0"/>
          </a:p>
          <a:p>
            <a:r>
              <a:rPr lang="en-GB" dirty="0" smtClean="0">
                <a:solidFill>
                  <a:srgbClr val="FF0000"/>
                </a:solidFill>
              </a:rPr>
              <a:t>public interface Hockey extends Sports, Event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28600"/>
            <a:ext cx="8153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Difference between abstract class and interface </a:t>
            </a:r>
          </a:p>
          <a:p>
            <a:endParaRPr lang="en-GB" dirty="0" smtClean="0"/>
          </a:p>
          <a:p>
            <a:r>
              <a:rPr lang="en-GB" dirty="0" smtClean="0">
                <a:solidFill>
                  <a:srgbClr val="00B050"/>
                </a:solidFill>
              </a:rPr>
              <a:t>Abstract class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An abstract class can have a method body(non-abstract methods).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An abstract class can have instance variables.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An abstract class can have the constructor.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An abstract class can have static methods.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We can extend one abstract class.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The abstract class can provide the implementation of the interface.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The abstract keyword is used to declare an abstract class.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An abstract class can be extended using keyword extends.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A java abstract class can have class members like private, protected, etc.</a:t>
            </a:r>
          </a:p>
          <a:p>
            <a:endParaRPr lang="en-GB" dirty="0" smtClean="0"/>
          </a:p>
          <a:p>
            <a:r>
              <a:rPr lang="en-GB" dirty="0" smtClean="0"/>
              <a:t>Example: </a:t>
            </a:r>
          </a:p>
          <a:p>
            <a:r>
              <a:rPr lang="en-GB" dirty="0" smtClean="0"/>
              <a:t>public abstract class Shape {</a:t>
            </a:r>
          </a:p>
          <a:p>
            <a:r>
              <a:rPr lang="en-GB" dirty="0" smtClean="0"/>
              <a:t>public abstract void draw();</a:t>
            </a:r>
          </a:p>
          <a:p>
            <a:r>
              <a:rPr lang="en-GB" dirty="0" smtClean="0"/>
              <a:t>}</a:t>
            </a:r>
            <a:endParaRPr lang="en-GB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0"/>
            <a:ext cx="8229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B050"/>
                </a:solidFill>
              </a:rPr>
              <a:t>Interface:</a:t>
            </a:r>
          </a:p>
          <a:p>
            <a:endParaRPr lang="en-GB" dirty="0" smtClean="0"/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The interface has only abstract methods.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An interface cannot have instance variables.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The interface cannot have the constructor.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The interface cannot have static methods.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We can implement multiple interfaces.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The interface can’t provide the implementation of the abstract class.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The interface  keyword is used to declare an interface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An interface can extend another Java interface only.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An interface class can be implemented using keyword implements.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Members of a Java interface are public by default.</a:t>
            </a:r>
          </a:p>
          <a:p>
            <a:endParaRPr lang="en-GB" dirty="0" smtClean="0"/>
          </a:p>
          <a:p>
            <a:r>
              <a:rPr lang="en-GB" dirty="0" smtClean="0"/>
              <a:t>Example:</a:t>
            </a:r>
          </a:p>
          <a:p>
            <a:r>
              <a:rPr lang="en-GB" dirty="0" smtClean="0"/>
              <a:t>public interface </a:t>
            </a:r>
            <a:r>
              <a:rPr lang="en-GB" dirty="0" err="1" smtClean="0"/>
              <a:t>Drawable</a:t>
            </a:r>
            <a:r>
              <a:rPr lang="en-GB" dirty="0" smtClean="0"/>
              <a:t> {</a:t>
            </a:r>
          </a:p>
          <a:p>
            <a:r>
              <a:rPr lang="en-GB" dirty="0" smtClean="0"/>
              <a:t>v</a:t>
            </a:r>
            <a:r>
              <a:rPr lang="en-GB" dirty="0" smtClean="0"/>
              <a:t>oid draw();</a:t>
            </a:r>
          </a:p>
          <a:p>
            <a:r>
              <a:rPr lang="en-GB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866</Words>
  <Application>Microsoft Office PowerPoint</Application>
  <PresentationFormat>On-screen Show (4:3)</PresentationFormat>
  <Paragraphs>151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Java Interface </vt:lpstr>
      <vt:lpstr>Interface</vt:lpstr>
      <vt:lpstr>Interface</vt:lpstr>
      <vt:lpstr>Syntax for interface</vt:lpstr>
      <vt:lpstr>Slide 5</vt:lpstr>
      <vt:lpstr>Slide 6</vt:lpstr>
      <vt:lpstr>Slide 7</vt:lpstr>
      <vt:lpstr>Rules for implementing interface</vt:lpstr>
      <vt:lpstr>Extending interfaces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Package</dc:title>
  <dc:creator>ramya</dc:creator>
  <cp:lastModifiedBy>NEW</cp:lastModifiedBy>
  <cp:revision>35</cp:revision>
  <dcterms:created xsi:type="dcterms:W3CDTF">2015-08-25T04:46:34Z</dcterms:created>
  <dcterms:modified xsi:type="dcterms:W3CDTF">2020-09-15T04:56:07Z</dcterms:modified>
</cp:coreProperties>
</file>