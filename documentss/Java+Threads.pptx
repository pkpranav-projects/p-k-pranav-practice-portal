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5"/>
  </p:notesMasterIdLst>
  <p:sldIdLst>
    <p:sldId id="256" r:id="rId2"/>
    <p:sldId id="316" r:id="rId3"/>
    <p:sldId id="317" r:id="rId4"/>
    <p:sldId id="318" r:id="rId5"/>
    <p:sldId id="319" r:id="rId6"/>
    <p:sldId id="321" r:id="rId7"/>
    <p:sldId id="323" r:id="rId8"/>
    <p:sldId id="322" r:id="rId9"/>
    <p:sldId id="324" r:id="rId10"/>
    <p:sldId id="325" r:id="rId11"/>
    <p:sldId id="320" r:id="rId12"/>
    <p:sldId id="326" r:id="rId13"/>
    <p:sldId id="327" r:id="rId14"/>
    <p:sldId id="263" r:id="rId15"/>
    <p:sldId id="264" r:id="rId16"/>
    <p:sldId id="267" r:id="rId17"/>
    <p:sldId id="265" r:id="rId18"/>
    <p:sldId id="328"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329" r:id="rId41"/>
    <p:sldId id="293" r:id="rId42"/>
    <p:sldId id="294" r:id="rId43"/>
    <p:sldId id="295" r:id="rId44"/>
    <p:sldId id="296" r:id="rId45"/>
    <p:sldId id="297" r:id="rId46"/>
    <p:sldId id="298" r:id="rId47"/>
    <p:sldId id="299" r:id="rId48"/>
    <p:sldId id="300" r:id="rId49"/>
    <p:sldId id="333" r:id="rId50"/>
    <p:sldId id="334" r:id="rId51"/>
    <p:sldId id="303" r:id="rId52"/>
    <p:sldId id="304" r:id="rId53"/>
    <p:sldId id="330" r:id="rId54"/>
    <p:sldId id="331" r:id="rId55"/>
    <p:sldId id="332" r:id="rId56"/>
    <p:sldId id="308" r:id="rId57"/>
    <p:sldId id="309" r:id="rId58"/>
    <p:sldId id="310" r:id="rId59"/>
    <p:sldId id="335" r:id="rId60"/>
    <p:sldId id="336" r:id="rId61"/>
    <p:sldId id="337" r:id="rId62"/>
    <p:sldId id="338" r:id="rId63"/>
    <p:sldId id="315" r:id="rId6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2B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1128"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4" name="Google Shape;244;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92A2B3D1-9C5A-98D0-CF1F-8C11D935DC4E}"/>
            </a:ext>
          </a:extLst>
        </p:cNvPr>
        <p:cNvGrpSpPr/>
        <p:nvPr/>
      </p:nvGrpSpPr>
      <p:grpSpPr>
        <a:xfrm>
          <a:off x="0" y="0"/>
          <a:ext cx="0" cy="0"/>
          <a:chOff x="0" y="0"/>
          <a:chExt cx="0" cy="0"/>
        </a:xfrm>
      </p:grpSpPr>
      <p:sp>
        <p:nvSpPr>
          <p:cNvPr id="293" name="Google Shape;293;p36:notes">
            <a:extLst>
              <a:ext uri="{FF2B5EF4-FFF2-40B4-BE49-F238E27FC236}">
                <a16:creationId xmlns:a16="http://schemas.microsoft.com/office/drawing/2014/main" id="{986903B6-2910-D8B1-53E2-FDAA5C01756E}"/>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36:notes">
            <a:extLst>
              <a:ext uri="{FF2B5EF4-FFF2-40B4-BE49-F238E27FC236}">
                <a16:creationId xmlns:a16="http://schemas.microsoft.com/office/drawing/2014/main" id="{A34FBC6A-593B-D5D8-D313-9819A90319A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525266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2" name="Google Shape;352;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sz="1800" b="1" i="0" u="none" strike="noStrike" cap="none" spc="0" dirty="0">
                <a:solidFill>
                  <a:srgbClr val="000000"/>
                </a:solidFill>
                <a:latin typeface="Arial"/>
                <a:ea typeface="Arial"/>
                <a:cs typeface="Arial"/>
                <a:sym typeface="Arial"/>
              </a:rPr>
              <a:t>get()</a:t>
            </a:r>
            <a:r>
              <a:rPr lang="en-IN" b="1" dirty="0"/>
              <a:t> (called by the consumer)</a:t>
            </a:r>
            <a:endParaRPr lang="en-IN" dirty="0"/>
          </a:p>
          <a:p>
            <a:pPr lvl="0" rtl="0"/>
            <a:r>
              <a:rPr lang="en-IN" dirty="0"/>
              <a:t>Enter the monitor.</a:t>
            </a:r>
          </a:p>
          <a:p>
            <a:pPr lvl="0" rtl="0"/>
            <a:r>
              <a:rPr lang="en-IN" sz="1800" b="0" i="0" u="none" strike="noStrike" cap="none" spc="0" dirty="0">
                <a:solidFill>
                  <a:srgbClr val="000000"/>
                </a:solidFill>
                <a:latin typeface="Arial"/>
                <a:ea typeface="Arial"/>
                <a:cs typeface="Arial"/>
                <a:sym typeface="Arial"/>
              </a:rPr>
              <a:t>while (!</a:t>
            </a:r>
            <a:r>
              <a:rPr lang="en-IN" sz="1800" b="0" i="0" u="none" strike="noStrike" cap="none" spc="0" dirty="0" err="1">
                <a:solidFill>
                  <a:srgbClr val="000000"/>
                </a:solidFill>
                <a:latin typeface="Arial"/>
                <a:ea typeface="Arial"/>
                <a:cs typeface="Arial"/>
                <a:sym typeface="Arial"/>
              </a:rPr>
              <a:t>valueSet</a:t>
            </a:r>
            <a:r>
              <a:rPr lang="en-IN" sz="1800" b="0" i="0" u="none" strike="noStrike" cap="none" spc="0" dirty="0">
                <a:solidFill>
                  <a:srgbClr val="000000"/>
                </a:solidFill>
                <a:latin typeface="Arial"/>
                <a:ea typeface="Arial"/>
                <a:cs typeface="Arial"/>
                <a:sym typeface="Arial"/>
              </a:rPr>
              <a:t>)</a:t>
            </a:r>
            <a:r>
              <a:rPr lang="en-IN" dirty="0"/>
              <a:t>: if there is nothing to consume, call </a:t>
            </a:r>
            <a:r>
              <a:rPr lang="en-IN" sz="1800" b="0" i="0" u="none" strike="noStrike" cap="none" spc="0" dirty="0">
                <a:solidFill>
                  <a:srgbClr val="000000"/>
                </a:solidFill>
                <a:latin typeface="Arial"/>
                <a:ea typeface="Arial"/>
                <a:cs typeface="Arial"/>
                <a:sym typeface="Arial"/>
              </a:rPr>
              <a:t>wait()</a:t>
            </a:r>
            <a:r>
              <a:rPr lang="en-IN" dirty="0"/>
              <a:t> (releasing the lock).</a:t>
            </a:r>
          </a:p>
          <a:p>
            <a:pPr lvl="0" rtl="0"/>
            <a:r>
              <a:rPr lang="en-IN" dirty="0"/>
              <a:t>When data is available, print </a:t>
            </a:r>
            <a:r>
              <a:rPr lang="en-IN" sz="1800" b="0" i="0" u="none" strike="noStrike" cap="none" spc="0" dirty="0">
                <a:solidFill>
                  <a:srgbClr val="000000"/>
                </a:solidFill>
                <a:latin typeface="Arial"/>
                <a:ea typeface="Arial"/>
                <a:cs typeface="Arial"/>
                <a:sym typeface="Arial"/>
              </a:rPr>
              <a:t>Got: n</a:t>
            </a:r>
            <a:r>
              <a:rPr lang="en-IN" dirty="0"/>
              <a:t>, set </a:t>
            </a:r>
            <a:r>
              <a:rPr lang="en-IN" sz="1800" b="0" i="0" u="none" strike="noStrike" cap="none" spc="0" dirty="0" err="1">
                <a:solidFill>
                  <a:srgbClr val="000000"/>
                </a:solidFill>
                <a:latin typeface="Arial"/>
                <a:ea typeface="Arial"/>
                <a:cs typeface="Arial"/>
                <a:sym typeface="Arial"/>
              </a:rPr>
              <a:t>valueSet</a:t>
            </a:r>
            <a:r>
              <a:rPr lang="en-IN" sz="1800" b="0" i="0" u="none" strike="noStrike" cap="none" spc="0" dirty="0">
                <a:solidFill>
                  <a:srgbClr val="000000"/>
                </a:solidFill>
                <a:latin typeface="Arial"/>
                <a:ea typeface="Arial"/>
                <a:cs typeface="Arial"/>
                <a:sym typeface="Arial"/>
              </a:rPr>
              <a:t> = false</a:t>
            </a:r>
            <a:r>
              <a:rPr lang="en-IN" dirty="0"/>
              <a:t> (the buffer is empty again), call </a:t>
            </a:r>
            <a:r>
              <a:rPr lang="en-IN" sz="1800" b="0" i="0" u="none" strike="noStrike" cap="none" spc="0" dirty="0">
                <a:solidFill>
                  <a:srgbClr val="000000"/>
                </a:solidFill>
                <a:latin typeface="Arial"/>
                <a:ea typeface="Arial"/>
                <a:cs typeface="Arial"/>
                <a:sym typeface="Arial"/>
              </a:rPr>
              <a:t>notify()</a:t>
            </a:r>
            <a:r>
              <a:rPr lang="en-IN" dirty="0"/>
              <a:t> to wake the producer, and return </a:t>
            </a:r>
            <a:r>
              <a:rPr lang="en-IN" sz="1800" b="0" i="0" u="none" strike="noStrike" cap="none" spc="0" dirty="0">
                <a:solidFill>
                  <a:srgbClr val="000000"/>
                </a:solidFill>
                <a:latin typeface="Arial"/>
                <a:ea typeface="Arial"/>
                <a:cs typeface="Arial"/>
                <a:sym typeface="Arial"/>
              </a:rPr>
              <a:t>n</a:t>
            </a:r>
            <a:r>
              <a:rPr lang="en-IN" dirty="0"/>
              <a:t>.</a:t>
            </a:r>
          </a:p>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smtClean="0">
                <a:solidFill>
                  <a:srgbClr val="000000"/>
                </a:solidFill>
                <a:latin typeface="Calibri"/>
                <a:ea typeface="Calibri"/>
                <a:cs typeface="Calibri"/>
                <a:sym typeface="Calibri"/>
              </a:rPr>
              <a:t>53</a:t>
            </a:fld>
            <a:endParaRPr lang="en-US"/>
          </a:p>
        </p:txBody>
      </p:sp>
    </p:spTree>
    <p:extLst>
      <p:ext uri="{BB962C8B-B14F-4D97-AF65-F5344CB8AC3E}">
        <p14:creationId xmlns:p14="http://schemas.microsoft.com/office/powerpoint/2010/main" val="634067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 name="Google Shape;409;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smtClean="0">
                <a:solidFill>
                  <a:srgbClr val="000000"/>
                </a:solidFill>
                <a:latin typeface="Calibri"/>
                <a:ea typeface="Calibri"/>
                <a:cs typeface="Calibri"/>
                <a:sym typeface="Calibri"/>
              </a:rPr>
              <a:t>61</a:t>
            </a:fld>
            <a:endParaRPr lang="en-US"/>
          </a:p>
        </p:txBody>
      </p:sp>
    </p:spTree>
    <p:extLst>
      <p:ext uri="{BB962C8B-B14F-4D97-AF65-F5344CB8AC3E}">
        <p14:creationId xmlns:p14="http://schemas.microsoft.com/office/powerpoint/2010/main" val="32760922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3" name="Google Shape;33;p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9" name="Google Shape;39;p6"/>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0" name="Google Shape;40;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5" name="Google Shape;45;p7"/>
          <p:cNvSpPr>
            <a:spLocks noGrp="1"/>
          </p:cNvSpPr>
          <p:nvPr>
            <p:ph type="pic" idx="2"/>
          </p:nvPr>
        </p:nvSpPr>
        <p:spPr>
          <a:xfrm>
            <a:off x="1792288" y="612775"/>
            <a:ext cx="5486400" cy="4114800"/>
          </a:xfrm>
          <a:prstGeom prst="rect">
            <a:avLst/>
          </a:prstGeom>
          <a:noFill/>
          <a:ln>
            <a:noFill/>
          </a:ln>
        </p:spPr>
        <p:txBody>
          <a:bodyPr/>
          <a:lstStyle/>
          <a:p>
            <a:endParaRPr lang="en-IN"/>
          </a:p>
        </p:txBody>
      </p:sp>
      <p:sp>
        <p:nvSpPr>
          <p:cNvPr id="46" name="Google Shape;46;p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47" name="Google Shape;4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0"/>
        <p:cNvGrpSpPr/>
        <p:nvPr/>
      </p:nvGrpSpPr>
      <p:grpSpPr>
        <a:xfrm>
          <a:off x="0" y="0"/>
          <a:ext cx="0" cy="0"/>
          <a:chOff x="0" y="0"/>
          <a:chExt cx="0" cy="0"/>
        </a:xfrm>
      </p:grpSpPr>
      <p:sp>
        <p:nvSpPr>
          <p:cNvPr id="51" name="Google Shape;51;p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 name="Google Shape;52;p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3" name="Google Shape;53;p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4" name="Google Shape;54;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9" name="Google Shape;59;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2"/>
        <p:cNvGrpSpPr/>
        <p:nvPr/>
      </p:nvGrpSpPr>
      <p:grpSpPr>
        <a:xfrm>
          <a:off x="0" y="0"/>
          <a:ext cx="0" cy="0"/>
          <a:chOff x="0" y="0"/>
          <a:chExt cx="0" cy="0"/>
        </a:xfrm>
      </p:grpSpPr>
      <p:sp>
        <p:nvSpPr>
          <p:cNvPr id="63" name="Google Shape;63;p1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4" name="Google Shape;64;p1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5" name="Google Shape;65;p1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6" name="Google Shape;66;p1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7" name="Google Shape;67;p1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8" name="Google Shape;6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3" name="Google Shape;73;p1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4" name="Google Shape;74;p1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1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4400"/>
              <a:buFont typeface="Calibri"/>
              <a:buNone/>
            </a:pPr>
            <a:r>
              <a:rPr lang="en-US" sz="4400" b="1" i="0" u="none">
                <a:solidFill>
                  <a:schemeClr val="dk1"/>
                </a:solidFill>
                <a:latin typeface="Calibri"/>
                <a:ea typeface="Calibri"/>
                <a:cs typeface="Calibri"/>
                <a:sym typeface="Calibri"/>
              </a:rPr>
              <a:t>Java Threads</a:t>
            </a:r>
            <a:br>
              <a:rPr lang="en-US" sz="4400" b="1" i="0" u="none">
                <a:solidFill>
                  <a:schemeClr val="dk1"/>
                </a:solidFill>
                <a:latin typeface="Calibri"/>
                <a:ea typeface="Calibri"/>
                <a:cs typeface="Calibri"/>
                <a:sym typeface="Calibri"/>
              </a:rPr>
            </a:b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183DA94-E9B5-4BBE-4E42-036B42819126}"/>
              </a:ext>
            </a:extLst>
          </p:cNvPr>
          <p:cNvPicPr>
            <a:picLocks noChangeAspect="1"/>
          </p:cNvPicPr>
          <p:nvPr/>
        </p:nvPicPr>
        <p:blipFill>
          <a:blip r:embed="rId2"/>
          <a:stretch>
            <a:fillRect/>
          </a:stretch>
        </p:blipFill>
        <p:spPr>
          <a:xfrm>
            <a:off x="244252" y="1025236"/>
            <a:ext cx="8655495" cy="4174838"/>
          </a:xfrm>
          <a:prstGeom prst="rect">
            <a:avLst/>
          </a:prstGeom>
        </p:spPr>
      </p:pic>
    </p:spTree>
    <p:extLst>
      <p:ext uri="{BB962C8B-B14F-4D97-AF65-F5344CB8AC3E}">
        <p14:creationId xmlns:p14="http://schemas.microsoft.com/office/powerpoint/2010/main" val="274349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E18671-A0A0-4320-93E2-CC5720CDB4EA}"/>
              </a:ext>
            </a:extLst>
          </p:cNvPr>
          <p:cNvSpPr>
            <a:spLocks noGrp="1"/>
          </p:cNvSpPr>
          <p:nvPr>
            <p:ph type="title"/>
          </p:nvPr>
        </p:nvSpPr>
        <p:spPr>
          <a:xfrm>
            <a:off x="417399" y="643467"/>
            <a:ext cx="8408193" cy="744836"/>
          </a:xfrm>
        </p:spPr>
        <p:txBody>
          <a:bodyPr vert="horz" lIns="91440" tIns="45720" rIns="91440" bIns="45720" rtlCol="0" anchor="ctr">
            <a:normAutofit fontScale="90000"/>
          </a:bodyPr>
          <a:lstStyle/>
          <a:p>
            <a:pPr>
              <a:lnSpc>
                <a:spcPct val="90000"/>
              </a:lnSpc>
              <a:spcBef>
                <a:spcPct val="0"/>
              </a:spcBef>
            </a:pPr>
            <a:r>
              <a:rPr lang="en-US" sz="2800" kern="1200" dirty="0">
                <a:solidFill>
                  <a:schemeClr val="bg1"/>
                </a:solidFill>
                <a:latin typeface="+mj-lt"/>
                <a:ea typeface="+mj-ea"/>
                <a:cs typeface="+mj-cs"/>
              </a:rPr>
              <a:t>How a program or a software executes inside a computer?</a:t>
            </a:r>
          </a:p>
        </p:txBody>
      </p:sp>
      <p:pic>
        <p:nvPicPr>
          <p:cNvPr id="5" name="Picture 4">
            <a:extLst>
              <a:ext uri="{FF2B5EF4-FFF2-40B4-BE49-F238E27FC236}">
                <a16:creationId xmlns:a16="http://schemas.microsoft.com/office/drawing/2014/main" id="{F46EBF7B-0C39-3063-0610-E85201DE01F2}"/>
              </a:ext>
            </a:extLst>
          </p:cNvPr>
          <p:cNvPicPr>
            <a:picLocks noChangeAspect="1"/>
          </p:cNvPicPr>
          <p:nvPr/>
        </p:nvPicPr>
        <p:blipFill>
          <a:blip r:embed="rId2"/>
          <a:stretch>
            <a:fillRect/>
          </a:stretch>
        </p:blipFill>
        <p:spPr>
          <a:xfrm>
            <a:off x="482600" y="1909415"/>
            <a:ext cx="8178799" cy="3925823"/>
          </a:xfrm>
          <a:prstGeom prst="rect">
            <a:avLst/>
          </a:prstGeom>
        </p:spPr>
      </p:pic>
    </p:spTree>
    <p:extLst>
      <p:ext uri="{BB962C8B-B14F-4D97-AF65-F5344CB8AC3E}">
        <p14:creationId xmlns:p14="http://schemas.microsoft.com/office/powerpoint/2010/main" val="3905475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6BD39A-2964-4766-0DF5-20F6D79406B4}"/>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86A3B98-255E-FCC4-5168-9E322495E1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965912-1F11-2737-99EB-BC842D1A6FCE}"/>
              </a:ext>
            </a:extLst>
          </p:cNvPr>
          <p:cNvSpPr>
            <a:spLocks noGrp="1"/>
          </p:cNvSpPr>
          <p:nvPr>
            <p:ph type="title"/>
          </p:nvPr>
        </p:nvSpPr>
        <p:spPr>
          <a:xfrm>
            <a:off x="417399" y="643467"/>
            <a:ext cx="8408193" cy="744836"/>
          </a:xfrm>
        </p:spPr>
        <p:txBody>
          <a:bodyPr vert="horz" lIns="91440" tIns="45720" rIns="91440" bIns="45720" rtlCol="0" anchor="ctr">
            <a:normAutofit fontScale="90000"/>
          </a:bodyPr>
          <a:lstStyle/>
          <a:p>
            <a:pPr>
              <a:lnSpc>
                <a:spcPct val="90000"/>
              </a:lnSpc>
              <a:spcBef>
                <a:spcPct val="0"/>
              </a:spcBef>
            </a:pPr>
            <a:r>
              <a:rPr lang="en-US" sz="2800" kern="1200" dirty="0">
                <a:solidFill>
                  <a:schemeClr val="bg1"/>
                </a:solidFill>
                <a:latin typeface="+mj-lt"/>
                <a:ea typeface="+mj-ea"/>
                <a:cs typeface="+mj-cs"/>
              </a:rPr>
              <a:t>How a program or a software executes inside a computer?</a:t>
            </a:r>
          </a:p>
        </p:txBody>
      </p:sp>
      <p:pic>
        <p:nvPicPr>
          <p:cNvPr id="4" name="Picture 3">
            <a:extLst>
              <a:ext uri="{FF2B5EF4-FFF2-40B4-BE49-F238E27FC236}">
                <a16:creationId xmlns:a16="http://schemas.microsoft.com/office/drawing/2014/main" id="{5434357A-D10C-E422-4526-FACAA0003705}"/>
              </a:ext>
            </a:extLst>
          </p:cNvPr>
          <p:cNvPicPr>
            <a:picLocks noChangeAspect="1"/>
          </p:cNvPicPr>
          <p:nvPr/>
        </p:nvPicPr>
        <p:blipFill>
          <a:blip r:embed="rId2"/>
          <a:stretch>
            <a:fillRect/>
          </a:stretch>
        </p:blipFill>
        <p:spPr>
          <a:xfrm>
            <a:off x="0" y="1780071"/>
            <a:ext cx="9131769" cy="4426177"/>
          </a:xfrm>
          <a:prstGeom prst="rect">
            <a:avLst/>
          </a:prstGeom>
        </p:spPr>
      </p:pic>
    </p:spTree>
    <p:extLst>
      <p:ext uri="{BB962C8B-B14F-4D97-AF65-F5344CB8AC3E}">
        <p14:creationId xmlns:p14="http://schemas.microsoft.com/office/powerpoint/2010/main" val="1007406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9F406B-C4AD-79AF-735C-FFA5404EB600}"/>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nSpc>
                <a:spcPct val="90000"/>
              </a:lnSpc>
              <a:spcBef>
                <a:spcPct val="0"/>
              </a:spcBef>
            </a:pPr>
            <a:r>
              <a:rPr lang="en-US" sz="2800" kern="1200" dirty="0">
                <a:solidFill>
                  <a:schemeClr val="bg1"/>
                </a:solidFill>
                <a:latin typeface="+mj-lt"/>
                <a:ea typeface="+mj-ea"/>
                <a:cs typeface="+mj-cs"/>
              </a:rPr>
              <a:t>Parallel vs Concurrent Execution</a:t>
            </a:r>
          </a:p>
        </p:txBody>
      </p:sp>
      <p:pic>
        <p:nvPicPr>
          <p:cNvPr id="5" name="Picture 4">
            <a:extLst>
              <a:ext uri="{FF2B5EF4-FFF2-40B4-BE49-F238E27FC236}">
                <a16:creationId xmlns:a16="http://schemas.microsoft.com/office/drawing/2014/main" id="{6715EBB7-84CE-4511-6080-5EA46AD0D82A}"/>
              </a:ext>
            </a:extLst>
          </p:cNvPr>
          <p:cNvPicPr>
            <a:picLocks noChangeAspect="1"/>
          </p:cNvPicPr>
          <p:nvPr/>
        </p:nvPicPr>
        <p:blipFill>
          <a:blip r:embed="rId2"/>
          <a:stretch>
            <a:fillRect/>
          </a:stretch>
        </p:blipFill>
        <p:spPr>
          <a:xfrm>
            <a:off x="-64654" y="1388303"/>
            <a:ext cx="9208654" cy="5372715"/>
          </a:xfrm>
          <a:prstGeom prst="rect">
            <a:avLst/>
          </a:prstGeom>
        </p:spPr>
      </p:pic>
    </p:spTree>
    <p:extLst>
      <p:ext uri="{BB962C8B-B14F-4D97-AF65-F5344CB8AC3E}">
        <p14:creationId xmlns:p14="http://schemas.microsoft.com/office/powerpoint/2010/main" val="241014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A4EEF4-897F-27AF-DCB0-0F4841C43C45}"/>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11168B61-C5CB-614B-EDEF-743E36787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BBCA7B-094A-4E5F-04BA-FB2ECB6F6259}"/>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nSpc>
                <a:spcPct val="90000"/>
              </a:lnSpc>
              <a:spcBef>
                <a:spcPct val="0"/>
              </a:spcBef>
            </a:pPr>
            <a:r>
              <a:rPr lang="en-US" sz="2800" kern="1200" dirty="0">
                <a:solidFill>
                  <a:schemeClr val="bg1"/>
                </a:solidFill>
                <a:latin typeface="+mj-lt"/>
                <a:ea typeface="+mj-ea"/>
                <a:cs typeface="+mj-cs"/>
              </a:rPr>
              <a:t>Parallel vs Concurrent Execution</a:t>
            </a:r>
          </a:p>
        </p:txBody>
      </p:sp>
      <p:pic>
        <p:nvPicPr>
          <p:cNvPr id="4" name="Picture 3">
            <a:extLst>
              <a:ext uri="{FF2B5EF4-FFF2-40B4-BE49-F238E27FC236}">
                <a16:creationId xmlns:a16="http://schemas.microsoft.com/office/drawing/2014/main" id="{22C51329-0B19-F06E-CEE9-8F833D3A3251}"/>
              </a:ext>
            </a:extLst>
          </p:cNvPr>
          <p:cNvPicPr>
            <a:picLocks noChangeAspect="1"/>
          </p:cNvPicPr>
          <p:nvPr/>
        </p:nvPicPr>
        <p:blipFill>
          <a:blip r:embed="rId2"/>
          <a:stretch>
            <a:fillRect/>
          </a:stretch>
        </p:blipFill>
        <p:spPr>
          <a:xfrm>
            <a:off x="44217" y="1200035"/>
            <a:ext cx="9055565" cy="5657965"/>
          </a:xfrm>
          <a:prstGeom prst="rect">
            <a:avLst/>
          </a:prstGeom>
        </p:spPr>
      </p:pic>
    </p:spTree>
    <p:extLst>
      <p:ext uri="{BB962C8B-B14F-4D97-AF65-F5344CB8AC3E}">
        <p14:creationId xmlns:p14="http://schemas.microsoft.com/office/powerpoint/2010/main" val="208060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2BACFD-9E2C-BE66-8264-D29DD329997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EF00463-D3BA-8624-1ACA-89E0F30A96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81D7C2-E453-6CDD-C96A-6E475A003395}"/>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nSpc>
                <a:spcPct val="90000"/>
              </a:lnSpc>
              <a:spcBef>
                <a:spcPct val="0"/>
              </a:spcBef>
            </a:pPr>
            <a:r>
              <a:rPr lang="en-US" sz="2800" kern="1200" dirty="0">
                <a:solidFill>
                  <a:schemeClr val="bg1"/>
                </a:solidFill>
                <a:latin typeface="+mj-lt"/>
                <a:ea typeface="+mj-ea"/>
                <a:cs typeface="+mj-cs"/>
              </a:rPr>
              <a:t>How multiple threads improve performance?</a:t>
            </a:r>
          </a:p>
        </p:txBody>
      </p:sp>
      <p:pic>
        <p:nvPicPr>
          <p:cNvPr id="5" name="Picture 4">
            <a:extLst>
              <a:ext uri="{FF2B5EF4-FFF2-40B4-BE49-F238E27FC236}">
                <a16:creationId xmlns:a16="http://schemas.microsoft.com/office/drawing/2014/main" id="{F4006FE9-A6F1-323A-DEEF-C21449C08DE8}"/>
              </a:ext>
            </a:extLst>
          </p:cNvPr>
          <p:cNvPicPr>
            <a:picLocks noChangeAspect="1"/>
          </p:cNvPicPr>
          <p:nvPr/>
        </p:nvPicPr>
        <p:blipFill>
          <a:blip r:embed="rId2"/>
          <a:stretch>
            <a:fillRect/>
          </a:stretch>
        </p:blipFill>
        <p:spPr>
          <a:xfrm>
            <a:off x="-73890" y="1396588"/>
            <a:ext cx="9144000" cy="5461412"/>
          </a:xfrm>
          <a:prstGeom prst="rect">
            <a:avLst/>
          </a:prstGeom>
        </p:spPr>
      </p:pic>
    </p:spTree>
    <p:extLst>
      <p:ext uri="{BB962C8B-B14F-4D97-AF65-F5344CB8AC3E}">
        <p14:creationId xmlns:p14="http://schemas.microsoft.com/office/powerpoint/2010/main" val="876055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9632FE-16BE-415B-2180-A8B365EC976C}"/>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nSpc>
                <a:spcPct val="90000"/>
              </a:lnSpc>
              <a:spcBef>
                <a:spcPct val="0"/>
              </a:spcBef>
            </a:pPr>
            <a:r>
              <a:rPr lang="en-US" sz="2800" kern="1200" dirty="0">
                <a:solidFill>
                  <a:schemeClr val="bg1"/>
                </a:solidFill>
                <a:latin typeface="+mj-lt"/>
                <a:ea typeface="+mj-ea"/>
                <a:cs typeface="+mj-cs"/>
              </a:rPr>
              <a:t>How multiple threads improve performance?</a:t>
            </a:r>
          </a:p>
        </p:txBody>
      </p:sp>
      <p:pic>
        <p:nvPicPr>
          <p:cNvPr id="7" name="Picture 6">
            <a:extLst>
              <a:ext uri="{FF2B5EF4-FFF2-40B4-BE49-F238E27FC236}">
                <a16:creationId xmlns:a16="http://schemas.microsoft.com/office/drawing/2014/main" id="{B3DAAC18-A7AA-9644-BCFF-D50E0D126EA1}"/>
              </a:ext>
            </a:extLst>
          </p:cNvPr>
          <p:cNvPicPr>
            <a:picLocks noChangeAspect="1"/>
          </p:cNvPicPr>
          <p:nvPr/>
        </p:nvPicPr>
        <p:blipFill>
          <a:blip r:embed="rId2"/>
          <a:stretch>
            <a:fillRect/>
          </a:stretch>
        </p:blipFill>
        <p:spPr>
          <a:xfrm>
            <a:off x="0" y="1309884"/>
            <a:ext cx="9144000" cy="5548116"/>
          </a:xfrm>
          <a:prstGeom prst="rect">
            <a:avLst/>
          </a:prstGeom>
        </p:spPr>
      </p:pic>
    </p:spTree>
    <p:extLst>
      <p:ext uri="{BB962C8B-B14F-4D97-AF65-F5344CB8AC3E}">
        <p14:creationId xmlns:p14="http://schemas.microsoft.com/office/powerpoint/2010/main" val="1529726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2A7C5F-1BBF-F22A-4A76-D0411F7D97A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2F54880-5287-CC46-E620-E79799919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B245E2-BBA5-226C-7C58-553B0969B146}"/>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nSpc>
                <a:spcPct val="90000"/>
              </a:lnSpc>
              <a:spcBef>
                <a:spcPct val="0"/>
              </a:spcBef>
            </a:pPr>
            <a:r>
              <a:rPr lang="en-US" sz="2800" kern="1200" dirty="0">
                <a:solidFill>
                  <a:schemeClr val="bg1"/>
                </a:solidFill>
                <a:latin typeface="+mj-lt"/>
                <a:ea typeface="+mj-ea"/>
                <a:cs typeface="+mj-cs"/>
              </a:rPr>
              <a:t>How multiple threads improve performance?</a:t>
            </a:r>
          </a:p>
        </p:txBody>
      </p:sp>
      <p:pic>
        <p:nvPicPr>
          <p:cNvPr id="4" name="Picture 3">
            <a:extLst>
              <a:ext uri="{FF2B5EF4-FFF2-40B4-BE49-F238E27FC236}">
                <a16:creationId xmlns:a16="http://schemas.microsoft.com/office/drawing/2014/main" id="{2C480509-9317-9BD3-0A8C-429CCB925D3D}"/>
              </a:ext>
            </a:extLst>
          </p:cNvPr>
          <p:cNvPicPr>
            <a:picLocks noChangeAspect="1"/>
          </p:cNvPicPr>
          <p:nvPr/>
        </p:nvPicPr>
        <p:blipFill>
          <a:blip r:embed="rId2"/>
          <a:stretch>
            <a:fillRect/>
          </a:stretch>
        </p:blipFill>
        <p:spPr>
          <a:xfrm>
            <a:off x="0" y="1312744"/>
            <a:ext cx="9144000" cy="5545256"/>
          </a:xfrm>
          <a:prstGeom prst="rect">
            <a:avLst/>
          </a:prstGeom>
        </p:spPr>
      </p:pic>
    </p:spTree>
    <p:extLst>
      <p:ext uri="{BB962C8B-B14F-4D97-AF65-F5344CB8AC3E}">
        <p14:creationId xmlns:p14="http://schemas.microsoft.com/office/powerpoint/2010/main" val="1985723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1606C9-F912-5F76-3F1F-F97B6FCF8C07}"/>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AD2E35E-510C-2D40-4420-D66776EE7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C3EDEE-92B9-B3F9-706E-DFCF308D1EDB}"/>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nSpc>
                <a:spcPct val="90000"/>
              </a:lnSpc>
              <a:spcBef>
                <a:spcPct val="0"/>
              </a:spcBef>
            </a:pPr>
            <a:r>
              <a:rPr lang="en-US" sz="2800" kern="1200" dirty="0">
                <a:solidFill>
                  <a:schemeClr val="bg1"/>
                </a:solidFill>
                <a:latin typeface="+mj-lt"/>
                <a:ea typeface="+mj-ea"/>
                <a:cs typeface="+mj-cs"/>
              </a:rPr>
              <a:t>How multiple threads improve performance?</a:t>
            </a:r>
          </a:p>
        </p:txBody>
      </p:sp>
      <p:pic>
        <p:nvPicPr>
          <p:cNvPr id="5" name="Picture 4">
            <a:extLst>
              <a:ext uri="{FF2B5EF4-FFF2-40B4-BE49-F238E27FC236}">
                <a16:creationId xmlns:a16="http://schemas.microsoft.com/office/drawing/2014/main" id="{25D475FA-2F68-5961-81D6-147225A66019}"/>
              </a:ext>
            </a:extLst>
          </p:cNvPr>
          <p:cNvPicPr>
            <a:picLocks noChangeAspect="1"/>
          </p:cNvPicPr>
          <p:nvPr/>
        </p:nvPicPr>
        <p:blipFill>
          <a:blip r:embed="rId2"/>
          <a:stretch>
            <a:fillRect/>
          </a:stretch>
        </p:blipFill>
        <p:spPr>
          <a:xfrm>
            <a:off x="0" y="1226384"/>
            <a:ext cx="9144000" cy="5631616"/>
          </a:xfrm>
          <a:prstGeom prst="rect">
            <a:avLst/>
          </a:prstGeom>
        </p:spPr>
      </p:pic>
    </p:spTree>
    <p:extLst>
      <p:ext uri="{BB962C8B-B14F-4D97-AF65-F5344CB8AC3E}">
        <p14:creationId xmlns:p14="http://schemas.microsoft.com/office/powerpoint/2010/main" val="1199463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556660-7B19-4D52-70BE-2971CD2A7F0D}"/>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nSpc>
                <a:spcPct val="90000"/>
              </a:lnSpc>
              <a:spcBef>
                <a:spcPct val="0"/>
              </a:spcBef>
            </a:pPr>
            <a:r>
              <a:rPr lang="en-US" sz="2800" kern="1200" dirty="0">
                <a:solidFill>
                  <a:schemeClr val="bg1"/>
                </a:solidFill>
                <a:latin typeface="+mj-lt"/>
                <a:ea typeface="+mj-ea"/>
                <a:cs typeface="+mj-cs"/>
              </a:rPr>
              <a:t>Flowchart of Thread Execution</a:t>
            </a:r>
          </a:p>
        </p:txBody>
      </p:sp>
      <p:pic>
        <p:nvPicPr>
          <p:cNvPr id="5" name="Picture 4">
            <a:extLst>
              <a:ext uri="{FF2B5EF4-FFF2-40B4-BE49-F238E27FC236}">
                <a16:creationId xmlns:a16="http://schemas.microsoft.com/office/drawing/2014/main" id="{48DA2B12-DA15-A647-66B7-8465002F18D9}"/>
              </a:ext>
            </a:extLst>
          </p:cNvPr>
          <p:cNvPicPr>
            <a:picLocks noChangeAspect="1"/>
          </p:cNvPicPr>
          <p:nvPr/>
        </p:nvPicPr>
        <p:blipFill>
          <a:blip r:embed="rId2"/>
          <a:stretch>
            <a:fillRect/>
          </a:stretch>
        </p:blipFill>
        <p:spPr>
          <a:xfrm>
            <a:off x="482600" y="1756062"/>
            <a:ext cx="8178799" cy="4903356"/>
          </a:xfrm>
          <a:prstGeom prst="rect">
            <a:avLst/>
          </a:prstGeom>
        </p:spPr>
      </p:pic>
    </p:spTree>
    <p:extLst>
      <p:ext uri="{BB962C8B-B14F-4D97-AF65-F5344CB8AC3E}">
        <p14:creationId xmlns:p14="http://schemas.microsoft.com/office/powerpoint/2010/main" val="3434086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D43E8-B89D-AA61-FCC1-E9CDA13CAC03}"/>
              </a:ext>
            </a:extLst>
          </p:cNvPr>
          <p:cNvSpPr>
            <a:spLocks noGrp="1"/>
          </p:cNvSpPr>
          <p:nvPr>
            <p:ph type="title"/>
          </p:nvPr>
        </p:nvSpPr>
        <p:spPr/>
        <p:txBody>
          <a:bodyPr/>
          <a:lstStyle/>
          <a:p>
            <a:r>
              <a:rPr lang="en-IN" dirty="0"/>
              <a:t>Creating Threads in Java</a:t>
            </a:r>
          </a:p>
        </p:txBody>
      </p:sp>
      <p:sp>
        <p:nvSpPr>
          <p:cNvPr id="3" name="Text Placeholder 2">
            <a:extLst>
              <a:ext uri="{FF2B5EF4-FFF2-40B4-BE49-F238E27FC236}">
                <a16:creationId xmlns:a16="http://schemas.microsoft.com/office/drawing/2014/main" id="{511C39C1-88E6-5DDE-25D0-E68C7A8C5C94}"/>
              </a:ext>
            </a:extLst>
          </p:cNvPr>
          <p:cNvSpPr>
            <a:spLocks noGrp="1"/>
          </p:cNvSpPr>
          <p:nvPr>
            <p:ph type="body" idx="1"/>
          </p:nvPr>
        </p:nvSpPr>
        <p:spPr/>
        <p:txBody>
          <a:bodyPr/>
          <a:lstStyle/>
          <a:p>
            <a:r>
              <a:rPr lang="en-IN" sz="2400" dirty="0">
                <a:latin typeface="Times New Roman" panose="02020603050405020304" pitchFamily="18" charset="0"/>
                <a:cs typeface="Times New Roman" panose="02020603050405020304" pitchFamily="18" charset="0"/>
              </a:rPr>
              <a:t>Three approaches to specify code for execution by a thread.</a:t>
            </a:r>
          </a:p>
          <a:p>
            <a:pPr marL="114300" indent="0">
              <a:buNone/>
            </a:pPr>
            <a:r>
              <a:rPr lang="en-IN" sz="2400" dirty="0">
                <a:latin typeface="Times New Roman" panose="02020603050405020304" pitchFamily="18" charset="0"/>
                <a:cs typeface="Times New Roman" panose="02020603050405020304" pitchFamily="18" charset="0"/>
              </a:rPr>
              <a:t>1. By deriving your class from the thread class</a:t>
            </a:r>
          </a:p>
          <a:p>
            <a:pPr marL="114300" indent="0">
              <a:buNone/>
            </a:pPr>
            <a:r>
              <a:rPr lang="en-IN" sz="2400" dirty="0">
                <a:latin typeface="Times New Roman" panose="02020603050405020304" pitchFamily="18" charset="0"/>
                <a:cs typeface="Times New Roman" panose="02020603050405020304" pitchFamily="18" charset="0"/>
              </a:rPr>
              <a:t>2.By implementing the runnable interface</a:t>
            </a:r>
          </a:p>
          <a:p>
            <a:pPr marL="114300" indent="0">
              <a:buNone/>
            </a:pPr>
            <a:r>
              <a:rPr lang="en-IN" sz="2400" dirty="0">
                <a:latin typeface="Times New Roman" panose="02020603050405020304" pitchFamily="18" charset="0"/>
                <a:cs typeface="Times New Roman" panose="02020603050405020304" pitchFamily="18" charset="0"/>
              </a:rPr>
              <a:t>3.Using lambda expression</a:t>
            </a:r>
          </a:p>
        </p:txBody>
      </p:sp>
    </p:spTree>
    <p:extLst>
      <p:ext uri="{BB962C8B-B14F-4D97-AF65-F5344CB8AC3E}">
        <p14:creationId xmlns:p14="http://schemas.microsoft.com/office/powerpoint/2010/main" val="2533678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5D8F3-CA5A-A177-1C39-141EBC8E3D11}"/>
              </a:ext>
            </a:extLst>
          </p:cNvPr>
          <p:cNvSpPr>
            <a:spLocks noGrp="1"/>
          </p:cNvSpPr>
          <p:nvPr>
            <p:ph type="title"/>
          </p:nvPr>
        </p:nvSpPr>
        <p:spPr>
          <a:xfrm>
            <a:off x="457200" y="731838"/>
            <a:ext cx="8229600" cy="457201"/>
          </a:xfrm>
        </p:spPr>
        <p:txBody>
          <a:bodyPr/>
          <a:lstStyle/>
          <a:p>
            <a:r>
              <a:rPr lang="en-US" dirty="0">
                <a:latin typeface="Arial"/>
                <a:ea typeface="Arial"/>
                <a:cs typeface="Arial"/>
                <a:sym typeface="Arial"/>
              </a:rPr>
              <a:t>Example program by using Thread class</a:t>
            </a:r>
            <a:br>
              <a:rPr lang="en-US" dirty="0"/>
            </a:br>
            <a:endParaRPr lang="en-IN" dirty="0"/>
          </a:p>
        </p:txBody>
      </p:sp>
      <p:sp>
        <p:nvSpPr>
          <p:cNvPr id="3" name="Text Placeholder 2">
            <a:extLst>
              <a:ext uri="{FF2B5EF4-FFF2-40B4-BE49-F238E27FC236}">
                <a16:creationId xmlns:a16="http://schemas.microsoft.com/office/drawing/2014/main" id="{2FA0D8DF-75AA-5F76-434B-AB0FF160D3A1}"/>
              </a:ext>
            </a:extLst>
          </p:cNvPr>
          <p:cNvSpPr>
            <a:spLocks noGrp="1"/>
          </p:cNvSpPr>
          <p:nvPr>
            <p:ph type="body" idx="1"/>
          </p:nvPr>
        </p:nvSpPr>
        <p:spPr/>
        <p:txBody>
          <a:bodyPr/>
          <a:lstStyle/>
          <a:p>
            <a:endParaRPr lang="en-IN" dirty="0"/>
          </a:p>
        </p:txBody>
      </p:sp>
      <p:sp>
        <p:nvSpPr>
          <p:cNvPr id="4" name="TextBox 3">
            <a:extLst>
              <a:ext uri="{FF2B5EF4-FFF2-40B4-BE49-F238E27FC236}">
                <a16:creationId xmlns:a16="http://schemas.microsoft.com/office/drawing/2014/main" id="{C3E78F82-44C2-CDEC-E744-5C0C9B69171F}"/>
              </a:ext>
            </a:extLst>
          </p:cNvPr>
          <p:cNvSpPr txBox="1"/>
          <p:nvPr/>
        </p:nvSpPr>
        <p:spPr>
          <a:xfrm>
            <a:off x="1145309" y="1936028"/>
            <a:ext cx="6336145" cy="4093428"/>
          </a:xfrm>
          <a:prstGeom prst="rect">
            <a:avLst/>
          </a:prstGeom>
          <a:solidFill>
            <a:schemeClr val="tx1"/>
          </a:solidFill>
        </p:spPr>
        <p:txBody>
          <a:bodyPr wrap="square" rtlCol="0">
            <a:spAutoFit/>
          </a:bodyPr>
          <a:lstStyle/>
          <a:p>
            <a:pPr>
              <a:buNone/>
            </a:pPr>
            <a:r>
              <a:rPr lang="en-IN" sz="2000" dirty="0">
                <a:solidFill>
                  <a:srgbClr val="CF8E6D"/>
                </a:solidFill>
                <a:effectLst/>
                <a:latin typeface="JetBrains Mono"/>
              </a:rPr>
              <a:t>class </a:t>
            </a:r>
            <a:r>
              <a:rPr lang="en-IN" sz="2000" dirty="0">
                <a:solidFill>
                  <a:srgbClr val="BCBEC4"/>
                </a:solidFill>
                <a:effectLst/>
                <a:latin typeface="JetBrains Mono"/>
              </a:rPr>
              <a:t>MyThread </a:t>
            </a:r>
            <a:r>
              <a:rPr lang="en-IN" sz="2000" dirty="0">
                <a:solidFill>
                  <a:srgbClr val="CF8E6D"/>
                </a:solidFill>
                <a:effectLst/>
                <a:latin typeface="JetBrains Mono"/>
              </a:rPr>
              <a:t>extends </a:t>
            </a:r>
            <a:r>
              <a:rPr lang="en-IN" sz="2000" dirty="0">
                <a:solidFill>
                  <a:srgbClr val="BCBEC4"/>
                </a:solidFill>
                <a:effectLst/>
                <a:latin typeface="JetBrains Mono"/>
              </a:rPr>
              <a:t>Thread {</a:t>
            </a:r>
            <a:br>
              <a:rPr lang="en-IN" sz="2000" dirty="0">
                <a:solidFill>
                  <a:srgbClr val="BCBEC4"/>
                </a:solidFill>
                <a:effectLst/>
                <a:latin typeface="JetBrains Mono"/>
              </a:rPr>
            </a:br>
            <a:br>
              <a:rPr lang="en-IN" sz="2000" dirty="0">
                <a:solidFill>
                  <a:srgbClr val="BCBEC4"/>
                </a:solidFill>
                <a:effectLst/>
                <a:latin typeface="JetBrains Mono"/>
              </a:rPr>
            </a:br>
            <a:r>
              <a:rPr lang="en-IN" sz="2000" dirty="0">
                <a:solidFill>
                  <a:srgbClr val="BCBEC4"/>
                </a:solidFill>
                <a:effectLst/>
                <a:latin typeface="JetBrains Mono"/>
              </a:rPr>
              <a:t>    </a:t>
            </a:r>
            <a:r>
              <a:rPr lang="en-IN" sz="2000" dirty="0">
                <a:solidFill>
                  <a:srgbClr val="CF8E6D"/>
                </a:solidFill>
                <a:effectLst/>
                <a:latin typeface="JetBrains Mono"/>
              </a:rPr>
              <a:t>public void </a:t>
            </a:r>
            <a:r>
              <a:rPr lang="en-IN" sz="2000" dirty="0">
                <a:solidFill>
                  <a:srgbClr val="56A8F5"/>
                </a:solidFill>
                <a:effectLst/>
                <a:latin typeface="JetBrains Mono"/>
              </a:rPr>
              <a:t>run</a:t>
            </a:r>
            <a:r>
              <a:rPr lang="en-IN" sz="2000" dirty="0">
                <a:solidFill>
                  <a:srgbClr val="BCBEC4"/>
                </a:solidFill>
                <a:effectLst/>
                <a:latin typeface="JetBrains Mono"/>
              </a:rPr>
              <a:t>() {</a:t>
            </a:r>
            <a:br>
              <a:rPr lang="en-IN" sz="2000" dirty="0">
                <a:solidFill>
                  <a:srgbClr val="BCBEC4"/>
                </a:solidFill>
                <a:effectLst/>
                <a:latin typeface="JetBrains Mono"/>
              </a:rPr>
            </a:br>
            <a:r>
              <a:rPr lang="en-IN" sz="2000" dirty="0">
                <a:solidFill>
                  <a:srgbClr val="BCBEC4"/>
                </a:solidFill>
                <a:effectLst/>
                <a:latin typeface="JetBrains Mono"/>
              </a:rPr>
              <a:t>        System.</a:t>
            </a:r>
            <a:r>
              <a:rPr lang="en-IN" sz="2000" i="1" dirty="0">
                <a:solidFill>
                  <a:srgbClr val="C77DBB"/>
                </a:solidFill>
                <a:effectLst/>
                <a:latin typeface="JetBrains Mono"/>
              </a:rPr>
              <a:t>out</a:t>
            </a:r>
            <a:r>
              <a:rPr lang="en-IN" sz="2000" dirty="0">
                <a:solidFill>
                  <a:srgbClr val="BCBEC4"/>
                </a:solidFill>
                <a:effectLst/>
                <a:latin typeface="JetBrains Mono"/>
              </a:rPr>
              <a:t>.println(</a:t>
            </a:r>
            <a:r>
              <a:rPr lang="en-IN" sz="2000" dirty="0">
                <a:solidFill>
                  <a:srgbClr val="6AAB73"/>
                </a:solidFill>
                <a:effectLst/>
                <a:latin typeface="JetBrains Mono"/>
              </a:rPr>
              <a:t>"Thread is running"</a:t>
            </a:r>
            <a:r>
              <a:rPr lang="en-IN" sz="2000" dirty="0">
                <a:solidFill>
                  <a:srgbClr val="BCBEC4"/>
                </a:solidFill>
                <a:effectLst/>
                <a:latin typeface="JetBrains Mono"/>
              </a:rPr>
              <a:t>);</a:t>
            </a:r>
            <a:br>
              <a:rPr lang="en-IN" sz="2000" dirty="0">
                <a:solidFill>
                  <a:srgbClr val="BCBEC4"/>
                </a:solidFill>
                <a:effectLst/>
                <a:latin typeface="JetBrains Mono"/>
              </a:rPr>
            </a:br>
            <a:r>
              <a:rPr lang="en-IN" sz="2000" dirty="0">
                <a:solidFill>
                  <a:srgbClr val="BCBEC4"/>
                </a:solidFill>
                <a:effectLst/>
                <a:latin typeface="JetBrains Mono"/>
              </a:rPr>
              <a:t>    }</a:t>
            </a:r>
            <a:br>
              <a:rPr lang="en-IN" sz="2000" dirty="0">
                <a:solidFill>
                  <a:srgbClr val="BCBEC4"/>
                </a:solidFill>
                <a:effectLst/>
                <a:latin typeface="JetBrains Mono"/>
              </a:rPr>
            </a:br>
            <a:r>
              <a:rPr lang="en-IN" sz="2000" dirty="0">
                <a:solidFill>
                  <a:srgbClr val="BCBEC4"/>
                </a:solidFill>
                <a:effectLst/>
                <a:latin typeface="JetBrains Mono"/>
              </a:rPr>
              <a:t>}</a:t>
            </a:r>
            <a:br>
              <a:rPr lang="en-IN" sz="2000" dirty="0">
                <a:solidFill>
                  <a:srgbClr val="BCBEC4"/>
                </a:solidFill>
                <a:effectLst/>
                <a:latin typeface="JetBrains Mono"/>
              </a:rPr>
            </a:br>
            <a:r>
              <a:rPr lang="en-IN" sz="2000" dirty="0">
                <a:solidFill>
                  <a:srgbClr val="CF8E6D"/>
                </a:solidFill>
                <a:effectLst/>
                <a:latin typeface="JetBrains Mono"/>
              </a:rPr>
              <a:t>public class </a:t>
            </a:r>
            <a:r>
              <a:rPr lang="en-IN" sz="2000" dirty="0">
                <a:solidFill>
                  <a:srgbClr val="BCBEC4"/>
                </a:solidFill>
                <a:effectLst/>
                <a:latin typeface="JetBrains Mono"/>
              </a:rPr>
              <a:t>Main {</a:t>
            </a:r>
            <a:br>
              <a:rPr lang="en-IN" sz="2000" dirty="0">
                <a:solidFill>
                  <a:srgbClr val="BCBEC4"/>
                </a:solidFill>
                <a:effectLst/>
                <a:latin typeface="JetBrains Mono"/>
              </a:rPr>
            </a:br>
            <a:r>
              <a:rPr lang="en-IN" sz="2000" dirty="0">
                <a:solidFill>
                  <a:srgbClr val="BCBEC4"/>
                </a:solidFill>
                <a:effectLst/>
                <a:latin typeface="JetBrains Mono"/>
              </a:rPr>
              <a:t>    </a:t>
            </a:r>
            <a:r>
              <a:rPr lang="en-IN" sz="2000" dirty="0">
                <a:solidFill>
                  <a:srgbClr val="CF8E6D"/>
                </a:solidFill>
                <a:effectLst/>
                <a:latin typeface="JetBrains Mono"/>
              </a:rPr>
              <a:t>public static void </a:t>
            </a:r>
            <a:r>
              <a:rPr lang="en-IN" sz="2000" dirty="0">
                <a:solidFill>
                  <a:srgbClr val="56A8F5"/>
                </a:solidFill>
                <a:effectLst/>
                <a:latin typeface="JetBrains Mono"/>
              </a:rPr>
              <a:t>main</a:t>
            </a:r>
            <a:r>
              <a:rPr lang="en-IN" sz="2000" dirty="0">
                <a:solidFill>
                  <a:srgbClr val="BCBEC4"/>
                </a:solidFill>
                <a:effectLst/>
                <a:latin typeface="JetBrains Mono"/>
              </a:rPr>
              <a:t>(String[] args) {</a:t>
            </a:r>
            <a:br>
              <a:rPr lang="en-IN" sz="2000" dirty="0">
                <a:solidFill>
                  <a:srgbClr val="BCBEC4"/>
                </a:solidFill>
                <a:effectLst/>
                <a:latin typeface="JetBrains Mono"/>
              </a:rPr>
            </a:br>
            <a:r>
              <a:rPr lang="en-IN" sz="2000" dirty="0">
                <a:solidFill>
                  <a:srgbClr val="BCBEC4"/>
                </a:solidFill>
                <a:effectLst/>
                <a:latin typeface="JetBrains Mono"/>
              </a:rPr>
              <a:t>        MyThread t = </a:t>
            </a:r>
            <a:r>
              <a:rPr lang="en-IN" sz="2000" dirty="0">
                <a:solidFill>
                  <a:srgbClr val="CF8E6D"/>
                </a:solidFill>
                <a:effectLst/>
                <a:latin typeface="JetBrains Mono"/>
              </a:rPr>
              <a:t>new </a:t>
            </a:r>
            <a:r>
              <a:rPr lang="en-IN" sz="2000" dirty="0">
                <a:solidFill>
                  <a:srgbClr val="BCBEC4"/>
                </a:solidFill>
                <a:effectLst/>
                <a:latin typeface="JetBrains Mono"/>
              </a:rPr>
              <a:t>MyThread();</a:t>
            </a:r>
            <a:br>
              <a:rPr lang="en-IN" sz="2000" dirty="0">
                <a:solidFill>
                  <a:srgbClr val="BCBEC4"/>
                </a:solidFill>
                <a:effectLst/>
                <a:latin typeface="JetBrains Mono"/>
              </a:rPr>
            </a:br>
            <a:br>
              <a:rPr lang="en-IN" sz="2000" dirty="0">
                <a:solidFill>
                  <a:srgbClr val="BCBEC4"/>
                </a:solidFill>
                <a:effectLst/>
                <a:latin typeface="JetBrains Mono"/>
              </a:rPr>
            </a:br>
            <a:r>
              <a:rPr lang="en-IN" sz="2000" dirty="0">
                <a:solidFill>
                  <a:srgbClr val="BCBEC4"/>
                </a:solidFill>
                <a:effectLst/>
                <a:latin typeface="JetBrains Mono"/>
              </a:rPr>
              <a:t>        t.start();</a:t>
            </a:r>
            <a:br>
              <a:rPr lang="en-IN" sz="2000" dirty="0">
                <a:solidFill>
                  <a:srgbClr val="BCBEC4"/>
                </a:solidFill>
                <a:effectLst/>
                <a:latin typeface="JetBrains Mono"/>
              </a:rPr>
            </a:br>
            <a:r>
              <a:rPr lang="en-IN" sz="2000" dirty="0">
                <a:solidFill>
                  <a:srgbClr val="BCBEC4"/>
                </a:solidFill>
                <a:effectLst/>
                <a:latin typeface="JetBrains Mono"/>
              </a:rPr>
              <a:t>        }</a:t>
            </a:r>
            <a:br>
              <a:rPr lang="en-IN" sz="2000" dirty="0">
                <a:solidFill>
                  <a:srgbClr val="BCBEC4"/>
                </a:solidFill>
                <a:effectLst/>
                <a:latin typeface="JetBrains Mono"/>
              </a:rPr>
            </a:br>
            <a:r>
              <a:rPr lang="en-IN" sz="2000" dirty="0">
                <a:solidFill>
                  <a:srgbClr val="BCBEC4"/>
                </a:solidFill>
                <a:effectLst/>
                <a:latin typeface="JetBrains Mono"/>
              </a:rPr>
              <a:t>    }</a:t>
            </a:r>
          </a:p>
        </p:txBody>
      </p:sp>
    </p:spTree>
    <p:extLst>
      <p:ext uri="{BB962C8B-B14F-4D97-AF65-F5344CB8AC3E}">
        <p14:creationId xmlns:p14="http://schemas.microsoft.com/office/powerpoint/2010/main" val="1597472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0"/>
          <p:cNvSpPr txBox="1"/>
          <p:nvPr/>
        </p:nvSpPr>
        <p:spPr>
          <a:xfrm>
            <a:off x="0" y="44450"/>
            <a:ext cx="184150" cy="368300"/>
          </a:xfrm>
          <a:prstGeom prst="rect">
            <a:avLst/>
          </a:prstGeom>
          <a:solidFill>
            <a:srgbClr val="FFFFFF"/>
          </a:solid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33" name="Google Shape;133;p20"/>
          <p:cNvSpPr txBox="1"/>
          <p:nvPr/>
        </p:nvSpPr>
        <p:spPr>
          <a:xfrm>
            <a:off x="1219200" y="1066800"/>
            <a:ext cx="6172200" cy="3970337"/>
          </a:xfrm>
          <a:prstGeom prst="rect">
            <a:avLst/>
          </a:prstGeom>
          <a:solidFill>
            <a:schemeClr val="tx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dirty="0">
                <a:solidFill>
                  <a:schemeClr val="bg1"/>
                </a:solidFill>
                <a:latin typeface="Arial"/>
                <a:ea typeface="Arial"/>
                <a:cs typeface="Arial"/>
                <a:sym typeface="Arial"/>
              </a:rPr>
              <a:t>public class </a:t>
            </a:r>
            <a:r>
              <a:rPr lang="en-US" sz="1800" b="0" i="0" u="none" dirty="0" err="1">
                <a:solidFill>
                  <a:srgbClr val="FF0000"/>
                </a:solidFill>
                <a:latin typeface="Arial"/>
                <a:ea typeface="Arial"/>
                <a:cs typeface="Arial"/>
                <a:sym typeface="Arial"/>
              </a:rPr>
              <a:t>AnotherThread</a:t>
            </a:r>
            <a:r>
              <a:rPr lang="en-US" sz="1800" b="0" i="0" u="none" dirty="0">
                <a:solidFill>
                  <a:srgbClr val="FF0000"/>
                </a:solidFill>
                <a:latin typeface="Arial"/>
                <a:ea typeface="Arial"/>
                <a:cs typeface="Arial"/>
                <a:sym typeface="Arial"/>
              </a:rPr>
              <a:t> extends Thread</a:t>
            </a:r>
            <a:r>
              <a:rPr lang="en-US" sz="1800" b="0" i="0" u="none" dirty="0">
                <a:solidFill>
                  <a:schemeClr val="bg1"/>
                </a:solidFill>
                <a:latin typeface="Arial"/>
                <a:ea typeface="Arial"/>
                <a:cs typeface="Arial"/>
                <a:sym typeface="Arial"/>
              </a:rPr>
              <a:t>{</a:t>
            </a:r>
            <a:br>
              <a:rPr lang="en-US" sz="1800" b="0" i="0" u="none" dirty="0">
                <a:solidFill>
                  <a:schemeClr val="bg1"/>
                </a:solidFill>
                <a:latin typeface="Arial"/>
                <a:ea typeface="Arial"/>
                <a:cs typeface="Arial"/>
                <a:sym typeface="Arial"/>
              </a:rPr>
            </a:br>
            <a:r>
              <a:rPr lang="en-US" sz="1800" b="0" i="0" u="none" dirty="0">
                <a:solidFill>
                  <a:srgbClr val="92D050"/>
                </a:solidFill>
                <a:latin typeface="Arial"/>
                <a:ea typeface="Arial"/>
                <a:cs typeface="Arial"/>
                <a:sym typeface="Arial"/>
              </a:rPr>
              <a:t>public void run()   </a:t>
            </a:r>
            <a:r>
              <a:rPr lang="en-US" sz="1800" b="0" i="0" u="none" dirty="0">
                <a:solidFill>
                  <a:schemeClr val="bg1"/>
                </a:solidFill>
                <a:latin typeface="Arial"/>
                <a:ea typeface="Arial"/>
                <a:cs typeface="Arial"/>
                <a:sym typeface="Arial"/>
              </a:rPr>
              <a:t>//Overriding run method of Thread class</a:t>
            </a:r>
            <a:br>
              <a:rPr lang="en-US" sz="1800" b="0" i="0" u="none" dirty="0">
                <a:solidFill>
                  <a:schemeClr val="bg1"/>
                </a:solidFill>
                <a:latin typeface="Arial"/>
                <a:ea typeface="Arial"/>
                <a:cs typeface="Arial"/>
                <a:sym typeface="Arial"/>
              </a:rPr>
            </a:br>
            <a:r>
              <a:rPr lang="en-US" sz="1800" b="0" i="0" u="none" dirty="0">
                <a:solidFill>
                  <a:schemeClr val="bg1"/>
                </a:solidFill>
                <a:latin typeface="Arial"/>
                <a:ea typeface="Arial"/>
                <a:cs typeface="Arial"/>
                <a:sym typeface="Arial"/>
              </a:rPr>
              <a:t>{</a:t>
            </a:r>
            <a:br>
              <a:rPr lang="en-US" sz="1800" b="0" i="0" u="none" dirty="0">
                <a:solidFill>
                  <a:schemeClr val="bg1"/>
                </a:solidFill>
                <a:latin typeface="Arial"/>
                <a:ea typeface="Arial"/>
                <a:cs typeface="Arial"/>
                <a:sym typeface="Arial"/>
              </a:rPr>
            </a:br>
            <a:r>
              <a:rPr lang="en-US" sz="1800" b="0" i="0" u="none" dirty="0">
                <a:solidFill>
                  <a:schemeClr val="bg1"/>
                </a:solidFill>
                <a:latin typeface="Arial"/>
                <a:ea typeface="Arial"/>
                <a:cs typeface="Arial"/>
                <a:sym typeface="Arial"/>
              </a:rPr>
              <a:t>    </a:t>
            </a:r>
            <a:r>
              <a:rPr lang="en-US" sz="1800" b="0" i="0" u="none" dirty="0" err="1">
                <a:solidFill>
                  <a:schemeClr val="bg1"/>
                </a:solidFill>
                <a:latin typeface="Arial"/>
                <a:ea typeface="Arial"/>
                <a:cs typeface="Arial"/>
                <a:sym typeface="Arial"/>
              </a:rPr>
              <a:t>System.</a:t>
            </a:r>
            <a:r>
              <a:rPr lang="en-US" sz="1800" b="0" i="1" u="none" dirty="0" err="1">
                <a:solidFill>
                  <a:schemeClr val="bg1"/>
                </a:solidFill>
                <a:latin typeface="Arial"/>
                <a:ea typeface="Arial"/>
                <a:cs typeface="Arial"/>
                <a:sym typeface="Arial"/>
              </a:rPr>
              <a:t>out</a:t>
            </a:r>
            <a:r>
              <a:rPr lang="en-US" sz="1800" b="0" i="0" u="none" dirty="0" err="1">
                <a:solidFill>
                  <a:schemeClr val="bg1"/>
                </a:solidFill>
                <a:latin typeface="Arial"/>
                <a:ea typeface="Arial"/>
                <a:cs typeface="Arial"/>
                <a:sym typeface="Arial"/>
              </a:rPr>
              <a:t>.println</a:t>
            </a:r>
            <a:r>
              <a:rPr lang="en-US" sz="1800" b="0" i="0" u="none" dirty="0">
                <a:solidFill>
                  <a:schemeClr val="bg1"/>
                </a:solidFill>
                <a:latin typeface="Arial"/>
                <a:ea typeface="Arial"/>
                <a:cs typeface="Arial"/>
                <a:sym typeface="Arial"/>
              </a:rPr>
              <a:t>("Hello from another thread");</a:t>
            </a:r>
            <a:br>
              <a:rPr lang="en-US" sz="1800" b="0" i="0" u="none" dirty="0">
                <a:solidFill>
                  <a:schemeClr val="bg1"/>
                </a:solidFill>
                <a:latin typeface="Arial"/>
                <a:ea typeface="Arial"/>
                <a:cs typeface="Arial"/>
                <a:sym typeface="Arial"/>
              </a:rPr>
            </a:br>
            <a:r>
              <a:rPr lang="en-US" sz="1800" b="0" i="0" u="none" dirty="0">
                <a:solidFill>
                  <a:schemeClr val="bg1"/>
                </a:solidFill>
                <a:latin typeface="Arial"/>
                <a:ea typeface="Arial"/>
                <a:cs typeface="Arial"/>
                <a:sym typeface="Arial"/>
              </a:rPr>
              <a:t>}</a:t>
            </a:r>
            <a:br>
              <a:rPr lang="en-US" sz="1800" b="0" i="0" u="none" dirty="0">
                <a:solidFill>
                  <a:schemeClr val="bg1"/>
                </a:solidFill>
                <a:latin typeface="Arial"/>
                <a:ea typeface="Arial"/>
                <a:cs typeface="Arial"/>
                <a:sym typeface="Arial"/>
              </a:rPr>
            </a:br>
            <a:r>
              <a:rPr lang="en-US" sz="1800" b="0" i="0" u="none" dirty="0">
                <a:solidFill>
                  <a:schemeClr val="bg1"/>
                </a:solidFill>
                <a:latin typeface="Arial"/>
                <a:ea typeface="Arial"/>
                <a:cs typeface="Arial"/>
                <a:sym typeface="Arial"/>
              </a:rPr>
              <a:t>}</a:t>
            </a:r>
            <a:endParaRPr dirty="0">
              <a:solidFill>
                <a:schemeClr val="bg1"/>
              </a:solidFill>
            </a:endParaRPr>
          </a:p>
          <a:p>
            <a:pPr marL="0" marR="0" lvl="0" indent="0" algn="l" rtl="0">
              <a:lnSpc>
                <a:spcPct val="100000"/>
              </a:lnSpc>
              <a:spcBef>
                <a:spcPts val="0"/>
              </a:spcBef>
              <a:spcAft>
                <a:spcPts val="0"/>
              </a:spcAft>
              <a:buClr>
                <a:schemeClr val="dk1"/>
              </a:buClr>
              <a:buSzPts val="1800"/>
              <a:buFont typeface="Arial"/>
              <a:buNone/>
            </a:pPr>
            <a:r>
              <a:rPr lang="en-US" sz="1800" b="0" i="0" u="none" dirty="0">
                <a:solidFill>
                  <a:schemeClr val="bg1"/>
                </a:solidFill>
                <a:latin typeface="Arial"/>
                <a:ea typeface="Arial"/>
                <a:cs typeface="Arial"/>
                <a:sym typeface="Arial"/>
              </a:rPr>
              <a:t>public class Main {</a:t>
            </a:r>
            <a:br>
              <a:rPr lang="en-US" sz="1800" b="0" i="0" u="none" dirty="0">
                <a:solidFill>
                  <a:schemeClr val="bg1"/>
                </a:solidFill>
                <a:latin typeface="Arial"/>
                <a:ea typeface="Arial"/>
                <a:cs typeface="Arial"/>
                <a:sym typeface="Arial"/>
              </a:rPr>
            </a:br>
            <a:r>
              <a:rPr lang="en-US" sz="1800" b="0" i="0" u="none" dirty="0">
                <a:solidFill>
                  <a:schemeClr val="bg1"/>
                </a:solidFill>
                <a:latin typeface="Arial"/>
                <a:ea typeface="Arial"/>
                <a:cs typeface="Arial"/>
                <a:sym typeface="Arial"/>
              </a:rPr>
              <a:t>    public static void main(String[] </a:t>
            </a:r>
            <a:r>
              <a:rPr lang="en-US" sz="1800" b="0" i="0" u="none" dirty="0" err="1">
                <a:solidFill>
                  <a:schemeClr val="bg1"/>
                </a:solidFill>
                <a:latin typeface="Arial"/>
                <a:ea typeface="Arial"/>
                <a:cs typeface="Arial"/>
                <a:sym typeface="Arial"/>
              </a:rPr>
              <a:t>args</a:t>
            </a:r>
            <a:r>
              <a:rPr lang="en-US" sz="1800" b="0" i="0" u="none" dirty="0">
                <a:solidFill>
                  <a:schemeClr val="bg1"/>
                </a:solidFill>
                <a:latin typeface="Arial"/>
                <a:ea typeface="Arial"/>
                <a:cs typeface="Arial"/>
                <a:sym typeface="Arial"/>
              </a:rPr>
              <a:t>) {</a:t>
            </a:r>
            <a:br>
              <a:rPr lang="en-US" sz="1800" b="0" i="0" u="none" dirty="0">
                <a:solidFill>
                  <a:schemeClr val="bg1"/>
                </a:solidFill>
                <a:latin typeface="Arial"/>
                <a:ea typeface="Arial"/>
                <a:cs typeface="Arial"/>
                <a:sym typeface="Arial"/>
              </a:rPr>
            </a:br>
            <a:r>
              <a:rPr lang="en-US" sz="1800" b="0" i="0" u="none" dirty="0">
                <a:solidFill>
                  <a:schemeClr val="bg1"/>
                </a:solidFill>
                <a:latin typeface="Arial"/>
                <a:ea typeface="Arial"/>
                <a:cs typeface="Arial"/>
                <a:sym typeface="Arial"/>
              </a:rPr>
              <a:t>       </a:t>
            </a:r>
            <a:r>
              <a:rPr lang="en-US" sz="1800" b="0" i="0" u="none" dirty="0" err="1">
                <a:solidFill>
                  <a:schemeClr val="bg1"/>
                </a:solidFill>
                <a:latin typeface="Arial"/>
                <a:ea typeface="Arial"/>
                <a:cs typeface="Arial"/>
                <a:sym typeface="Arial"/>
              </a:rPr>
              <a:t>System.</a:t>
            </a:r>
            <a:r>
              <a:rPr lang="en-US" sz="1800" b="0" i="1" u="none" dirty="0" err="1">
                <a:solidFill>
                  <a:schemeClr val="bg1"/>
                </a:solidFill>
                <a:latin typeface="Arial"/>
                <a:ea typeface="Arial"/>
                <a:cs typeface="Arial"/>
                <a:sym typeface="Arial"/>
              </a:rPr>
              <a:t>out</a:t>
            </a:r>
            <a:r>
              <a:rPr lang="en-US" sz="1800" b="0" i="0" u="none" dirty="0" err="1">
                <a:solidFill>
                  <a:schemeClr val="bg1"/>
                </a:solidFill>
                <a:latin typeface="Arial"/>
                <a:ea typeface="Arial"/>
                <a:cs typeface="Arial"/>
                <a:sym typeface="Arial"/>
              </a:rPr>
              <a:t>.println</a:t>
            </a:r>
            <a:r>
              <a:rPr lang="en-US" sz="1800" b="0" i="0" u="none" dirty="0">
                <a:solidFill>
                  <a:schemeClr val="bg1"/>
                </a:solidFill>
                <a:latin typeface="Arial"/>
                <a:ea typeface="Arial"/>
                <a:cs typeface="Arial"/>
                <a:sym typeface="Arial"/>
              </a:rPr>
              <a:t>("Hello from main thread");</a:t>
            </a:r>
            <a:br>
              <a:rPr lang="en-US" sz="1800" b="0" i="0" u="none" dirty="0">
                <a:solidFill>
                  <a:schemeClr val="bg1"/>
                </a:solidFill>
                <a:latin typeface="Arial"/>
                <a:ea typeface="Arial"/>
                <a:cs typeface="Arial"/>
                <a:sym typeface="Arial"/>
              </a:rPr>
            </a:br>
            <a:r>
              <a:rPr lang="en-US" sz="1800" b="0" i="0" u="none" dirty="0">
                <a:solidFill>
                  <a:schemeClr val="bg1"/>
                </a:solidFill>
                <a:latin typeface="Arial"/>
                <a:ea typeface="Arial"/>
                <a:cs typeface="Arial"/>
                <a:sym typeface="Arial"/>
              </a:rPr>
              <a:t>        </a:t>
            </a:r>
            <a:r>
              <a:rPr lang="en-US" sz="1800" b="0" i="0" u="none" dirty="0">
                <a:solidFill>
                  <a:srgbClr val="92D050"/>
                </a:solidFill>
                <a:latin typeface="Arial"/>
                <a:ea typeface="Arial"/>
                <a:cs typeface="Arial"/>
                <a:sym typeface="Arial"/>
              </a:rPr>
              <a:t>Thread </a:t>
            </a:r>
            <a:r>
              <a:rPr lang="en-US" sz="1800" b="0" i="0" u="none" dirty="0" err="1">
                <a:solidFill>
                  <a:srgbClr val="92D050"/>
                </a:solidFill>
                <a:latin typeface="Arial"/>
                <a:ea typeface="Arial"/>
                <a:cs typeface="Arial"/>
                <a:sym typeface="Arial"/>
              </a:rPr>
              <a:t>anotherThread</a:t>
            </a:r>
            <a:r>
              <a:rPr lang="en-US" sz="1800" b="0" i="0" u="none" dirty="0">
                <a:solidFill>
                  <a:srgbClr val="92D050"/>
                </a:solidFill>
                <a:latin typeface="Arial"/>
                <a:ea typeface="Arial"/>
                <a:cs typeface="Arial"/>
                <a:sym typeface="Arial"/>
              </a:rPr>
              <a:t> = new </a:t>
            </a:r>
            <a:r>
              <a:rPr lang="en-US" sz="1800" b="0" i="0" u="none" dirty="0" err="1">
                <a:solidFill>
                  <a:srgbClr val="92D050"/>
                </a:solidFill>
                <a:latin typeface="Arial"/>
                <a:ea typeface="Arial"/>
                <a:cs typeface="Arial"/>
                <a:sym typeface="Arial"/>
              </a:rPr>
              <a:t>AnotherThread</a:t>
            </a:r>
            <a:r>
              <a:rPr lang="en-US" sz="1800" b="0" i="0" u="none" dirty="0">
                <a:solidFill>
                  <a:srgbClr val="92D050"/>
                </a:solidFill>
                <a:latin typeface="Arial"/>
                <a:ea typeface="Arial"/>
                <a:cs typeface="Arial"/>
                <a:sym typeface="Arial"/>
              </a:rPr>
              <a:t>();</a:t>
            </a:r>
            <a:br>
              <a:rPr lang="en-US" sz="1800" b="0" i="0" u="none" dirty="0">
                <a:solidFill>
                  <a:srgbClr val="92D050"/>
                </a:solidFill>
                <a:latin typeface="Arial"/>
                <a:ea typeface="Arial"/>
                <a:cs typeface="Arial"/>
                <a:sym typeface="Arial"/>
              </a:rPr>
            </a:br>
            <a:r>
              <a:rPr lang="en-US" sz="1800" b="0" i="0" u="none" dirty="0">
                <a:solidFill>
                  <a:schemeClr val="bg1"/>
                </a:solidFill>
                <a:latin typeface="Arial"/>
                <a:ea typeface="Arial"/>
                <a:cs typeface="Arial"/>
                <a:sym typeface="Arial"/>
              </a:rPr>
              <a:t>        </a:t>
            </a:r>
            <a:r>
              <a:rPr lang="en-US" sz="1800" b="0" i="0" u="none" dirty="0" err="1">
                <a:solidFill>
                  <a:srgbClr val="00B0F0"/>
                </a:solidFill>
                <a:latin typeface="Arial"/>
                <a:ea typeface="Arial"/>
                <a:cs typeface="Arial"/>
                <a:sym typeface="Arial"/>
              </a:rPr>
              <a:t>anotherThread.start</a:t>
            </a:r>
            <a:r>
              <a:rPr lang="en-US" sz="1800" b="0" i="0" u="none" dirty="0">
                <a:solidFill>
                  <a:srgbClr val="00B0F0"/>
                </a:solidFill>
                <a:latin typeface="Arial"/>
                <a:ea typeface="Arial"/>
                <a:cs typeface="Arial"/>
                <a:sym typeface="Arial"/>
              </a:rPr>
              <a:t>();   </a:t>
            </a:r>
            <a:r>
              <a:rPr lang="en-US" sz="1800" b="0" i="0" u="none" dirty="0">
                <a:solidFill>
                  <a:schemeClr val="bg1"/>
                </a:solidFill>
                <a:latin typeface="Arial"/>
                <a:ea typeface="Arial"/>
                <a:cs typeface="Arial"/>
                <a:sym typeface="Arial"/>
              </a:rPr>
              <a:t>//To invoke run method</a:t>
            </a:r>
            <a:br>
              <a:rPr lang="en-US" sz="1800" b="0" i="0" u="none" dirty="0">
                <a:solidFill>
                  <a:schemeClr val="bg1"/>
                </a:solidFill>
                <a:latin typeface="Arial"/>
                <a:ea typeface="Arial"/>
                <a:cs typeface="Arial"/>
                <a:sym typeface="Arial"/>
              </a:rPr>
            </a:br>
            <a:r>
              <a:rPr lang="en-US" sz="1800" b="0" i="0" u="none" dirty="0">
                <a:solidFill>
                  <a:schemeClr val="bg1"/>
                </a:solidFill>
                <a:latin typeface="Arial"/>
                <a:ea typeface="Arial"/>
                <a:cs typeface="Arial"/>
                <a:sym typeface="Arial"/>
              </a:rPr>
              <a:t>        </a:t>
            </a:r>
            <a:r>
              <a:rPr lang="en-US" sz="1800" b="0" i="0" u="none" dirty="0" err="1">
                <a:solidFill>
                  <a:schemeClr val="bg1"/>
                </a:solidFill>
                <a:latin typeface="Arial"/>
                <a:ea typeface="Arial"/>
                <a:cs typeface="Arial"/>
                <a:sym typeface="Arial"/>
              </a:rPr>
              <a:t>System.</a:t>
            </a:r>
            <a:r>
              <a:rPr lang="en-US" sz="1800" b="0" i="1" u="none" dirty="0" err="1">
                <a:solidFill>
                  <a:schemeClr val="bg1"/>
                </a:solidFill>
                <a:latin typeface="Arial"/>
                <a:ea typeface="Arial"/>
                <a:cs typeface="Arial"/>
                <a:sym typeface="Arial"/>
              </a:rPr>
              <a:t>out</a:t>
            </a:r>
            <a:r>
              <a:rPr lang="en-US" sz="1800" b="0" i="0" u="none" dirty="0" err="1">
                <a:solidFill>
                  <a:schemeClr val="bg1"/>
                </a:solidFill>
                <a:latin typeface="Arial"/>
                <a:ea typeface="Arial"/>
                <a:cs typeface="Arial"/>
                <a:sym typeface="Arial"/>
              </a:rPr>
              <a:t>.println</a:t>
            </a:r>
            <a:r>
              <a:rPr lang="en-US" sz="1800" b="0" i="0" u="none" dirty="0">
                <a:solidFill>
                  <a:schemeClr val="bg1"/>
                </a:solidFill>
                <a:latin typeface="Arial"/>
                <a:ea typeface="Arial"/>
                <a:cs typeface="Arial"/>
                <a:sym typeface="Arial"/>
              </a:rPr>
              <a:t>("Hello from main again");</a:t>
            </a:r>
            <a:br>
              <a:rPr lang="en-US" sz="1800" b="0" i="0" u="none" dirty="0">
                <a:solidFill>
                  <a:schemeClr val="bg1"/>
                </a:solidFill>
                <a:latin typeface="Arial"/>
                <a:ea typeface="Arial"/>
                <a:cs typeface="Arial"/>
                <a:sym typeface="Arial"/>
              </a:rPr>
            </a:br>
            <a:r>
              <a:rPr lang="en-US" sz="1800" b="0" i="0" u="none" dirty="0">
                <a:solidFill>
                  <a:schemeClr val="bg1"/>
                </a:solidFill>
                <a:latin typeface="Arial"/>
                <a:ea typeface="Arial"/>
                <a:cs typeface="Arial"/>
                <a:sym typeface="Arial"/>
              </a:rPr>
              <a:t>    }</a:t>
            </a:r>
            <a:br>
              <a:rPr lang="en-US" sz="1800" b="0" i="0" u="none" dirty="0">
                <a:solidFill>
                  <a:schemeClr val="bg1"/>
                </a:solidFill>
                <a:latin typeface="Arial"/>
                <a:ea typeface="Arial"/>
                <a:cs typeface="Arial"/>
                <a:sym typeface="Arial"/>
              </a:rPr>
            </a:br>
            <a:r>
              <a:rPr lang="en-US" sz="1800" b="0" i="0" u="none" dirty="0">
                <a:solidFill>
                  <a:schemeClr val="bg1"/>
                </a:solidFill>
                <a:latin typeface="Arial"/>
                <a:ea typeface="Arial"/>
                <a:cs typeface="Arial"/>
                <a:sym typeface="Arial"/>
              </a:rPr>
              <a:t>}</a:t>
            </a:r>
            <a:endParaRPr dirty="0">
              <a:solidFill>
                <a:schemeClr val="bg1"/>
              </a:solidFill>
            </a:endParaRPr>
          </a:p>
        </p:txBody>
      </p:sp>
      <p:sp>
        <p:nvSpPr>
          <p:cNvPr id="134" name="Google Shape;134;p20"/>
          <p:cNvSpPr txBox="1"/>
          <p:nvPr/>
        </p:nvSpPr>
        <p:spPr>
          <a:xfrm>
            <a:off x="1219200" y="457200"/>
            <a:ext cx="6858000" cy="381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Example program by using Thread class</a:t>
            </a:r>
            <a:endParaRPr dirty="0"/>
          </a:p>
        </p:txBody>
      </p:sp>
      <p:sp>
        <p:nvSpPr>
          <p:cNvPr id="135" name="Google Shape;135;p20"/>
          <p:cNvSpPr txBox="1"/>
          <p:nvPr/>
        </p:nvSpPr>
        <p:spPr>
          <a:xfrm>
            <a:off x="1219200" y="5181600"/>
            <a:ext cx="2590800" cy="6461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Output:</a:t>
            </a:r>
            <a:endParaRPr/>
          </a:p>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136" name="Google Shape;136;p20"/>
          <p:cNvPicPr preferRelativeResize="0"/>
          <p:nvPr/>
        </p:nvPicPr>
        <p:blipFill rotWithShape="1">
          <a:blip r:embed="rId3">
            <a:alphaModFix/>
          </a:blip>
          <a:srcRect/>
          <a:stretch/>
        </p:blipFill>
        <p:spPr>
          <a:xfrm>
            <a:off x="1219200" y="5486400"/>
            <a:ext cx="2676525" cy="904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1"/>
          <p:cNvSpPr txBox="1"/>
          <p:nvPr/>
        </p:nvSpPr>
        <p:spPr>
          <a:xfrm>
            <a:off x="762000" y="838200"/>
            <a:ext cx="8001000" cy="923925"/>
          </a:xfrm>
          <a:prstGeom prst="rect">
            <a:avLst/>
          </a:prstGeom>
          <a:no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chemeClr val="dk1"/>
              </a:buClr>
              <a:buSzPts val="1800"/>
            </a:pPr>
            <a:r>
              <a:rPr lang="en-US" sz="1800" b="0" i="0" u="none" dirty="0">
                <a:solidFill>
                  <a:schemeClr val="dk1"/>
                </a:solidFill>
                <a:latin typeface="Times New Roman" panose="02020603050405020304" pitchFamily="18" charset="0"/>
                <a:cs typeface="Times New Roman" panose="02020603050405020304" pitchFamily="18" charset="0"/>
                <a:sym typeface="Arial"/>
              </a:rPr>
              <a:t>The order of execution of thread depends on the JVM and OS.</a:t>
            </a:r>
            <a:endParaRPr dirty="0">
              <a:latin typeface="Times New Roman" panose="02020603050405020304" pitchFamily="18" charset="0"/>
              <a:cs typeface="Times New Roman" panose="02020603050405020304" pitchFamily="18" charset="0"/>
            </a:endParaRPr>
          </a:p>
          <a:p>
            <a:pPr marR="0" lvl="0" algn="l" rtl="0">
              <a:lnSpc>
                <a:spcPct val="100000"/>
              </a:lnSpc>
              <a:spcBef>
                <a:spcPts val="0"/>
              </a:spcBef>
              <a:spcAft>
                <a:spcPts val="0"/>
              </a:spcAft>
              <a:buClr>
                <a:schemeClr val="dk1"/>
              </a:buClr>
              <a:buSzPts val="1800"/>
            </a:pPr>
            <a:endParaRPr sz="1800" b="0" i="0" u="none" dirty="0">
              <a:solidFill>
                <a:schemeClr val="dk1"/>
              </a:solidFill>
              <a:latin typeface="Times New Roman" panose="02020603050405020304" pitchFamily="18" charset="0"/>
              <a:cs typeface="Times New Roman" panose="02020603050405020304" pitchFamily="18" charset="0"/>
              <a:sym typeface="Arial"/>
            </a:endParaRPr>
          </a:p>
          <a:p>
            <a:pPr marR="0" lvl="0" algn="l" rtl="0">
              <a:lnSpc>
                <a:spcPct val="100000"/>
              </a:lnSpc>
              <a:spcBef>
                <a:spcPts val="0"/>
              </a:spcBef>
              <a:spcAft>
                <a:spcPts val="0"/>
              </a:spcAft>
              <a:buClr>
                <a:schemeClr val="dk1"/>
              </a:buClr>
              <a:buSzPts val="1800"/>
            </a:pPr>
            <a:r>
              <a:rPr lang="en-US" sz="1800" b="0" i="0" u="none" dirty="0">
                <a:solidFill>
                  <a:schemeClr val="dk1"/>
                </a:solidFill>
                <a:latin typeface="Times New Roman" panose="02020603050405020304" pitchFamily="18" charset="0"/>
                <a:cs typeface="Times New Roman" panose="02020603050405020304" pitchFamily="18" charset="0"/>
                <a:sym typeface="Arial"/>
              </a:rPr>
              <a:t>Each execution may produce different order of the result.</a:t>
            </a:r>
            <a:endParaRPr dirty="0">
              <a:latin typeface="Times New Roman" panose="02020603050405020304" pitchFamily="18" charset="0"/>
              <a:cs typeface="Times New Roman" panose="02020603050405020304" pitchFamily="18" charset="0"/>
            </a:endParaRPr>
          </a:p>
        </p:txBody>
      </p:sp>
      <p:sp>
        <p:nvSpPr>
          <p:cNvPr id="3" name="Google Shape;148;p22">
            <a:extLst>
              <a:ext uri="{FF2B5EF4-FFF2-40B4-BE49-F238E27FC236}">
                <a16:creationId xmlns:a16="http://schemas.microsoft.com/office/drawing/2014/main" id="{82AB7833-97A4-EFFB-4646-1D930E6E7DCE}"/>
              </a:ext>
            </a:extLst>
          </p:cNvPr>
          <p:cNvSpPr txBox="1"/>
          <p:nvPr/>
        </p:nvSpPr>
        <p:spPr>
          <a:xfrm>
            <a:off x="762000" y="2286000"/>
            <a:ext cx="7620000" cy="1754286"/>
          </a:xfrm>
          <a:prstGeom prst="rect">
            <a:avLst/>
          </a:prstGeom>
          <a:solidFill>
            <a:schemeClr val="accent6">
              <a:lumMod val="20000"/>
              <a:lumOff val="80000"/>
            </a:scheme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1" i="0" u="none" dirty="0">
                <a:solidFill>
                  <a:schemeClr val="dk1"/>
                </a:solidFill>
                <a:latin typeface="Arial"/>
                <a:ea typeface="Arial"/>
                <a:cs typeface="Arial"/>
                <a:sym typeface="Arial"/>
              </a:rPr>
              <a:t>Main Thread:</a:t>
            </a:r>
            <a:endParaRPr dirty="0"/>
          </a:p>
          <a:p>
            <a:pPr marL="0" marR="0" lvl="0" indent="-114300" algn="l" rtl="0">
              <a:lnSpc>
                <a:spcPct val="100000"/>
              </a:lnSpc>
              <a:spcBef>
                <a:spcPts val="0"/>
              </a:spcBef>
              <a:spcAft>
                <a:spcPts val="0"/>
              </a:spcAft>
              <a:buClr>
                <a:schemeClr val="dk1"/>
              </a:buClr>
              <a:buSzPts val="1800"/>
              <a:buFont typeface="Arial"/>
              <a:buChar char="•"/>
            </a:pPr>
            <a:r>
              <a:rPr lang="en-US" sz="1800" b="0" i="0" u="none" dirty="0">
                <a:solidFill>
                  <a:schemeClr val="dk1"/>
                </a:solidFill>
                <a:latin typeface="Times New Roman" panose="02020603050405020304" pitchFamily="18" charset="0"/>
                <a:cs typeface="Times New Roman" panose="02020603050405020304" pitchFamily="18" charset="0"/>
                <a:sym typeface="Arial"/>
              </a:rPr>
              <a:t>It is the thread from where other “child” thread are spawned</a:t>
            </a:r>
            <a:endParaRPr dirty="0">
              <a:latin typeface="Times New Roman" panose="02020603050405020304" pitchFamily="18" charset="0"/>
              <a:cs typeface="Times New Roman" panose="02020603050405020304" pitchFamily="18" charset="0"/>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dirty="0">
                <a:solidFill>
                  <a:schemeClr val="dk1"/>
                </a:solidFill>
                <a:latin typeface="Times New Roman" panose="02020603050405020304" pitchFamily="18" charset="0"/>
                <a:cs typeface="Times New Roman" panose="02020603050405020304" pitchFamily="18" charset="0"/>
                <a:sym typeface="Arial"/>
              </a:rPr>
              <a:t>It must be the last thread to finish execution.</a:t>
            </a:r>
            <a:endParaRPr dirty="0">
              <a:latin typeface="Times New Roman" panose="02020603050405020304" pitchFamily="18" charset="0"/>
              <a:cs typeface="Times New Roman" panose="02020603050405020304" pitchFamily="18" charset="0"/>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dirty="0">
                <a:solidFill>
                  <a:schemeClr val="dk1"/>
                </a:solidFill>
                <a:latin typeface="Times New Roman" panose="02020603050405020304" pitchFamily="18" charset="0"/>
                <a:cs typeface="Times New Roman" panose="02020603050405020304" pitchFamily="18" charset="0"/>
                <a:sym typeface="Arial"/>
              </a:rPr>
              <a:t>When the main thread stops, the program terminates.</a:t>
            </a:r>
            <a:endParaRPr dirty="0">
              <a:latin typeface="Times New Roman" panose="02020603050405020304" pitchFamily="18" charset="0"/>
              <a:cs typeface="Times New Roman" panose="02020603050405020304" pitchFamily="18" charset="0"/>
            </a:endParaRPr>
          </a:p>
          <a:p>
            <a:pPr marL="0" marR="0" lvl="0" indent="-114300" algn="l" rtl="0">
              <a:lnSpc>
                <a:spcPct val="100000"/>
              </a:lnSpc>
              <a:spcBef>
                <a:spcPts val="0"/>
              </a:spcBef>
              <a:spcAft>
                <a:spcPts val="0"/>
              </a:spcAft>
              <a:buClr>
                <a:schemeClr val="dk1"/>
              </a:buClr>
              <a:buSzPts val="1800"/>
              <a:buFont typeface="Arial"/>
              <a:buChar char="•"/>
            </a:pPr>
            <a:r>
              <a:rPr lang="en-US" sz="1800" b="0" i="0" u="none" dirty="0">
                <a:solidFill>
                  <a:schemeClr val="dk1"/>
                </a:solidFill>
                <a:latin typeface="Times New Roman" panose="02020603050405020304" pitchFamily="18" charset="0"/>
                <a:cs typeface="Times New Roman" panose="02020603050405020304" pitchFamily="18" charset="0"/>
                <a:sym typeface="Arial"/>
              </a:rPr>
              <a:t>Main thread can also be controlled using a Thread object</a:t>
            </a:r>
            <a:endParaRPr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4"/>
          <p:cNvSpPr txBox="1"/>
          <p:nvPr/>
        </p:nvSpPr>
        <p:spPr>
          <a:xfrm>
            <a:off x="1371600" y="381000"/>
            <a:ext cx="57912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Creating thread by implementing Runnable interface</a:t>
            </a:r>
            <a:endParaRPr/>
          </a:p>
        </p:txBody>
      </p:sp>
      <p:sp>
        <p:nvSpPr>
          <p:cNvPr id="159" name="Google Shape;159;p24"/>
          <p:cNvSpPr txBox="1"/>
          <p:nvPr/>
        </p:nvSpPr>
        <p:spPr>
          <a:xfrm>
            <a:off x="1300018" y="1056409"/>
            <a:ext cx="6934200" cy="5078273"/>
          </a:xfrm>
          <a:prstGeom prst="rect">
            <a:avLst/>
          </a:prstGeom>
          <a:solidFill>
            <a:schemeClr val="tx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dirty="0">
                <a:solidFill>
                  <a:schemeClr val="bg1"/>
                </a:solidFill>
                <a:latin typeface="Consolas" panose="020B0609020204030204" pitchFamily="49" charset="0"/>
                <a:sym typeface="Arial"/>
              </a:rPr>
              <a:t>public </a:t>
            </a:r>
            <a:r>
              <a:rPr lang="en-US" sz="1800" b="0" i="0" u="none" dirty="0">
                <a:solidFill>
                  <a:srgbClr val="FF0000"/>
                </a:solidFill>
                <a:latin typeface="Consolas" panose="020B0609020204030204" pitchFamily="49" charset="0"/>
                <a:sym typeface="Arial"/>
              </a:rPr>
              <a:t>class </a:t>
            </a:r>
            <a:r>
              <a:rPr lang="en-US" sz="1800" b="0" i="0" u="none" dirty="0" err="1">
                <a:solidFill>
                  <a:srgbClr val="FF0000"/>
                </a:solidFill>
                <a:latin typeface="Consolas" panose="020B0609020204030204" pitchFamily="49" charset="0"/>
                <a:sym typeface="Arial"/>
              </a:rPr>
              <a:t>MyRunnable</a:t>
            </a:r>
            <a:r>
              <a:rPr lang="en-US" sz="1800" b="0" i="0" u="none" dirty="0">
                <a:solidFill>
                  <a:srgbClr val="FF0000"/>
                </a:solidFill>
                <a:latin typeface="Consolas" panose="020B0609020204030204" pitchFamily="49" charset="0"/>
                <a:sym typeface="Arial"/>
              </a:rPr>
              <a:t> </a:t>
            </a:r>
            <a:r>
              <a:rPr lang="en-US" sz="1800" b="0" i="0" u="none" dirty="0">
                <a:solidFill>
                  <a:schemeClr val="bg2">
                    <a:lumMod val="60000"/>
                    <a:lumOff val="40000"/>
                  </a:schemeClr>
                </a:solidFill>
                <a:latin typeface="Consolas" panose="020B0609020204030204" pitchFamily="49" charset="0"/>
                <a:sym typeface="Arial"/>
              </a:rPr>
              <a:t>implements Runnable</a:t>
            </a:r>
            <a:r>
              <a:rPr lang="en-US" sz="1800" b="0" i="0" u="none" dirty="0">
                <a:solidFill>
                  <a:schemeClr val="bg1"/>
                </a:solidFill>
                <a:latin typeface="Consolas" panose="020B0609020204030204" pitchFamily="49" charset="0"/>
                <a:sym typeface="Arial"/>
              </a:rPr>
              <a:t>{</a:t>
            </a:r>
            <a:br>
              <a:rPr lang="en-US" sz="1800" b="0" i="0" u="none" dirty="0">
                <a:solidFill>
                  <a:schemeClr val="bg1"/>
                </a:solidFill>
                <a:latin typeface="Consolas" panose="020B0609020204030204" pitchFamily="49" charset="0"/>
                <a:sym typeface="Arial"/>
              </a:rPr>
            </a:br>
            <a:r>
              <a:rPr lang="en-US" sz="1800" b="0" i="0" u="none" dirty="0">
                <a:solidFill>
                  <a:schemeClr val="bg1"/>
                </a:solidFill>
                <a:latin typeface="Consolas" panose="020B0609020204030204" pitchFamily="49" charset="0"/>
                <a:sym typeface="Arial"/>
              </a:rPr>
              <a:t>    </a:t>
            </a:r>
            <a:r>
              <a:rPr lang="en-US" sz="1800" b="0" i="0" u="none" dirty="0">
                <a:solidFill>
                  <a:schemeClr val="bg2"/>
                </a:solidFill>
                <a:latin typeface="Consolas" panose="020B0609020204030204" pitchFamily="49" charset="0"/>
                <a:sym typeface="Arial"/>
              </a:rPr>
              <a:t>@Override</a:t>
            </a:r>
            <a:br>
              <a:rPr lang="en-US" sz="1800" b="0" i="0" u="none" dirty="0">
                <a:solidFill>
                  <a:schemeClr val="bg1"/>
                </a:solidFill>
                <a:latin typeface="Consolas" panose="020B0609020204030204" pitchFamily="49" charset="0"/>
                <a:sym typeface="Arial"/>
              </a:rPr>
            </a:br>
            <a:r>
              <a:rPr lang="en-US" sz="1800" b="0" i="0" u="none" dirty="0">
                <a:solidFill>
                  <a:srgbClr val="00B050"/>
                </a:solidFill>
                <a:latin typeface="Consolas" panose="020B0609020204030204" pitchFamily="49" charset="0"/>
                <a:sym typeface="Arial"/>
              </a:rPr>
              <a:t>    public void run()</a:t>
            </a:r>
            <a:br>
              <a:rPr lang="en-US" sz="1800" b="0" i="0" u="none" dirty="0">
                <a:solidFill>
                  <a:schemeClr val="bg1"/>
                </a:solidFill>
                <a:latin typeface="Consolas" panose="020B0609020204030204" pitchFamily="49" charset="0"/>
                <a:sym typeface="Arial"/>
              </a:rPr>
            </a:br>
            <a:r>
              <a:rPr lang="en-US" sz="1800" b="0" i="0" u="none" dirty="0">
                <a:solidFill>
                  <a:schemeClr val="bg1"/>
                </a:solidFill>
                <a:latin typeface="Consolas" panose="020B0609020204030204" pitchFamily="49" charset="0"/>
                <a:sym typeface="Arial"/>
              </a:rPr>
              <a:t>    {</a:t>
            </a:r>
            <a:br>
              <a:rPr lang="en-US" sz="1800" b="0" i="0" u="none" dirty="0">
                <a:solidFill>
                  <a:schemeClr val="bg1"/>
                </a:solidFill>
                <a:latin typeface="Consolas" panose="020B0609020204030204" pitchFamily="49" charset="0"/>
                <a:sym typeface="Arial"/>
              </a:rPr>
            </a:br>
            <a:r>
              <a:rPr lang="en-US" sz="1800" b="0" i="0" u="none" dirty="0">
                <a:solidFill>
                  <a:schemeClr val="bg1"/>
                </a:solidFill>
                <a:latin typeface="Consolas" panose="020B0609020204030204" pitchFamily="49" charset="0"/>
                <a:sym typeface="Arial"/>
              </a:rPr>
              <a:t>        </a:t>
            </a:r>
            <a:r>
              <a:rPr lang="en-US" sz="1800" b="0" i="0" u="none" dirty="0" err="1">
                <a:solidFill>
                  <a:schemeClr val="bg1"/>
                </a:solidFill>
                <a:latin typeface="Consolas" panose="020B0609020204030204" pitchFamily="49" charset="0"/>
                <a:sym typeface="Arial"/>
              </a:rPr>
              <a:t>System.</a:t>
            </a:r>
            <a:r>
              <a:rPr lang="en-US" sz="1800" b="0" i="1" u="none" dirty="0" err="1">
                <a:solidFill>
                  <a:schemeClr val="bg1"/>
                </a:solidFill>
                <a:latin typeface="Consolas" panose="020B0609020204030204" pitchFamily="49" charset="0"/>
                <a:sym typeface="Arial"/>
              </a:rPr>
              <a:t>out</a:t>
            </a:r>
            <a:r>
              <a:rPr lang="en-US" sz="1800" b="0" i="0" u="none" dirty="0" err="1">
                <a:solidFill>
                  <a:schemeClr val="bg1"/>
                </a:solidFill>
                <a:latin typeface="Consolas" panose="020B0609020204030204" pitchFamily="49" charset="0"/>
                <a:sym typeface="Arial"/>
              </a:rPr>
              <a:t>.println</a:t>
            </a:r>
            <a:r>
              <a:rPr lang="en-US" sz="1800" b="0" i="0" u="none" dirty="0">
                <a:solidFill>
                  <a:schemeClr val="bg1"/>
                </a:solidFill>
                <a:latin typeface="Consolas" panose="020B0609020204030204" pitchFamily="49" charset="0"/>
                <a:sym typeface="Arial"/>
              </a:rPr>
              <a:t>("Hello from My Runnable implementation");</a:t>
            </a:r>
            <a:br>
              <a:rPr lang="en-US" sz="1800" b="0" i="0" u="none" dirty="0">
                <a:solidFill>
                  <a:schemeClr val="bg1"/>
                </a:solidFill>
                <a:latin typeface="Consolas" panose="020B0609020204030204" pitchFamily="49" charset="0"/>
                <a:sym typeface="Arial"/>
              </a:rPr>
            </a:br>
            <a:r>
              <a:rPr lang="en-US" sz="1800" b="0" i="0" u="none" dirty="0">
                <a:solidFill>
                  <a:schemeClr val="bg1"/>
                </a:solidFill>
                <a:latin typeface="Consolas" panose="020B0609020204030204" pitchFamily="49" charset="0"/>
                <a:sym typeface="Arial"/>
              </a:rPr>
              <a:t>    }</a:t>
            </a:r>
            <a:br>
              <a:rPr lang="en-US" sz="1800" b="0" i="0" u="none" dirty="0">
                <a:solidFill>
                  <a:schemeClr val="bg1"/>
                </a:solidFill>
                <a:latin typeface="Consolas" panose="020B0609020204030204" pitchFamily="49" charset="0"/>
                <a:sym typeface="Arial"/>
              </a:rPr>
            </a:br>
            <a:r>
              <a:rPr lang="en-US" sz="1800" b="0" i="0" u="none" dirty="0">
                <a:solidFill>
                  <a:schemeClr val="bg1"/>
                </a:solidFill>
                <a:latin typeface="Consolas" panose="020B0609020204030204" pitchFamily="49" charset="0"/>
                <a:sym typeface="Arial"/>
              </a:rPr>
              <a:t>}</a:t>
            </a:r>
            <a:endParaRPr dirty="0">
              <a:solidFill>
                <a:schemeClr val="bg1"/>
              </a:solidFill>
              <a:latin typeface="Consolas" panose="020B0609020204030204" pitchFamily="49" charset="0"/>
            </a:endParaRPr>
          </a:p>
          <a:p>
            <a:pPr marL="0" marR="0" lvl="0" indent="0" algn="l" rtl="0">
              <a:lnSpc>
                <a:spcPct val="100000"/>
              </a:lnSpc>
              <a:spcBef>
                <a:spcPts val="0"/>
              </a:spcBef>
              <a:spcAft>
                <a:spcPts val="0"/>
              </a:spcAft>
              <a:buClr>
                <a:schemeClr val="dk1"/>
              </a:buClr>
              <a:buSzPts val="1800"/>
              <a:buFont typeface="Arial"/>
              <a:buNone/>
            </a:pPr>
            <a:endParaRPr sz="1800" b="0" i="0" u="none" dirty="0">
              <a:solidFill>
                <a:schemeClr val="bg1"/>
              </a:solidFill>
              <a:latin typeface="Consolas" panose="020B0609020204030204" pitchFamily="49" charset="0"/>
              <a:sym typeface="Arial"/>
            </a:endParaRPr>
          </a:p>
          <a:p>
            <a:pPr marL="0" marR="0" lvl="0" indent="0" algn="l" rtl="0">
              <a:lnSpc>
                <a:spcPct val="100000"/>
              </a:lnSpc>
              <a:spcBef>
                <a:spcPts val="0"/>
              </a:spcBef>
              <a:spcAft>
                <a:spcPts val="0"/>
              </a:spcAft>
              <a:buClr>
                <a:schemeClr val="dk1"/>
              </a:buClr>
              <a:buSzPts val="1800"/>
              <a:buFont typeface="Arial"/>
              <a:buNone/>
            </a:pPr>
            <a:r>
              <a:rPr lang="en-US" sz="1800" b="0" i="0" u="none" dirty="0">
                <a:solidFill>
                  <a:schemeClr val="bg1"/>
                </a:solidFill>
                <a:latin typeface="Consolas" panose="020B0609020204030204" pitchFamily="49" charset="0"/>
                <a:sym typeface="Arial"/>
              </a:rPr>
              <a:t>public class Main {</a:t>
            </a:r>
            <a:br>
              <a:rPr lang="en-US" sz="1800" b="0" i="0" u="none" dirty="0">
                <a:solidFill>
                  <a:schemeClr val="bg1"/>
                </a:solidFill>
                <a:latin typeface="Consolas" panose="020B0609020204030204" pitchFamily="49" charset="0"/>
                <a:sym typeface="Arial"/>
              </a:rPr>
            </a:br>
            <a:br>
              <a:rPr lang="en-US" sz="1800" b="0" i="0" u="none" dirty="0">
                <a:solidFill>
                  <a:schemeClr val="bg1"/>
                </a:solidFill>
                <a:latin typeface="Consolas" panose="020B0609020204030204" pitchFamily="49" charset="0"/>
                <a:sym typeface="Arial"/>
              </a:rPr>
            </a:br>
            <a:r>
              <a:rPr lang="en-US" sz="1800" b="0" i="0" u="none" dirty="0">
                <a:solidFill>
                  <a:schemeClr val="bg1"/>
                </a:solidFill>
                <a:latin typeface="Consolas" panose="020B0609020204030204" pitchFamily="49" charset="0"/>
                <a:sym typeface="Arial"/>
              </a:rPr>
              <a:t>    public static void main(String[] </a:t>
            </a:r>
            <a:r>
              <a:rPr lang="en-US" sz="1800" b="0" i="0" u="none" dirty="0" err="1">
                <a:solidFill>
                  <a:schemeClr val="bg1"/>
                </a:solidFill>
                <a:latin typeface="Consolas" panose="020B0609020204030204" pitchFamily="49" charset="0"/>
                <a:sym typeface="Arial"/>
              </a:rPr>
              <a:t>args</a:t>
            </a:r>
            <a:r>
              <a:rPr lang="en-US" sz="1800" b="0" i="0" u="none" dirty="0">
                <a:solidFill>
                  <a:schemeClr val="bg1"/>
                </a:solidFill>
                <a:latin typeface="Consolas" panose="020B0609020204030204" pitchFamily="49" charset="0"/>
                <a:sym typeface="Arial"/>
              </a:rPr>
              <a:t>) {</a:t>
            </a:r>
            <a:br>
              <a:rPr lang="en-US" sz="1800" b="0" i="0" u="none" dirty="0">
                <a:solidFill>
                  <a:schemeClr val="bg1"/>
                </a:solidFill>
                <a:latin typeface="Consolas" panose="020B0609020204030204" pitchFamily="49" charset="0"/>
                <a:sym typeface="Arial"/>
              </a:rPr>
            </a:br>
            <a:r>
              <a:rPr lang="en-US" sz="1800" b="0" i="0" u="none" dirty="0">
                <a:solidFill>
                  <a:schemeClr val="bg1"/>
                </a:solidFill>
                <a:latin typeface="Consolas" panose="020B0609020204030204" pitchFamily="49" charset="0"/>
                <a:sym typeface="Arial"/>
              </a:rPr>
              <a:t>        </a:t>
            </a:r>
            <a:r>
              <a:rPr lang="en-US" sz="1800" b="0" i="0" u="none" dirty="0" err="1">
                <a:solidFill>
                  <a:schemeClr val="bg1"/>
                </a:solidFill>
                <a:latin typeface="Consolas" panose="020B0609020204030204" pitchFamily="49" charset="0"/>
                <a:sym typeface="Arial"/>
              </a:rPr>
              <a:t>System.</a:t>
            </a:r>
            <a:r>
              <a:rPr lang="en-US" sz="1800" b="0" i="1" u="none" dirty="0" err="1">
                <a:solidFill>
                  <a:schemeClr val="bg1"/>
                </a:solidFill>
                <a:latin typeface="Consolas" panose="020B0609020204030204" pitchFamily="49" charset="0"/>
                <a:sym typeface="Arial"/>
              </a:rPr>
              <a:t>out</a:t>
            </a:r>
            <a:r>
              <a:rPr lang="en-US" sz="1800" b="0" i="0" u="none" dirty="0" err="1">
                <a:solidFill>
                  <a:schemeClr val="bg1"/>
                </a:solidFill>
                <a:latin typeface="Consolas" panose="020B0609020204030204" pitchFamily="49" charset="0"/>
                <a:sym typeface="Arial"/>
              </a:rPr>
              <a:t>.println</a:t>
            </a:r>
            <a:r>
              <a:rPr lang="en-US" sz="1800" b="0" i="0" u="none" dirty="0">
                <a:solidFill>
                  <a:schemeClr val="bg1"/>
                </a:solidFill>
                <a:latin typeface="Consolas" panose="020B0609020204030204" pitchFamily="49" charset="0"/>
                <a:sym typeface="Arial"/>
              </a:rPr>
              <a:t>("Hello from main thread");</a:t>
            </a:r>
            <a:br>
              <a:rPr lang="en-US" sz="1800" b="0" i="0" u="none" dirty="0">
                <a:solidFill>
                  <a:schemeClr val="bg1"/>
                </a:solidFill>
                <a:latin typeface="Consolas" panose="020B0609020204030204" pitchFamily="49" charset="0"/>
                <a:sym typeface="Arial"/>
              </a:rPr>
            </a:br>
            <a:r>
              <a:rPr lang="en-US" sz="1800" b="0" i="0" u="none" dirty="0">
                <a:solidFill>
                  <a:srgbClr val="00B050"/>
                </a:solidFill>
                <a:latin typeface="Consolas" panose="020B0609020204030204" pitchFamily="49" charset="0"/>
                <a:sym typeface="Arial"/>
              </a:rPr>
              <a:t>        Thread </a:t>
            </a:r>
            <a:r>
              <a:rPr lang="en-US" sz="1800" b="0" i="0" u="none" dirty="0" err="1">
                <a:solidFill>
                  <a:srgbClr val="00B050"/>
                </a:solidFill>
                <a:latin typeface="Consolas" panose="020B0609020204030204" pitchFamily="49" charset="0"/>
                <a:sym typeface="Arial"/>
              </a:rPr>
              <a:t>myRunnable</a:t>
            </a:r>
            <a:r>
              <a:rPr lang="en-US" sz="1800" b="0" i="0" u="none" dirty="0">
                <a:solidFill>
                  <a:srgbClr val="00B050"/>
                </a:solidFill>
                <a:latin typeface="Consolas" panose="020B0609020204030204" pitchFamily="49" charset="0"/>
                <a:sym typeface="Arial"/>
              </a:rPr>
              <a:t> = new Thread(new </a:t>
            </a:r>
            <a:r>
              <a:rPr lang="en-US" sz="1800" b="0" i="0" u="none" dirty="0" err="1">
                <a:solidFill>
                  <a:srgbClr val="00B050"/>
                </a:solidFill>
                <a:latin typeface="Consolas" panose="020B0609020204030204" pitchFamily="49" charset="0"/>
                <a:sym typeface="Arial"/>
              </a:rPr>
              <a:t>MyRunnable</a:t>
            </a:r>
            <a:r>
              <a:rPr lang="en-US" sz="1800" b="0" i="0" u="none" dirty="0">
                <a:solidFill>
                  <a:srgbClr val="00B050"/>
                </a:solidFill>
                <a:latin typeface="Consolas" panose="020B0609020204030204" pitchFamily="49" charset="0"/>
                <a:sym typeface="Arial"/>
              </a:rPr>
              <a:t>());</a:t>
            </a:r>
            <a:br>
              <a:rPr lang="en-US" sz="1800" b="0" i="0" u="none" dirty="0">
                <a:solidFill>
                  <a:schemeClr val="bg1"/>
                </a:solidFill>
                <a:latin typeface="Consolas" panose="020B0609020204030204" pitchFamily="49" charset="0"/>
                <a:sym typeface="Arial"/>
              </a:rPr>
            </a:br>
            <a:r>
              <a:rPr lang="en-US" sz="1800" b="0" i="0" u="none" dirty="0">
                <a:solidFill>
                  <a:srgbClr val="00B050"/>
                </a:solidFill>
                <a:latin typeface="Consolas" panose="020B0609020204030204" pitchFamily="49" charset="0"/>
                <a:sym typeface="Arial"/>
              </a:rPr>
              <a:t>        </a:t>
            </a:r>
            <a:r>
              <a:rPr lang="en-US" sz="1800" b="0" i="0" u="none" dirty="0" err="1">
                <a:solidFill>
                  <a:srgbClr val="00B050"/>
                </a:solidFill>
                <a:latin typeface="Consolas" panose="020B0609020204030204" pitchFamily="49" charset="0"/>
                <a:sym typeface="Arial"/>
              </a:rPr>
              <a:t>myRunnable.start</a:t>
            </a:r>
            <a:r>
              <a:rPr lang="en-US" sz="1800" b="0" i="0" u="none" dirty="0">
                <a:solidFill>
                  <a:srgbClr val="00B050"/>
                </a:solidFill>
                <a:latin typeface="Consolas" panose="020B0609020204030204" pitchFamily="49" charset="0"/>
                <a:sym typeface="Arial"/>
              </a:rPr>
              <a:t>();</a:t>
            </a:r>
            <a:br>
              <a:rPr lang="en-US" sz="1800" b="0" i="0" u="none" dirty="0">
                <a:solidFill>
                  <a:schemeClr val="bg1"/>
                </a:solidFill>
                <a:latin typeface="Consolas" panose="020B0609020204030204" pitchFamily="49" charset="0"/>
                <a:sym typeface="Arial"/>
              </a:rPr>
            </a:br>
            <a:r>
              <a:rPr lang="en-US" sz="1800" b="0" i="0" u="none" dirty="0">
                <a:solidFill>
                  <a:schemeClr val="bg1"/>
                </a:solidFill>
                <a:latin typeface="Consolas" panose="020B0609020204030204" pitchFamily="49" charset="0"/>
                <a:sym typeface="Arial"/>
              </a:rPr>
              <a:t>        }</a:t>
            </a:r>
            <a:br>
              <a:rPr lang="en-US" sz="1800" b="0" i="0" u="none" dirty="0">
                <a:solidFill>
                  <a:schemeClr val="bg1"/>
                </a:solidFill>
                <a:latin typeface="Consolas" panose="020B0609020204030204" pitchFamily="49" charset="0"/>
                <a:sym typeface="Arial"/>
              </a:rPr>
            </a:br>
            <a:r>
              <a:rPr lang="en-US" sz="1800" b="0" i="0" u="none" dirty="0">
                <a:solidFill>
                  <a:schemeClr val="bg1"/>
                </a:solidFill>
                <a:latin typeface="Consolas" panose="020B0609020204030204" pitchFamily="49" charset="0"/>
                <a:sym typeface="Arial"/>
              </a:rPr>
              <a:t>}</a:t>
            </a:r>
            <a:endParaRPr dirty="0">
              <a:solidFill>
                <a:schemeClr val="bg1"/>
              </a:solidFill>
              <a:latin typeface="Consolas" panose="020B0609020204030204"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2"/>
          <p:cNvSpPr txBox="1"/>
          <p:nvPr/>
        </p:nvSpPr>
        <p:spPr>
          <a:xfrm>
            <a:off x="1752600" y="381000"/>
            <a:ext cx="5791200"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Using </a:t>
            </a:r>
            <a:r>
              <a:rPr lang="en-US" sz="1800" dirty="0">
                <a:solidFill>
                  <a:schemeClr val="dk1"/>
                </a:solidFill>
              </a:rPr>
              <a:t>Lambda Expressions</a:t>
            </a:r>
            <a:endParaRPr dirty="0"/>
          </a:p>
        </p:txBody>
      </p:sp>
      <p:sp>
        <p:nvSpPr>
          <p:cNvPr id="147" name="Google Shape;147;p22"/>
          <p:cNvSpPr txBox="1"/>
          <p:nvPr/>
        </p:nvSpPr>
        <p:spPr>
          <a:xfrm>
            <a:off x="609600" y="990600"/>
            <a:ext cx="81534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dirty="0">
                <a:solidFill>
                  <a:schemeClr val="dk1"/>
                </a:solidFill>
                <a:latin typeface="Times New Roman" panose="02020603050405020304" pitchFamily="18" charset="0"/>
                <a:cs typeface="Times New Roman" panose="02020603050405020304" pitchFamily="18" charset="0"/>
                <a:sym typeface="Arial"/>
              </a:rPr>
              <a:t>We can use lambda expressions to instantiate the ‘Runnable’ interface. </a:t>
            </a:r>
            <a:endParaRPr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63B3C63-A3FC-5AFA-D286-CBA66A7A560F}"/>
              </a:ext>
            </a:extLst>
          </p:cNvPr>
          <p:cNvSpPr txBox="1"/>
          <p:nvPr/>
        </p:nvSpPr>
        <p:spPr>
          <a:xfrm>
            <a:off x="1228436" y="1904747"/>
            <a:ext cx="6197600" cy="3108543"/>
          </a:xfrm>
          <a:prstGeom prst="rect">
            <a:avLst/>
          </a:prstGeom>
          <a:solidFill>
            <a:schemeClr val="tx1"/>
          </a:solidFill>
        </p:spPr>
        <p:txBody>
          <a:bodyPr wrap="square">
            <a:spAutoFit/>
          </a:bodyPr>
          <a:lstStyle/>
          <a:p>
            <a:r>
              <a:rPr lang="en-IN" dirty="0">
                <a:solidFill>
                  <a:schemeClr val="bg1"/>
                </a:solidFill>
                <a:latin typeface="Consolas" panose="020B0609020204030204" pitchFamily="49" charset="0"/>
              </a:rPr>
              <a:t>public class Demo {</a:t>
            </a:r>
          </a:p>
          <a:p>
            <a:r>
              <a:rPr lang="en-IN" dirty="0">
                <a:solidFill>
                  <a:schemeClr val="bg1"/>
                </a:solidFill>
                <a:latin typeface="Consolas" panose="020B0609020204030204" pitchFamily="49" charset="0"/>
              </a:rPr>
              <a:t>    public static void main(String[] args) {</a:t>
            </a:r>
          </a:p>
          <a:p>
            <a:endParaRPr lang="en-IN" dirty="0">
              <a:solidFill>
                <a:schemeClr val="bg1"/>
              </a:solidFill>
              <a:latin typeface="Consolas" panose="020B0609020204030204" pitchFamily="49" charset="0"/>
            </a:endParaRPr>
          </a:p>
          <a:p>
            <a:r>
              <a:rPr lang="en-IN" dirty="0">
                <a:solidFill>
                  <a:schemeClr val="bg1"/>
                </a:solidFill>
                <a:latin typeface="Consolas" panose="020B0609020204030204" pitchFamily="49" charset="0"/>
              </a:rPr>
              <a:t>        </a:t>
            </a:r>
            <a:r>
              <a:rPr lang="en-IN" dirty="0">
                <a:solidFill>
                  <a:srgbClr val="FFFF00"/>
                </a:solidFill>
                <a:latin typeface="Consolas" panose="020B0609020204030204" pitchFamily="49" charset="0"/>
              </a:rPr>
              <a:t>Thread t = new Thread(</a:t>
            </a:r>
            <a:r>
              <a:rPr lang="en-IN" dirty="0">
                <a:solidFill>
                  <a:srgbClr val="92D050"/>
                </a:solidFill>
                <a:latin typeface="Consolas" panose="020B0609020204030204" pitchFamily="49" charset="0"/>
              </a:rPr>
              <a:t>() -&gt; {</a:t>
            </a:r>
          </a:p>
          <a:p>
            <a:r>
              <a:rPr lang="en-IN" dirty="0">
                <a:solidFill>
                  <a:srgbClr val="92D050"/>
                </a:solidFill>
                <a:latin typeface="Consolas" panose="020B0609020204030204" pitchFamily="49" charset="0"/>
              </a:rPr>
              <a:t>            System.out.println("Thread is running");</a:t>
            </a:r>
          </a:p>
          <a:p>
            <a:endParaRPr lang="en-IN" dirty="0">
              <a:solidFill>
                <a:srgbClr val="92D050"/>
              </a:solidFill>
              <a:latin typeface="Consolas" panose="020B0609020204030204" pitchFamily="49" charset="0"/>
            </a:endParaRPr>
          </a:p>
          <a:p>
            <a:r>
              <a:rPr lang="en-IN" dirty="0">
                <a:solidFill>
                  <a:srgbClr val="92D050"/>
                </a:solidFill>
                <a:latin typeface="Consolas" panose="020B0609020204030204" pitchFamily="49" charset="0"/>
              </a:rPr>
              <a:t>            for (int </a:t>
            </a:r>
            <a:r>
              <a:rPr lang="en-IN" dirty="0" err="1">
                <a:solidFill>
                  <a:srgbClr val="92D050"/>
                </a:solidFill>
                <a:latin typeface="Consolas" panose="020B0609020204030204" pitchFamily="49" charset="0"/>
              </a:rPr>
              <a:t>i</a:t>
            </a:r>
            <a:r>
              <a:rPr lang="en-IN" dirty="0">
                <a:solidFill>
                  <a:srgbClr val="92D050"/>
                </a:solidFill>
                <a:latin typeface="Consolas" panose="020B0609020204030204" pitchFamily="49" charset="0"/>
              </a:rPr>
              <a:t> = 1; </a:t>
            </a:r>
            <a:r>
              <a:rPr lang="en-IN" dirty="0" err="1">
                <a:solidFill>
                  <a:srgbClr val="92D050"/>
                </a:solidFill>
                <a:latin typeface="Consolas" panose="020B0609020204030204" pitchFamily="49" charset="0"/>
              </a:rPr>
              <a:t>i</a:t>
            </a:r>
            <a:r>
              <a:rPr lang="en-IN" dirty="0">
                <a:solidFill>
                  <a:srgbClr val="92D050"/>
                </a:solidFill>
                <a:latin typeface="Consolas" panose="020B0609020204030204" pitchFamily="49" charset="0"/>
              </a:rPr>
              <a:t> &lt;= 5; </a:t>
            </a:r>
            <a:r>
              <a:rPr lang="en-IN" dirty="0" err="1">
                <a:solidFill>
                  <a:srgbClr val="92D050"/>
                </a:solidFill>
                <a:latin typeface="Consolas" panose="020B0609020204030204" pitchFamily="49" charset="0"/>
              </a:rPr>
              <a:t>i</a:t>
            </a:r>
            <a:r>
              <a:rPr lang="en-IN" dirty="0">
                <a:solidFill>
                  <a:srgbClr val="92D050"/>
                </a:solidFill>
                <a:latin typeface="Consolas" panose="020B0609020204030204" pitchFamily="49" charset="0"/>
              </a:rPr>
              <a:t>++) {</a:t>
            </a:r>
          </a:p>
          <a:p>
            <a:r>
              <a:rPr lang="en-IN" dirty="0">
                <a:solidFill>
                  <a:srgbClr val="92D050"/>
                </a:solidFill>
                <a:latin typeface="Consolas" panose="020B0609020204030204" pitchFamily="49" charset="0"/>
              </a:rPr>
              <a:t>                System.out.println(</a:t>
            </a:r>
            <a:r>
              <a:rPr lang="en-IN" dirty="0" err="1">
                <a:solidFill>
                  <a:srgbClr val="92D050"/>
                </a:solidFill>
                <a:latin typeface="Consolas" panose="020B0609020204030204" pitchFamily="49" charset="0"/>
              </a:rPr>
              <a:t>i</a:t>
            </a:r>
            <a:r>
              <a:rPr lang="en-IN" dirty="0">
                <a:solidFill>
                  <a:srgbClr val="92D050"/>
                </a:solidFill>
                <a:latin typeface="Consolas" panose="020B0609020204030204" pitchFamily="49" charset="0"/>
              </a:rPr>
              <a:t>);</a:t>
            </a:r>
          </a:p>
          <a:p>
            <a:r>
              <a:rPr lang="en-IN" dirty="0">
                <a:solidFill>
                  <a:srgbClr val="92D050"/>
                </a:solidFill>
                <a:latin typeface="Consolas" panose="020B0609020204030204" pitchFamily="49" charset="0"/>
              </a:rPr>
              <a:t>            }</a:t>
            </a:r>
          </a:p>
          <a:p>
            <a:r>
              <a:rPr lang="en-IN" dirty="0">
                <a:solidFill>
                  <a:srgbClr val="92D050"/>
                </a:solidFill>
                <a:latin typeface="Consolas" panose="020B0609020204030204" pitchFamily="49" charset="0"/>
              </a:rPr>
              <a:t>        }</a:t>
            </a:r>
            <a:r>
              <a:rPr lang="en-IN" dirty="0">
                <a:solidFill>
                  <a:srgbClr val="FFFF00"/>
                </a:solidFill>
                <a:latin typeface="Consolas" panose="020B0609020204030204" pitchFamily="49" charset="0"/>
              </a:rPr>
              <a:t>);</a:t>
            </a:r>
          </a:p>
          <a:p>
            <a:endParaRPr lang="en-IN" dirty="0">
              <a:solidFill>
                <a:schemeClr val="bg1"/>
              </a:solidFill>
              <a:latin typeface="Consolas" panose="020B0609020204030204" pitchFamily="49" charset="0"/>
            </a:endParaRPr>
          </a:p>
          <a:p>
            <a:r>
              <a:rPr lang="en-IN" dirty="0">
                <a:solidFill>
                  <a:schemeClr val="bg1"/>
                </a:solidFill>
                <a:latin typeface="Consolas" panose="020B0609020204030204" pitchFamily="49" charset="0"/>
              </a:rPr>
              <a:t>        t.start();</a:t>
            </a:r>
          </a:p>
          <a:p>
            <a:r>
              <a:rPr lang="en-IN" dirty="0">
                <a:solidFill>
                  <a:schemeClr val="bg1"/>
                </a:solidFill>
                <a:latin typeface="Consolas" panose="020B0609020204030204" pitchFamily="49" charset="0"/>
              </a:rPr>
              <a:t>    }</a:t>
            </a:r>
          </a:p>
          <a:p>
            <a:r>
              <a:rPr lang="en-IN" dirty="0">
                <a:solidFill>
                  <a:schemeClr val="bg1"/>
                </a:solidFill>
                <a:latin typeface="Consolas" panose="020B0609020204030204" pitchFamily="49" charset="0"/>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34BB62-584A-BB39-D072-F60194A2D7A2}"/>
              </a:ext>
            </a:extLst>
          </p:cNvPr>
          <p:cNvPicPr>
            <a:picLocks noChangeAspect="1"/>
          </p:cNvPicPr>
          <p:nvPr/>
        </p:nvPicPr>
        <p:blipFill>
          <a:blip r:embed="rId2"/>
          <a:stretch>
            <a:fillRect/>
          </a:stretch>
        </p:blipFill>
        <p:spPr>
          <a:xfrm>
            <a:off x="491915" y="1352443"/>
            <a:ext cx="8160169" cy="4153113"/>
          </a:xfrm>
          <a:prstGeom prst="rect">
            <a:avLst/>
          </a:prstGeom>
        </p:spPr>
      </p:pic>
    </p:spTree>
    <p:extLst>
      <p:ext uri="{BB962C8B-B14F-4D97-AF65-F5344CB8AC3E}">
        <p14:creationId xmlns:p14="http://schemas.microsoft.com/office/powerpoint/2010/main" val="1081951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28"/>
          <p:cNvPicPr preferRelativeResize="0"/>
          <p:nvPr/>
        </p:nvPicPr>
        <p:blipFill rotWithShape="1">
          <a:blip r:embed="rId3">
            <a:alphaModFix/>
          </a:blip>
          <a:srcRect/>
          <a:stretch/>
        </p:blipFill>
        <p:spPr>
          <a:xfrm>
            <a:off x="1104900" y="504825"/>
            <a:ext cx="6934200" cy="5848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29"/>
          <p:cNvPicPr preferRelativeResize="0"/>
          <p:nvPr/>
        </p:nvPicPr>
        <p:blipFill rotWithShape="1">
          <a:blip r:embed="rId3">
            <a:alphaModFix/>
          </a:blip>
          <a:srcRect/>
          <a:stretch/>
        </p:blipFill>
        <p:spPr>
          <a:xfrm>
            <a:off x="1348509" y="1385455"/>
            <a:ext cx="6336146" cy="370378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30"/>
          <p:cNvPicPr preferRelativeResize="0"/>
          <p:nvPr/>
        </p:nvPicPr>
        <p:blipFill rotWithShape="1">
          <a:blip r:embed="rId3">
            <a:alphaModFix/>
          </a:blip>
          <a:srcRect/>
          <a:stretch/>
        </p:blipFill>
        <p:spPr>
          <a:xfrm>
            <a:off x="785091" y="544945"/>
            <a:ext cx="8026400" cy="594821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pic>
        <p:nvPicPr>
          <p:cNvPr id="198" name="Google Shape;198;p31"/>
          <p:cNvPicPr preferRelativeResize="0"/>
          <p:nvPr/>
        </p:nvPicPr>
        <p:blipFill rotWithShape="1">
          <a:blip r:embed="rId3">
            <a:alphaModFix/>
          </a:blip>
          <a:srcRect/>
          <a:stretch/>
        </p:blipFill>
        <p:spPr>
          <a:xfrm>
            <a:off x="1477817" y="1257299"/>
            <a:ext cx="5394037" cy="4857173"/>
          </a:xfrm>
          <a:prstGeom prst="rect">
            <a:avLst/>
          </a:prstGeom>
          <a:noFill/>
          <a:ln>
            <a:noFill/>
          </a:ln>
        </p:spPr>
      </p:pic>
      <p:sp>
        <p:nvSpPr>
          <p:cNvPr id="199" name="Google Shape;199;p31"/>
          <p:cNvSpPr txBox="1"/>
          <p:nvPr/>
        </p:nvSpPr>
        <p:spPr>
          <a:xfrm>
            <a:off x="3352800" y="1066800"/>
            <a:ext cx="2286000" cy="381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1800"/>
              <a:buFont typeface="Arial"/>
              <a:buNone/>
            </a:pPr>
            <a:r>
              <a:rPr lang="en-US" sz="1800" b="0" i="0" u="none">
                <a:solidFill>
                  <a:srgbClr val="FF0000"/>
                </a:solidFill>
                <a:latin typeface="Arial"/>
                <a:ea typeface="Arial"/>
                <a:cs typeface="Arial"/>
                <a:sym typeface="Arial"/>
              </a:rPr>
              <a:t>Output: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32"/>
          <p:cNvPicPr preferRelativeResize="0"/>
          <p:nvPr/>
        </p:nvPicPr>
        <p:blipFill rotWithShape="1">
          <a:blip r:embed="rId3">
            <a:alphaModFix/>
          </a:blip>
          <a:srcRect/>
          <a:stretch/>
        </p:blipFill>
        <p:spPr>
          <a:xfrm>
            <a:off x="1095375" y="290512"/>
            <a:ext cx="6953250" cy="62769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33"/>
          <p:cNvPicPr preferRelativeResize="0"/>
          <p:nvPr/>
        </p:nvPicPr>
        <p:blipFill rotWithShape="1">
          <a:blip r:embed="rId3">
            <a:alphaModFix/>
          </a:blip>
          <a:srcRect/>
          <a:stretch/>
        </p:blipFill>
        <p:spPr>
          <a:xfrm>
            <a:off x="1457325" y="1957387"/>
            <a:ext cx="6229350" cy="29432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34"/>
          <p:cNvPicPr preferRelativeResize="0"/>
          <p:nvPr/>
        </p:nvPicPr>
        <p:blipFill rotWithShape="1">
          <a:blip r:embed="rId3">
            <a:alphaModFix/>
          </a:blip>
          <a:srcRect/>
          <a:stretch/>
        </p:blipFill>
        <p:spPr>
          <a:xfrm>
            <a:off x="1162050" y="1285875"/>
            <a:ext cx="6819900" cy="42862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35"/>
          <p:cNvPicPr preferRelativeResize="0"/>
          <p:nvPr/>
        </p:nvPicPr>
        <p:blipFill rotWithShape="1">
          <a:blip r:embed="rId3">
            <a:alphaModFix/>
          </a:blip>
          <a:srcRect/>
          <a:stretch/>
        </p:blipFill>
        <p:spPr>
          <a:xfrm>
            <a:off x="633412" y="57150"/>
            <a:ext cx="7877175" cy="6743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6"/>
          <p:cNvSpPr txBox="1"/>
          <p:nvPr/>
        </p:nvSpPr>
        <p:spPr>
          <a:xfrm>
            <a:off x="838200" y="990600"/>
            <a:ext cx="7315200" cy="4800600"/>
          </a:xfrm>
          <a:prstGeom prst="rect">
            <a:avLst/>
          </a:prstGeom>
          <a:solidFill>
            <a:schemeClr val="tx2">
              <a:lumMod val="90000"/>
            </a:schemeClr>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The life cycle of threads in Java is very similar to the life cycle of processes running in an operating system. </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During its life cycle the thread moves from one state to another depending on the operation performed by it or performed on it.</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A Java thread can be in one of the following states: </a:t>
            </a:r>
            <a:endParaRPr dirty="0"/>
          </a:p>
          <a:p>
            <a:pPr marL="0" marR="0" lvl="0" indent="-114300" algn="just" rtl="0">
              <a:lnSpc>
                <a:spcPct val="100000"/>
              </a:lnSpc>
              <a:spcBef>
                <a:spcPts val="0"/>
              </a:spcBef>
              <a:spcAft>
                <a:spcPts val="0"/>
              </a:spcAft>
              <a:buClr>
                <a:schemeClr val="dk1"/>
              </a:buClr>
              <a:buSzPts val="1800"/>
              <a:buFont typeface="Arial"/>
              <a:buChar char="•"/>
            </a:pPr>
            <a:r>
              <a:rPr lang="en-US" sz="1800" b="0" i="0" u="none" dirty="0">
                <a:solidFill>
                  <a:srgbClr val="FF0000"/>
                </a:solidFill>
                <a:latin typeface="Arial"/>
                <a:ea typeface="Arial"/>
                <a:cs typeface="Arial"/>
                <a:sym typeface="Arial"/>
              </a:rPr>
              <a:t>NEW </a:t>
            </a:r>
            <a:r>
              <a:rPr lang="en-US" sz="1800" b="0" i="0" u="none" dirty="0">
                <a:solidFill>
                  <a:schemeClr val="dk1"/>
                </a:solidFill>
                <a:latin typeface="Arial"/>
                <a:ea typeface="Arial"/>
                <a:cs typeface="Arial"/>
                <a:sym typeface="Arial"/>
              </a:rPr>
              <a:t>A thread that is just instantiated is in new state. When a start() method is invoked, the thread moves to the ready state from which it is automatically moved to runnable state by the thread scheduler. </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114300" algn="just" rtl="0">
              <a:lnSpc>
                <a:spcPct val="100000"/>
              </a:lnSpc>
              <a:spcBef>
                <a:spcPts val="0"/>
              </a:spcBef>
              <a:spcAft>
                <a:spcPts val="0"/>
              </a:spcAft>
              <a:buClr>
                <a:schemeClr val="dk1"/>
              </a:buClr>
              <a:buSzPts val="1800"/>
              <a:buFont typeface="Arial"/>
              <a:buChar char="•"/>
            </a:pPr>
            <a:r>
              <a:rPr lang="en-US" sz="1800" b="0" i="0" u="none" dirty="0">
                <a:solidFill>
                  <a:srgbClr val="FF0000"/>
                </a:solidFill>
                <a:latin typeface="Arial"/>
                <a:ea typeface="Arial"/>
                <a:cs typeface="Arial"/>
                <a:sym typeface="Arial"/>
              </a:rPr>
              <a:t>RUNNABLE</a:t>
            </a:r>
            <a:r>
              <a:rPr lang="en-US" sz="1800" b="0" i="0" u="none" dirty="0">
                <a:solidFill>
                  <a:schemeClr val="dk1"/>
                </a:solidFill>
                <a:latin typeface="Arial"/>
                <a:ea typeface="Arial"/>
                <a:cs typeface="Arial"/>
                <a:sym typeface="Arial"/>
              </a:rPr>
              <a:t> (ready running) A thread executing in the JVM is in running state. </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114300" algn="just" rtl="0">
              <a:lnSpc>
                <a:spcPct val="100000"/>
              </a:lnSpc>
              <a:spcBef>
                <a:spcPts val="0"/>
              </a:spcBef>
              <a:spcAft>
                <a:spcPts val="0"/>
              </a:spcAft>
              <a:buClr>
                <a:schemeClr val="dk1"/>
              </a:buClr>
              <a:buSzPts val="1800"/>
              <a:buFont typeface="Arial"/>
              <a:buChar char="•"/>
            </a:pPr>
            <a:r>
              <a:rPr lang="en-US" sz="1800" b="0" i="0" u="none" dirty="0">
                <a:solidFill>
                  <a:srgbClr val="FF0000"/>
                </a:solidFill>
                <a:latin typeface="Arial"/>
                <a:ea typeface="Arial"/>
                <a:cs typeface="Arial"/>
                <a:sym typeface="Arial"/>
              </a:rPr>
              <a:t>BLOCKED</a:t>
            </a:r>
            <a:r>
              <a:rPr lang="en-US" sz="1800" b="0" i="0" u="none" dirty="0">
                <a:solidFill>
                  <a:schemeClr val="dk1"/>
                </a:solidFill>
                <a:latin typeface="Arial"/>
                <a:ea typeface="Arial"/>
                <a:cs typeface="Arial"/>
                <a:sym typeface="Arial"/>
              </a:rPr>
              <a:t> A thread that is blocked waiting for a monitor lock is in this state. This can also occur when a thread performs an I/O operation and moves to next (runnable) state. </a:t>
            </a:r>
            <a:endParaRPr dirty="0"/>
          </a:p>
        </p:txBody>
      </p:sp>
      <p:sp>
        <p:nvSpPr>
          <p:cNvPr id="225" name="Google Shape;225;p36"/>
          <p:cNvSpPr txBox="1"/>
          <p:nvPr/>
        </p:nvSpPr>
        <p:spPr>
          <a:xfrm>
            <a:off x="2514600" y="381000"/>
            <a:ext cx="4191000"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1800"/>
              <a:buFont typeface="Arial"/>
              <a:buNone/>
            </a:pPr>
            <a:r>
              <a:rPr lang="en-US" sz="1800" b="1" i="0" u="none">
                <a:solidFill>
                  <a:srgbClr val="FF0000"/>
                </a:solidFill>
                <a:latin typeface="Arial"/>
                <a:ea typeface="Arial"/>
                <a:cs typeface="Arial"/>
                <a:sym typeface="Arial"/>
              </a:rPr>
              <a:t>THREAD LIFECYCLE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7"/>
          <p:cNvSpPr txBox="1"/>
          <p:nvPr/>
        </p:nvSpPr>
        <p:spPr>
          <a:xfrm>
            <a:off x="914400" y="609600"/>
            <a:ext cx="7239000" cy="2308225"/>
          </a:xfrm>
          <a:prstGeom prst="rect">
            <a:avLst/>
          </a:prstGeom>
          <a:solidFill>
            <a:schemeClr val="tx2">
              <a:lumMod val="90000"/>
            </a:schemeClr>
          </a:solidFill>
          <a:ln>
            <a:noFill/>
          </a:ln>
        </p:spPr>
        <p:txBody>
          <a:bodyPr spcFirstLastPara="1" wrap="square" lIns="91425" tIns="45700" rIns="91425" bIns="45700" anchor="t" anchorCtr="0">
            <a:spAutoFit/>
          </a:bodyPr>
          <a:lstStyle/>
          <a:p>
            <a:pPr marL="0" marR="0" lvl="0" indent="-114300" algn="just" rtl="0">
              <a:lnSpc>
                <a:spcPct val="100000"/>
              </a:lnSpc>
              <a:spcBef>
                <a:spcPts val="0"/>
              </a:spcBef>
              <a:spcAft>
                <a:spcPts val="0"/>
              </a:spcAft>
              <a:buClr>
                <a:schemeClr val="dk1"/>
              </a:buClr>
              <a:buSzPts val="1800"/>
              <a:buFont typeface="Arial"/>
              <a:buChar char="•"/>
            </a:pPr>
            <a:r>
              <a:rPr lang="en-US" sz="1800" b="0" i="0" u="none" dirty="0">
                <a:solidFill>
                  <a:srgbClr val="FF0000"/>
                </a:solidFill>
                <a:latin typeface="Arial"/>
                <a:ea typeface="Arial"/>
                <a:cs typeface="Arial"/>
                <a:sym typeface="Arial"/>
              </a:rPr>
              <a:t>WAITING</a:t>
            </a:r>
            <a:r>
              <a:rPr lang="en-US" sz="1800" b="0" i="0" u="none" dirty="0">
                <a:solidFill>
                  <a:schemeClr val="dk1"/>
                </a:solidFill>
                <a:latin typeface="Arial"/>
                <a:ea typeface="Arial"/>
                <a:cs typeface="Arial"/>
                <a:sym typeface="Arial"/>
              </a:rPr>
              <a:t> A thread that is waiting indefinitely for another thread to perform a particular action is in this state. </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114300" algn="just" rtl="0">
              <a:lnSpc>
                <a:spcPct val="100000"/>
              </a:lnSpc>
              <a:spcBef>
                <a:spcPts val="0"/>
              </a:spcBef>
              <a:spcAft>
                <a:spcPts val="0"/>
              </a:spcAft>
              <a:buClr>
                <a:schemeClr val="dk1"/>
              </a:buClr>
              <a:buSzPts val="1800"/>
              <a:buFont typeface="Arial"/>
              <a:buChar char="•"/>
            </a:pPr>
            <a:r>
              <a:rPr lang="en-US" sz="1800" b="0" i="0" u="none" dirty="0">
                <a:solidFill>
                  <a:srgbClr val="FF0000"/>
                </a:solidFill>
                <a:latin typeface="Arial"/>
                <a:ea typeface="Arial"/>
                <a:cs typeface="Arial"/>
                <a:sym typeface="Arial"/>
              </a:rPr>
              <a:t>TIMED_WAITING </a:t>
            </a:r>
            <a:r>
              <a:rPr lang="en-US" sz="1800" b="0" i="0" u="none" dirty="0">
                <a:solidFill>
                  <a:schemeClr val="dk1"/>
                </a:solidFill>
                <a:latin typeface="Arial"/>
                <a:ea typeface="Arial"/>
                <a:cs typeface="Arial"/>
                <a:sym typeface="Arial"/>
              </a:rPr>
              <a:t>(sleeping) A thread that is waiting for another thread to perform an action for up to a specified waiting time is in this state.</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114300" algn="just" rtl="0">
              <a:lnSpc>
                <a:spcPct val="100000"/>
              </a:lnSpc>
              <a:spcBef>
                <a:spcPts val="0"/>
              </a:spcBef>
              <a:spcAft>
                <a:spcPts val="0"/>
              </a:spcAft>
              <a:buClr>
                <a:schemeClr val="dk1"/>
              </a:buClr>
              <a:buSzPts val="1800"/>
              <a:buFont typeface="Arial"/>
              <a:buChar char="•"/>
            </a:pPr>
            <a:r>
              <a:rPr lang="en-US" sz="1800" b="0" i="0" u="none" dirty="0">
                <a:solidFill>
                  <a:srgbClr val="FF0000"/>
                </a:solidFill>
                <a:latin typeface="Arial"/>
                <a:ea typeface="Arial"/>
                <a:cs typeface="Arial"/>
                <a:sym typeface="Arial"/>
              </a:rPr>
              <a:t>TERMINATED</a:t>
            </a:r>
            <a:r>
              <a:rPr lang="en-US" sz="1800" b="0" i="0" u="none" dirty="0">
                <a:solidFill>
                  <a:schemeClr val="dk1"/>
                </a:solidFill>
                <a:latin typeface="Arial"/>
                <a:ea typeface="Arial"/>
                <a:cs typeface="Arial"/>
                <a:sym typeface="Arial"/>
              </a:rPr>
              <a:t> (dead) A thread that has exited is in this state. </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38"/>
          <p:cNvPicPr preferRelativeResize="0"/>
          <p:nvPr/>
        </p:nvPicPr>
        <p:blipFill rotWithShape="1">
          <a:blip r:embed="rId3">
            <a:alphaModFix/>
          </a:blip>
          <a:srcRect/>
          <a:stretch/>
        </p:blipFill>
        <p:spPr>
          <a:xfrm>
            <a:off x="526473" y="171450"/>
            <a:ext cx="8497454" cy="65151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39"/>
        <p:cNvGrpSpPr/>
        <p:nvPr/>
      </p:nvGrpSpPr>
      <p:grpSpPr>
        <a:xfrm>
          <a:off x="0" y="0"/>
          <a:ext cx="0" cy="0"/>
          <a:chOff x="0" y="0"/>
          <a:chExt cx="0" cy="0"/>
        </a:xfrm>
      </p:grpSpPr>
      <p:sp>
        <p:nvSpPr>
          <p:cNvPr id="246" name="Rectangle 24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Google Shape;240;p39"/>
          <p:cNvSpPr txBox="1"/>
          <p:nvPr/>
        </p:nvSpPr>
        <p:spPr>
          <a:xfrm>
            <a:off x="417399" y="643467"/>
            <a:ext cx="8408193" cy="744836"/>
          </a:xfrm>
          <a:prstGeom prst="rect">
            <a:avLst/>
          </a:prstGeom>
        </p:spPr>
        <p:txBody>
          <a:bodyPr spcFirstLastPara="1" vert="horz" lIns="91440" tIns="45720" rIns="91440" bIns="45720" rtlCol="0" anchor="ctr" anchorCtr="0">
            <a:normAutofit/>
          </a:bodyPr>
          <a:lstStyle/>
          <a:p>
            <a:pPr marL="0" marR="0" lvl="0" indent="0" algn="ctr">
              <a:lnSpc>
                <a:spcPct val="90000"/>
              </a:lnSpc>
              <a:spcBef>
                <a:spcPct val="0"/>
              </a:spcBef>
              <a:spcAft>
                <a:spcPts val="600"/>
              </a:spcAft>
              <a:buClr>
                <a:srgbClr val="FF0000"/>
              </a:buClr>
              <a:buSzPts val="1800"/>
            </a:pPr>
            <a:r>
              <a:rPr lang="en-US" sz="2800" b="0" i="0" u="none" kern="1200">
                <a:solidFill>
                  <a:schemeClr val="bg1"/>
                </a:solidFill>
                <a:latin typeface="+mj-lt"/>
                <a:ea typeface="+mj-ea"/>
                <a:cs typeface="+mj-cs"/>
                <a:sym typeface="Arial"/>
              </a:rPr>
              <a:t>Using sleep to make our program more predictable.</a:t>
            </a:r>
            <a:endParaRPr lang="en-US" sz="2800" kern="1200">
              <a:solidFill>
                <a:schemeClr val="bg1"/>
              </a:solidFill>
              <a:latin typeface="+mj-lt"/>
              <a:ea typeface="+mj-ea"/>
              <a:cs typeface="+mj-cs"/>
            </a:endParaRPr>
          </a:p>
        </p:txBody>
      </p:sp>
      <p:pic>
        <p:nvPicPr>
          <p:cNvPr id="241" name="Google Shape;241;p39"/>
          <p:cNvPicPr preferRelativeResize="0"/>
          <p:nvPr/>
        </p:nvPicPr>
        <p:blipFill rotWithShape="1">
          <a:blip r:embed="rId3"/>
          <a:stretch/>
        </p:blipFill>
        <p:spPr>
          <a:xfrm>
            <a:off x="590401" y="1675227"/>
            <a:ext cx="7963196" cy="4394199"/>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pic>
        <p:nvPicPr>
          <p:cNvPr id="246" name="Google Shape;246;p40"/>
          <p:cNvPicPr preferRelativeResize="0"/>
          <p:nvPr/>
        </p:nvPicPr>
        <p:blipFill rotWithShape="1">
          <a:blip r:embed="rId3">
            <a:alphaModFix/>
          </a:blip>
          <a:srcRect/>
          <a:stretch/>
        </p:blipFill>
        <p:spPr>
          <a:xfrm>
            <a:off x="1376218" y="286327"/>
            <a:ext cx="5070764" cy="6142182"/>
          </a:xfrm>
          <a:prstGeom prst="rect">
            <a:avLst/>
          </a:prstGeom>
          <a:noFill/>
          <a:ln>
            <a:noFill/>
          </a:ln>
        </p:spPr>
      </p:pic>
      <p:pic>
        <p:nvPicPr>
          <p:cNvPr id="247" name="Google Shape;247;p40"/>
          <p:cNvPicPr preferRelativeResize="0"/>
          <p:nvPr/>
        </p:nvPicPr>
        <p:blipFill rotWithShape="1">
          <a:blip r:embed="rId4">
            <a:alphaModFix/>
          </a:blip>
          <a:srcRect/>
          <a:stretch/>
        </p:blipFill>
        <p:spPr>
          <a:xfrm>
            <a:off x="6446982" y="2299855"/>
            <a:ext cx="2552700" cy="238298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pic>
        <p:nvPicPr>
          <p:cNvPr id="252" name="Google Shape;252;p41"/>
          <p:cNvPicPr preferRelativeResize="0"/>
          <p:nvPr/>
        </p:nvPicPr>
        <p:blipFill rotWithShape="1">
          <a:blip r:embed="rId3">
            <a:alphaModFix/>
          </a:blip>
          <a:srcRect/>
          <a:stretch/>
        </p:blipFill>
        <p:spPr>
          <a:xfrm>
            <a:off x="2743200" y="738909"/>
            <a:ext cx="3888509" cy="532014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2"/>
          <p:cNvSpPr txBox="1"/>
          <p:nvPr/>
        </p:nvSpPr>
        <p:spPr>
          <a:xfrm>
            <a:off x="2590800" y="533400"/>
            <a:ext cx="3810000" cy="381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sleep() </a:t>
            </a:r>
            <a:endParaRPr/>
          </a:p>
        </p:txBody>
      </p:sp>
      <p:sp>
        <p:nvSpPr>
          <p:cNvPr id="258" name="Google Shape;258;p42"/>
          <p:cNvSpPr txBox="1"/>
          <p:nvPr/>
        </p:nvSpPr>
        <p:spPr>
          <a:xfrm>
            <a:off x="685800" y="1143000"/>
            <a:ext cx="7696200" cy="923925"/>
          </a:xfrm>
          <a:prstGeom prst="rect">
            <a:avLst/>
          </a:prstGeom>
          <a:solidFill>
            <a:schemeClr val="tx2"/>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800"/>
              <a:buFont typeface="Arial"/>
              <a:buNone/>
            </a:pPr>
            <a:r>
              <a:rPr lang="en-US" sz="1800" b="0" i="0" u="none" dirty="0" err="1">
                <a:solidFill>
                  <a:srgbClr val="FF0000"/>
                </a:solidFill>
                <a:latin typeface="Times New Roman" panose="02020603050405020304" pitchFamily="18" charset="0"/>
                <a:cs typeface="Times New Roman" panose="02020603050405020304" pitchFamily="18" charset="0"/>
                <a:sym typeface="Arial"/>
              </a:rPr>
              <a:t>Thread.sleep</a:t>
            </a:r>
            <a:r>
              <a:rPr lang="en-US" sz="1800" b="0" i="0" u="none" dirty="0">
                <a:solidFill>
                  <a:srgbClr val="FF0000"/>
                </a:solidFill>
                <a:latin typeface="Times New Roman" panose="02020603050405020304" pitchFamily="18" charset="0"/>
                <a:cs typeface="Times New Roman" panose="02020603050405020304" pitchFamily="18" charset="0"/>
                <a:sym typeface="Arial"/>
              </a:rPr>
              <a:t>() </a:t>
            </a:r>
            <a:r>
              <a:rPr lang="en-US" sz="1800" b="0" i="0" u="none" dirty="0">
                <a:solidFill>
                  <a:schemeClr val="dk1"/>
                </a:solidFill>
                <a:latin typeface="Arial"/>
                <a:ea typeface="Arial"/>
                <a:cs typeface="Arial"/>
                <a:sym typeface="Arial"/>
              </a:rPr>
              <a:t>method can be used to pause the execution of current thread for specified time in milliseconds. The argument value for milliseconds can’t be negative, else it throws </a:t>
            </a:r>
            <a:r>
              <a:rPr lang="en-US" sz="1800" b="0" i="0" u="none" dirty="0" err="1">
                <a:solidFill>
                  <a:schemeClr val="dk1"/>
                </a:solidFill>
                <a:latin typeface="Arial"/>
                <a:ea typeface="Arial"/>
                <a:cs typeface="Arial"/>
                <a:sym typeface="Arial"/>
              </a:rPr>
              <a:t>IllegalArgumentException</a:t>
            </a:r>
            <a:r>
              <a:rPr lang="en-US" sz="1800" b="0" i="0" u="none" dirty="0">
                <a:solidFill>
                  <a:schemeClr val="dk1"/>
                </a:solidFill>
                <a:latin typeface="Arial"/>
                <a:ea typeface="Arial"/>
                <a:cs typeface="Arial"/>
                <a:sym typeface="Arial"/>
              </a:rPr>
              <a:t>.</a:t>
            </a:r>
            <a:endParaRPr dirty="0"/>
          </a:p>
        </p:txBody>
      </p:sp>
      <p:sp>
        <p:nvSpPr>
          <p:cNvPr id="259" name="Google Shape;259;p42"/>
          <p:cNvSpPr txBox="1"/>
          <p:nvPr/>
        </p:nvSpPr>
        <p:spPr>
          <a:xfrm>
            <a:off x="762000" y="2362200"/>
            <a:ext cx="7620000" cy="1477962"/>
          </a:xfrm>
          <a:prstGeom prst="rect">
            <a:avLst/>
          </a:prstGeom>
          <a:solidFill>
            <a:schemeClr val="tx2"/>
          </a:solid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800"/>
              <a:buFont typeface="Arial"/>
              <a:buNone/>
            </a:pPr>
            <a:r>
              <a:rPr lang="en-US" sz="1800" b="0" i="0" u="none" dirty="0" err="1">
                <a:solidFill>
                  <a:srgbClr val="FF0000"/>
                </a:solidFill>
                <a:latin typeface="Times New Roman" panose="02020603050405020304" pitchFamily="18" charset="0"/>
                <a:cs typeface="Times New Roman" panose="02020603050405020304" pitchFamily="18" charset="0"/>
                <a:sym typeface="Arial"/>
              </a:rPr>
              <a:t>Thread.sleep</a:t>
            </a:r>
            <a:r>
              <a:rPr lang="en-US" sz="1800" b="0" i="0" u="none" dirty="0">
                <a:solidFill>
                  <a:srgbClr val="FF0000"/>
                </a:solidFill>
                <a:latin typeface="Times New Roman" panose="02020603050405020304" pitchFamily="18" charset="0"/>
                <a:cs typeface="Times New Roman" panose="02020603050405020304" pitchFamily="18" charset="0"/>
                <a:sym typeface="Arial"/>
              </a:rPr>
              <a:t>() </a:t>
            </a:r>
            <a:r>
              <a:rPr lang="en-US" sz="1800" b="0" i="0" u="none" dirty="0">
                <a:solidFill>
                  <a:schemeClr val="dk1"/>
                </a:solidFill>
                <a:latin typeface="Times New Roman" panose="02020603050405020304" pitchFamily="18" charset="0"/>
                <a:cs typeface="Times New Roman" panose="02020603050405020304" pitchFamily="18" charset="0"/>
                <a:sym typeface="Arial"/>
              </a:rPr>
              <a:t>interacts with the thread scheduler to put the current thread in wait state for specified period of time. Once the wait time is over, thread state is changed to runnable state and wait for the CPU for further execution. So the actual time that current thread sleep depends on the thread scheduler that is part of operating system</a:t>
            </a:r>
            <a:endParaRPr dirty="0">
              <a:latin typeface="Times New Roman" panose="02020603050405020304" pitchFamily="18" charset="0"/>
              <a:cs typeface="Times New Roman" panose="02020603050405020304" pitchFamily="18" charset="0"/>
            </a:endParaRPr>
          </a:p>
        </p:txBody>
      </p:sp>
      <p:sp>
        <p:nvSpPr>
          <p:cNvPr id="260" name="Google Shape;260;p42"/>
          <p:cNvSpPr txBox="1"/>
          <p:nvPr/>
        </p:nvSpPr>
        <p:spPr>
          <a:xfrm>
            <a:off x="762000" y="4361873"/>
            <a:ext cx="7543800" cy="646112"/>
          </a:xfrm>
          <a:prstGeom prst="rect">
            <a:avLst/>
          </a:prstGeom>
          <a:solidFill>
            <a:schemeClr val="tx2"/>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sleep() should be always written within a try catch block as it will throw an </a:t>
            </a:r>
            <a:r>
              <a:rPr lang="en-US" sz="1800" b="0" i="0" u="none" dirty="0" err="1">
                <a:solidFill>
                  <a:schemeClr val="dk1"/>
                </a:solidFill>
                <a:latin typeface="Arial"/>
                <a:ea typeface="Arial"/>
                <a:cs typeface="Arial"/>
                <a:sym typeface="Arial"/>
              </a:rPr>
              <a:t>InterruptedException</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3"/>
          <p:cNvSpPr txBox="1"/>
          <p:nvPr/>
        </p:nvSpPr>
        <p:spPr>
          <a:xfrm>
            <a:off x="3733800" y="457200"/>
            <a:ext cx="1698625"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1800"/>
              <a:buFont typeface="Arial"/>
              <a:buNone/>
            </a:pPr>
            <a:r>
              <a:rPr lang="en-US" sz="1800" b="0" i="0" u="none">
                <a:solidFill>
                  <a:srgbClr val="FF0000"/>
                </a:solidFill>
                <a:latin typeface="Arial"/>
                <a:ea typeface="Arial"/>
                <a:cs typeface="Arial"/>
                <a:sym typeface="Arial"/>
              </a:rPr>
              <a:t>Thread Priority</a:t>
            </a:r>
            <a:endParaRPr/>
          </a:p>
        </p:txBody>
      </p:sp>
      <p:sp>
        <p:nvSpPr>
          <p:cNvPr id="266" name="Google Shape;266;p43"/>
          <p:cNvSpPr txBox="1"/>
          <p:nvPr/>
        </p:nvSpPr>
        <p:spPr>
          <a:xfrm>
            <a:off x="838200" y="1676400"/>
            <a:ext cx="8077200" cy="4456112"/>
          </a:xfrm>
          <a:prstGeom prst="rect">
            <a:avLst/>
          </a:prstGeom>
          <a:noFill/>
          <a:ln>
            <a:noFill/>
          </a:ln>
        </p:spPr>
        <p:txBody>
          <a:bodyPr spcFirstLastPara="1" wrap="square" lIns="91425" tIns="45700" rIns="91425" bIns="45700" anchor="t" anchorCtr="0">
            <a:noAutofit/>
          </a:bodyPr>
          <a:lstStyle/>
          <a:p>
            <a:pPr marR="0" lvl="0" algn="l" rtl="0">
              <a:lnSpc>
                <a:spcPct val="100000"/>
              </a:lnSpc>
              <a:spcBef>
                <a:spcPts val="0"/>
              </a:spcBef>
              <a:spcAft>
                <a:spcPts val="0"/>
              </a:spcAft>
              <a:buClr>
                <a:schemeClr val="dk1"/>
              </a:buClr>
              <a:buSzPts val="2800"/>
            </a:pPr>
            <a:r>
              <a:rPr lang="en-US" sz="2800" b="0" i="0" u="none" dirty="0">
                <a:solidFill>
                  <a:schemeClr val="dk1"/>
                </a:solidFill>
                <a:latin typeface="Times New Roman" panose="02020603050405020304" pitchFamily="18" charset="0"/>
                <a:ea typeface="Calibri"/>
                <a:cs typeface="Times New Roman" panose="02020603050405020304" pitchFamily="18" charset="0"/>
                <a:sym typeface="Calibri"/>
              </a:rPr>
              <a:t>In Java, each thread is assigned priority, which affects the order in which it is scheduled for running. The threads so far had same default priority (NORM_PRIORITY) and they are served using FCFS policy.</a:t>
            </a:r>
            <a:endParaRPr dirty="0">
              <a:latin typeface="Times New Roman" panose="02020603050405020304" pitchFamily="18" charset="0"/>
              <a:cs typeface="Times New Roman" panose="02020603050405020304" pitchFamily="18" charset="0"/>
            </a:endParaRPr>
          </a:p>
          <a:p>
            <a:pPr marL="457200" marR="0" lvl="1" algn="l" rtl="0">
              <a:lnSpc>
                <a:spcPct val="100000"/>
              </a:lnSpc>
              <a:spcBef>
                <a:spcPts val="480"/>
              </a:spcBef>
              <a:spcAft>
                <a:spcPts val="0"/>
              </a:spcAft>
              <a:buClr>
                <a:schemeClr val="dk1"/>
              </a:buClr>
              <a:buSzPts val="2400"/>
            </a:pPr>
            <a:r>
              <a:rPr lang="en-US" sz="24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Java allows users to change priority:</a:t>
            </a:r>
            <a:endParaRPr dirty="0">
              <a:latin typeface="Times New Roman" panose="02020603050405020304" pitchFamily="18" charset="0"/>
              <a:cs typeface="Times New Roman" panose="02020603050405020304" pitchFamily="18" charset="0"/>
            </a:endParaRPr>
          </a:p>
          <a:p>
            <a:pPr marL="914400" marR="0" lvl="2" algn="l" rtl="0">
              <a:lnSpc>
                <a:spcPct val="100000"/>
              </a:lnSpc>
              <a:spcBef>
                <a:spcPts val="400"/>
              </a:spcBef>
              <a:spcAft>
                <a:spcPts val="0"/>
              </a:spcAft>
              <a:buClr>
                <a:schemeClr val="dk1"/>
              </a:buClr>
              <a:buSzPts val="2000"/>
            </a:pPr>
            <a:r>
              <a:rPr lang="en-US" sz="2000"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ThreadName.setPriority</a:t>
            </a:r>
            <a:r>
              <a:rPr lang="en-US" sz="20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a:t>
            </a:r>
            <a:r>
              <a:rPr lang="en-US" sz="2000" b="0"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intNumber</a:t>
            </a:r>
            <a:r>
              <a:rPr lang="en-US" sz="20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a:t>
            </a:r>
            <a:endParaRPr dirty="0">
              <a:latin typeface="Times New Roman" panose="02020603050405020304" pitchFamily="18" charset="0"/>
              <a:cs typeface="Times New Roman" panose="02020603050405020304" pitchFamily="18" charset="0"/>
            </a:endParaRPr>
          </a:p>
          <a:p>
            <a:pPr marL="1371600" marR="0" lvl="3" algn="l" rtl="0">
              <a:lnSpc>
                <a:spcPct val="100000"/>
              </a:lnSpc>
              <a:spcBef>
                <a:spcPts val="360"/>
              </a:spcBef>
              <a:spcAft>
                <a:spcPts val="0"/>
              </a:spcAft>
              <a:buClr>
                <a:schemeClr val="dk1"/>
              </a:buClr>
              <a:buSzPts val="1800"/>
            </a:pPr>
            <a:r>
              <a:rPr lang="en-US" sz="1800" b="0"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rPr>
              <a:t>MIN_PRIORITY = 1</a:t>
            </a:r>
            <a:endParaRPr dirty="0">
              <a:solidFill>
                <a:srgbClr val="FF0000"/>
              </a:solidFill>
              <a:latin typeface="Times New Roman" panose="02020603050405020304" pitchFamily="18" charset="0"/>
              <a:cs typeface="Times New Roman" panose="02020603050405020304" pitchFamily="18" charset="0"/>
            </a:endParaRPr>
          </a:p>
          <a:p>
            <a:pPr marL="1371600" marR="0" lvl="3" algn="l" rtl="0">
              <a:lnSpc>
                <a:spcPct val="100000"/>
              </a:lnSpc>
              <a:spcBef>
                <a:spcPts val="360"/>
              </a:spcBef>
              <a:spcAft>
                <a:spcPts val="0"/>
              </a:spcAft>
              <a:buClr>
                <a:schemeClr val="dk1"/>
              </a:buClr>
              <a:buSzPts val="1800"/>
            </a:pPr>
            <a:r>
              <a:rPr lang="en-US" sz="1800" b="0"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rPr>
              <a:t>NORM_PRIORITY=5</a:t>
            </a:r>
            <a:endParaRPr dirty="0">
              <a:solidFill>
                <a:srgbClr val="FF0000"/>
              </a:solidFill>
              <a:latin typeface="Times New Roman" panose="02020603050405020304" pitchFamily="18" charset="0"/>
              <a:cs typeface="Times New Roman" panose="02020603050405020304" pitchFamily="18" charset="0"/>
            </a:endParaRPr>
          </a:p>
          <a:p>
            <a:pPr marL="1371600" marR="0" lvl="3" algn="l" rtl="0">
              <a:lnSpc>
                <a:spcPct val="100000"/>
              </a:lnSpc>
              <a:spcBef>
                <a:spcPts val="360"/>
              </a:spcBef>
              <a:spcAft>
                <a:spcPts val="0"/>
              </a:spcAft>
              <a:buClr>
                <a:schemeClr val="dk1"/>
              </a:buClr>
              <a:buSzPts val="1800"/>
            </a:pPr>
            <a:r>
              <a:rPr lang="en-US" sz="1800" b="0"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rPr>
              <a:t>MAX_PRIORITY=10</a:t>
            </a:r>
            <a:endParaRPr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4"/>
          <p:cNvSpPr txBox="1"/>
          <p:nvPr/>
        </p:nvSpPr>
        <p:spPr>
          <a:xfrm>
            <a:off x="609600" y="951345"/>
            <a:ext cx="8077200" cy="5837381"/>
          </a:xfrm>
          <a:prstGeom prst="rect">
            <a:avLst/>
          </a:prstGeom>
          <a:solidFill>
            <a:schemeClr val="tx1"/>
          </a:solid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class X extends Thread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public void run()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a:t>
            </a:r>
            <a:r>
              <a:rPr lang="en-US" sz="1400" b="0" i="0" u="none" dirty="0" err="1">
                <a:solidFill>
                  <a:schemeClr val="bg1"/>
                </a:solidFill>
                <a:latin typeface="Consolas" panose="020B0609020204030204" pitchFamily="49" charset="0"/>
                <a:ea typeface="Calibri"/>
                <a:cs typeface="Calibri"/>
                <a:sym typeface="Calibri"/>
              </a:rPr>
              <a:t>System.out.println</a:t>
            </a:r>
            <a:r>
              <a:rPr lang="en-US" sz="1400" b="0" i="0" u="none" dirty="0">
                <a:solidFill>
                  <a:schemeClr val="bg1"/>
                </a:solidFill>
                <a:latin typeface="Consolas" panose="020B0609020204030204" pitchFamily="49" charset="0"/>
                <a:ea typeface="Calibri"/>
                <a:cs typeface="Calibri"/>
                <a:sym typeface="Calibri"/>
              </a:rPr>
              <a:t>("Thread x Started");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for(int </a:t>
            </a:r>
            <a:r>
              <a:rPr lang="en-US" sz="1400" b="0" i="0" u="none" dirty="0" err="1">
                <a:solidFill>
                  <a:schemeClr val="bg1"/>
                </a:solidFill>
                <a:latin typeface="Consolas" panose="020B0609020204030204" pitchFamily="49" charset="0"/>
                <a:ea typeface="Calibri"/>
                <a:cs typeface="Calibri"/>
                <a:sym typeface="Calibri"/>
              </a:rPr>
              <a:t>i</a:t>
            </a:r>
            <a:r>
              <a:rPr lang="en-US" sz="1400" b="0" i="0" u="none" dirty="0">
                <a:solidFill>
                  <a:schemeClr val="bg1"/>
                </a:solidFill>
                <a:latin typeface="Consolas" panose="020B0609020204030204" pitchFamily="49" charset="0"/>
                <a:ea typeface="Calibri"/>
                <a:cs typeface="Calibri"/>
                <a:sym typeface="Calibri"/>
              </a:rPr>
              <a:t>=0; </a:t>
            </a:r>
            <a:r>
              <a:rPr lang="en-US" sz="1400" b="0" i="0" u="none" dirty="0" err="1">
                <a:solidFill>
                  <a:schemeClr val="bg1"/>
                </a:solidFill>
                <a:latin typeface="Consolas" panose="020B0609020204030204" pitchFamily="49" charset="0"/>
                <a:ea typeface="Calibri"/>
                <a:cs typeface="Calibri"/>
                <a:sym typeface="Calibri"/>
              </a:rPr>
              <a:t>i</a:t>
            </a:r>
            <a:r>
              <a:rPr lang="en-US" sz="1400" b="0" i="0" u="none" dirty="0">
                <a:solidFill>
                  <a:schemeClr val="bg1"/>
                </a:solidFill>
                <a:latin typeface="Consolas" panose="020B0609020204030204" pitchFamily="49" charset="0"/>
                <a:ea typeface="Calibri"/>
                <a:cs typeface="Calibri"/>
                <a:sym typeface="Calibri"/>
              </a:rPr>
              <a:t>&lt;5; </a:t>
            </a:r>
            <a:r>
              <a:rPr lang="en-US" sz="1400" b="0" i="0" u="none" dirty="0" err="1">
                <a:solidFill>
                  <a:schemeClr val="bg1"/>
                </a:solidFill>
                <a:latin typeface="Consolas" panose="020B0609020204030204" pitchFamily="49" charset="0"/>
                <a:ea typeface="Calibri"/>
                <a:cs typeface="Calibri"/>
                <a:sym typeface="Calibri"/>
              </a:rPr>
              <a:t>i</a:t>
            </a:r>
            <a:r>
              <a:rPr lang="en-US" sz="1400" b="0" i="0" u="none" dirty="0">
                <a:solidFill>
                  <a:schemeClr val="bg1"/>
                </a:solidFill>
                <a:latin typeface="Consolas" panose="020B0609020204030204" pitchFamily="49" charset="0"/>
                <a:ea typeface="Calibri"/>
                <a:cs typeface="Calibri"/>
                <a:sym typeface="Calibri"/>
              </a:rPr>
              <a:t>++)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a:t>
            </a:r>
            <a:r>
              <a:rPr lang="en-US" sz="1400" b="0" i="0" u="none" dirty="0" err="1">
                <a:solidFill>
                  <a:schemeClr val="bg1"/>
                </a:solidFill>
                <a:latin typeface="Consolas" panose="020B0609020204030204" pitchFamily="49" charset="0"/>
                <a:ea typeface="Calibri"/>
                <a:cs typeface="Calibri"/>
                <a:sym typeface="Calibri"/>
              </a:rPr>
              <a:t>System.out.println</a:t>
            </a:r>
            <a:r>
              <a:rPr lang="en-US" sz="1400" b="0" i="0" u="none" dirty="0">
                <a:solidFill>
                  <a:schemeClr val="bg1"/>
                </a:solidFill>
                <a:latin typeface="Consolas" panose="020B0609020204030204" pitchFamily="49" charset="0"/>
                <a:ea typeface="Calibri"/>
                <a:cs typeface="Calibri"/>
                <a:sym typeface="Calibri"/>
              </a:rPr>
              <a:t>("\t value of </a:t>
            </a:r>
            <a:r>
              <a:rPr lang="en-US" sz="1400" b="0" i="0" u="none" dirty="0" err="1">
                <a:solidFill>
                  <a:schemeClr val="bg1"/>
                </a:solidFill>
                <a:latin typeface="Consolas" panose="020B0609020204030204" pitchFamily="49" charset="0"/>
                <a:ea typeface="Calibri"/>
                <a:cs typeface="Calibri"/>
                <a:sym typeface="Calibri"/>
              </a:rPr>
              <a:t>i</a:t>
            </a:r>
            <a:r>
              <a:rPr lang="en-US" sz="1400" b="0" i="0" u="none" dirty="0">
                <a:solidFill>
                  <a:schemeClr val="bg1"/>
                </a:solidFill>
                <a:latin typeface="Consolas" panose="020B0609020204030204" pitchFamily="49" charset="0"/>
                <a:ea typeface="Calibri"/>
                <a:cs typeface="Calibri"/>
                <a:sym typeface="Calibri"/>
              </a:rPr>
              <a:t> in Thread x : " + </a:t>
            </a:r>
            <a:r>
              <a:rPr lang="en-US" sz="1400" b="0" i="0" u="none" dirty="0" err="1">
                <a:solidFill>
                  <a:schemeClr val="bg1"/>
                </a:solidFill>
                <a:latin typeface="Consolas" panose="020B0609020204030204" pitchFamily="49" charset="0"/>
                <a:ea typeface="Calibri"/>
                <a:cs typeface="Calibri"/>
                <a:sym typeface="Calibri"/>
              </a:rPr>
              <a:t>i</a:t>
            </a:r>
            <a:r>
              <a:rPr lang="en-US" sz="1400" b="0" i="0" u="none" dirty="0">
                <a:solidFill>
                  <a:schemeClr val="bg1"/>
                </a:solidFill>
                <a:latin typeface="Consolas" panose="020B0609020204030204" pitchFamily="49" charset="0"/>
                <a:ea typeface="Calibri"/>
                <a:cs typeface="Calibri"/>
                <a:sym typeface="Calibri"/>
              </a:rPr>
              <a:t>);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a:t>
            </a:r>
            <a:r>
              <a:rPr lang="en-US" sz="1400" b="0" i="0" u="none" dirty="0" err="1">
                <a:solidFill>
                  <a:schemeClr val="bg1"/>
                </a:solidFill>
                <a:latin typeface="Consolas" panose="020B0609020204030204" pitchFamily="49" charset="0"/>
                <a:ea typeface="Calibri"/>
                <a:cs typeface="Calibri"/>
                <a:sym typeface="Calibri"/>
              </a:rPr>
              <a:t>System.out.println</a:t>
            </a:r>
            <a:r>
              <a:rPr lang="en-US" sz="1400" b="0" i="0" u="none" dirty="0">
                <a:solidFill>
                  <a:schemeClr val="bg1"/>
                </a:solidFill>
                <a:latin typeface="Consolas" panose="020B0609020204030204" pitchFamily="49" charset="0"/>
                <a:ea typeface="Calibri"/>
                <a:cs typeface="Calibri"/>
                <a:sym typeface="Calibri"/>
              </a:rPr>
              <a:t>("</a:t>
            </a:r>
            <a:r>
              <a:rPr lang="en-US" sz="1400" b="0" i="0" u="none" dirty="0" err="1">
                <a:solidFill>
                  <a:schemeClr val="bg1"/>
                </a:solidFill>
                <a:latin typeface="Consolas" panose="020B0609020204030204" pitchFamily="49" charset="0"/>
                <a:ea typeface="Calibri"/>
                <a:cs typeface="Calibri"/>
                <a:sym typeface="Calibri"/>
              </a:rPr>
              <a:t>Threadx</a:t>
            </a:r>
            <a:r>
              <a:rPr lang="en-US" sz="1400" b="0" i="0" u="none" dirty="0">
                <a:solidFill>
                  <a:schemeClr val="bg1"/>
                </a:solidFill>
                <a:latin typeface="Consolas" panose="020B0609020204030204" pitchFamily="49" charset="0"/>
                <a:ea typeface="Calibri"/>
                <a:cs typeface="Calibri"/>
                <a:sym typeface="Calibri"/>
              </a:rPr>
              <a:t> finished ");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class Y extends Thread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public void run()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a:t>
            </a:r>
            <a:r>
              <a:rPr lang="en-US" sz="1400" b="0" i="0" u="none" dirty="0" err="1">
                <a:solidFill>
                  <a:schemeClr val="bg1"/>
                </a:solidFill>
                <a:latin typeface="Consolas" panose="020B0609020204030204" pitchFamily="49" charset="0"/>
                <a:ea typeface="Calibri"/>
                <a:cs typeface="Calibri"/>
                <a:sym typeface="Calibri"/>
              </a:rPr>
              <a:t>System.out.println</a:t>
            </a:r>
            <a:r>
              <a:rPr lang="en-US" sz="1400" b="0" i="0" u="none" dirty="0">
                <a:solidFill>
                  <a:schemeClr val="bg1"/>
                </a:solidFill>
                <a:latin typeface="Consolas" panose="020B0609020204030204" pitchFamily="49" charset="0"/>
                <a:ea typeface="Calibri"/>
                <a:cs typeface="Calibri"/>
                <a:sym typeface="Calibri"/>
              </a:rPr>
              <a:t>("Thread Y started");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for(int </a:t>
            </a:r>
            <a:r>
              <a:rPr lang="en-US" sz="1400" b="0" i="0" u="none" dirty="0" err="1">
                <a:solidFill>
                  <a:schemeClr val="bg1"/>
                </a:solidFill>
                <a:latin typeface="Consolas" panose="020B0609020204030204" pitchFamily="49" charset="0"/>
                <a:ea typeface="Calibri"/>
                <a:cs typeface="Calibri"/>
                <a:sym typeface="Calibri"/>
              </a:rPr>
              <a:t>i</a:t>
            </a:r>
            <a:r>
              <a:rPr lang="en-US" sz="1400" b="0" i="0" u="none" dirty="0">
                <a:solidFill>
                  <a:schemeClr val="bg1"/>
                </a:solidFill>
                <a:latin typeface="Consolas" panose="020B0609020204030204" pitchFamily="49" charset="0"/>
                <a:ea typeface="Calibri"/>
                <a:cs typeface="Calibri"/>
                <a:sym typeface="Calibri"/>
              </a:rPr>
              <a:t>=0; </a:t>
            </a:r>
            <a:r>
              <a:rPr lang="en-US" sz="1400" b="0" i="0" u="none" dirty="0" err="1">
                <a:solidFill>
                  <a:schemeClr val="bg1"/>
                </a:solidFill>
                <a:latin typeface="Consolas" panose="020B0609020204030204" pitchFamily="49" charset="0"/>
                <a:ea typeface="Calibri"/>
                <a:cs typeface="Calibri"/>
                <a:sym typeface="Calibri"/>
              </a:rPr>
              <a:t>i</a:t>
            </a:r>
            <a:r>
              <a:rPr lang="en-US" sz="1400" b="0" i="0" u="none" dirty="0">
                <a:solidFill>
                  <a:schemeClr val="bg1"/>
                </a:solidFill>
                <a:latin typeface="Consolas" panose="020B0609020204030204" pitchFamily="49" charset="0"/>
                <a:ea typeface="Calibri"/>
                <a:cs typeface="Calibri"/>
                <a:sym typeface="Calibri"/>
              </a:rPr>
              <a:t>&lt;5; </a:t>
            </a:r>
            <a:r>
              <a:rPr lang="en-US" sz="1400" b="0" i="0" u="none" dirty="0" err="1">
                <a:solidFill>
                  <a:schemeClr val="bg1"/>
                </a:solidFill>
                <a:latin typeface="Consolas" panose="020B0609020204030204" pitchFamily="49" charset="0"/>
                <a:ea typeface="Calibri"/>
                <a:cs typeface="Calibri"/>
                <a:sym typeface="Calibri"/>
              </a:rPr>
              <a:t>i</a:t>
            </a:r>
            <a:r>
              <a:rPr lang="en-US" sz="1400" b="0" i="0" u="none" dirty="0">
                <a:solidFill>
                  <a:schemeClr val="bg1"/>
                </a:solidFill>
                <a:latin typeface="Consolas" panose="020B0609020204030204" pitchFamily="49" charset="0"/>
                <a:ea typeface="Calibri"/>
                <a:cs typeface="Calibri"/>
                <a:sym typeface="Calibri"/>
              </a:rPr>
              <a:t>++)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a:t>
            </a:r>
            <a:r>
              <a:rPr lang="en-US" sz="1400" b="0" i="0" u="none" dirty="0" err="1">
                <a:solidFill>
                  <a:schemeClr val="bg1"/>
                </a:solidFill>
                <a:latin typeface="Consolas" panose="020B0609020204030204" pitchFamily="49" charset="0"/>
                <a:ea typeface="Calibri"/>
                <a:cs typeface="Calibri"/>
                <a:sym typeface="Calibri"/>
              </a:rPr>
              <a:t>System.out.println</a:t>
            </a:r>
            <a:r>
              <a:rPr lang="en-US" sz="1400" b="0" i="0" u="none" dirty="0">
                <a:solidFill>
                  <a:schemeClr val="bg1"/>
                </a:solidFill>
                <a:latin typeface="Consolas" panose="020B0609020204030204" pitchFamily="49" charset="0"/>
                <a:ea typeface="Calibri"/>
                <a:cs typeface="Calibri"/>
                <a:sym typeface="Calibri"/>
              </a:rPr>
              <a:t>("\</a:t>
            </a:r>
            <a:r>
              <a:rPr lang="en-US" sz="1400" b="0" i="0" u="none" dirty="0" err="1">
                <a:solidFill>
                  <a:schemeClr val="bg1"/>
                </a:solidFill>
                <a:latin typeface="Consolas" panose="020B0609020204030204" pitchFamily="49" charset="0"/>
                <a:ea typeface="Calibri"/>
                <a:cs typeface="Calibri"/>
                <a:sym typeface="Calibri"/>
              </a:rPr>
              <a:t>tValue</a:t>
            </a:r>
            <a:r>
              <a:rPr lang="en-US" sz="1400" b="0" i="0" u="none" dirty="0">
                <a:solidFill>
                  <a:schemeClr val="bg1"/>
                </a:solidFill>
                <a:latin typeface="Consolas" panose="020B0609020204030204" pitchFamily="49" charset="0"/>
                <a:ea typeface="Calibri"/>
                <a:cs typeface="Calibri"/>
                <a:sym typeface="Calibri"/>
              </a:rPr>
              <a:t> of </a:t>
            </a:r>
            <a:r>
              <a:rPr lang="en-US" sz="1400" b="0" i="0" u="none" dirty="0" err="1">
                <a:solidFill>
                  <a:schemeClr val="bg1"/>
                </a:solidFill>
                <a:latin typeface="Consolas" panose="020B0609020204030204" pitchFamily="49" charset="0"/>
                <a:ea typeface="Calibri"/>
                <a:cs typeface="Calibri"/>
                <a:sym typeface="Calibri"/>
              </a:rPr>
              <a:t>i</a:t>
            </a:r>
            <a:r>
              <a:rPr lang="en-US" sz="1400" b="0" i="0" u="none" dirty="0">
                <a:solidFill>
                  <a:schemeClr val="bg1"/>
                </a:solidFill>
                <a:latin typeface="Consolas" panose="020B0609020204030204" pitchFamily="49" charset="0"/>
                <a:ea typeface="Calibri"/>
                <a:cs typeface="Calibri"/>
                <a:sym typeface="Calibri"/>
              </a:rPr>
              <a:t> in Thread Y : " + </a:t>
            </a:r>
            <a:r>
              <a:rPr lang="en-US" sz="1400" b="0" i="0" u="none" dirty="0" err="1">
                <a:solidFill>
                  <a:schemeClr val="bg1"/>
                </a:solidFill>
                <a:latin typeface="Consolas" panose="020B0609020204030204" pitchFamily="49" charset="0"/>
                <a:ea typeface="Calibri"/>
                <a:cs typeface="Calibri"/>
                <a:sym typeface="Calibri"/>
              </a:rPr>
              <a:t>i</a:t>
            </a:r>
            <a:r>
              <a:rPr lang="en-US" sz="1400" b="0" i="0" u="none" dirty="0">
                <a:solidFill>
                  <a:schemeClr val="bg1"/>
                </a:solidFill>
                <a:latin typeface="Consolas" panose="020B0609020204030204" pitchFamily="49" charset="0"/>
                <a:ea typeface="Calibri"/>
                <a:cs typeface="Calibri"/>
                <a:sym typeface="Calibri"/>
              </a:rPr>
              <a:t>);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a:t>
            </a:r>
            <a:r>
              <a:rPr lang="en-US" sz="1400" b="0" i="0" u="none" dirty="0" err="1">
                <a:solidFill>
                  <a:schemeClr val="bg1"/>
                </a:solidFill>
                <a:latin typeface="Consolas" panose="020B0609020204030204" pitchFamily="49" charset="0"/>
                <a:ea typeface="Calibri"/>
                <a:cs typeface="Calibri"/>
                <a:sym typeface="Calibri"/>
              </a:rPr>
              <a:t>System.out.println</a:t>
            </a:r>
            <a:r>
              <a:rPr lang="en-US" sz="1400" b="0" i="0" u="none" dirty="0">
                <a:solidFill>
                  <a:schemeClr val="bg1"/>
                </a:solidFill>
                <a:latin typeface="Consolas" panose="020B0609020204030204" pitchFamily="49" charset="0"/>
                <a:ea typeface="Calibri"/>
                <a:cs typeface="Calibri"/>
                <a:sym typeface="Calibri"/>
              </a:rPr>
              <a:t>("</a:t>
            </a:r>
            <a:r>
              <a:rPr lang="en-US" sz="1400" b="0" i="0" u="none" dirty="0" err="1">
                <a:solidFill>
                  <a:schemeClr val="bg1"/>
                </a:solidFill>
                <a:latin typeface="Consolas" panose="020B0609020204030204" pitchFamily="49" charset="0"/>
                <a:ea typeface="Calibri"/>
                <a:cs typeface="Calibri"/>
                <a:sym typeface="Calibri"/>
              </a:rPr>
              <a:t>ThreadY</a:t>
            </a:r>
            <a:r>
              <a:rPr lang="en-US" sz="1400" b="0" i="0" u="none" dirty="0">
                <a:solidFill>
                  <a:schemeClr val="bg1"/>
                </a:solidFill>
                <a:latin typeface="Consolas" panose="020B0609020204030204" pitchFamily="49" charset="0"/>
                <a:ea typeface="Calibri"/>
                <a:cs typeface="Calibri"/>
                <a:sym typeface="Calibri"/>
              </a:rPr>
              <a:t> Finished");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 </a:t>
            </a:r>
            <a:endParaRPr dirty="0">
              <a:solidFill>
                <a:schemeClr val="bg1"/>
              </a:solidFill>
              <a:latin typeface="Consolas" panose="020B0609020204030204" pitchFamily="49" charset="0"/>
            </a:endParaRPr>
          </a:p>
          <a:p>
            <a:pPr marL="342900" marR="0" lvl="0" indent="-342900" algn="l" rtl="0">
              <a:lnSpc>
                <a:spcPct val="80000"/>
              </a:lnSpc>
              <a:spcBef>
                <a:spcPts val="280"/>
              </a:spcBef>
              <a:spcAft>
                <a:spcPts val="0"/>
              </a:spcAft>
              <a:buClr>
                <a:schemeClr val="dk1"/>
              </a:buClr>
              <a:buSzPts val="1400"/>
              <a:buFont typeface="Calibri"/>
              <a:buNone/>
            </a:pPr>
            <a:r>
              <a:rPr lang="en-US" sz="1400" b="0" i="0" u="none" dirty="0">
                <a:solidFill>
                  <a:schemeClr val="bg1"/>
                </a:solidFill>
                <a:latin typeface="Consolas" panose="020B0609020204030204" pitchFamily="49" charset="0"/>
                <a:ea typeface="Calibri"/>
                <a:cs typeface="Calibri"/>
                <a:sym typeface="Calibri"/>
              </a:rPr>
              <a:t> }</a:t>
            </a:r>
            <a:endParaRPr dirty="0">
              <a:solidFill>
                <a:schemeClr val="bg1"/>
              </a:solidFill>
              <a:latin typeface="Consolas" panose="020B0609020204030204" pitchFamily="49" charset="0"/>
            </a:endParaRPr>
          </a:p>
        </p:txBody>
      </p:sp>
      <p:sp>
        <p:nvSpPr>
          <p:cNvPr id="272" name="Google Shape;272;p44"/>
          <p:cNvSpPr txBox="1"/>
          <p:nvPr/>
        </p:nvSpPr>
        <p:spPr>
          <a:xfrm>
            <a:off x="152400" y="152400"/>
            <a:ext cx="8791575" cy="990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4400"/>
              <a:buFont typeface="Calibri"/>
              <a:buNone/>
            </a:pPr>
            <a:r>
              <a:rPr lang="en-US" sz="4400" b="0" i="0" u="none">
                <a:solidFill>
                  <a:schemeClr val="dk1"/>
                </a:solidFill>
                <a:latin typeface="Calibri"/>
                <a:ea typeface="Calibri"/>
                <a:cs typeface="Calibri"/>
                <a:sym typeface="Calibri"/>
              </a:rPr>
              <a:t>Thread Priority Example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5"/>
          <p:cNvSpPr txBox="1"/>
          <p:nvPr/>
        </p:nvSpPr>
        <p:spPr>
          <a:xfrm>
            <a:off x="457200" y="138545"/>
            <a:ext cx="8077200" cy="6456219"/>
          </a:xfrm>
          <a:prstGeom prst="rect">
            <a:avLst/>
          </a:prstGeom>
          <a:solidFill>
            <a:schemeClr val="tx1"/>
          </a:solid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class Z extends Thread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public void run()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a:t>
            </a:r>
            <a:r>
              <a:rPr lang="en-US" sz="1200" b="0" i="0" u="none" dirty="0" err="1">
                <a:solidFill>
                  <a:schemeClr val="bg1"/>
                </a:solidFill>
                <a:latin typeface="Consolas" panose="020B0609020204030204" pitchFamily="49" charset="0"/>
                <a:ea typeface="Calibri"/>
                <a:cs typeface="Calibri"/>
                <a:sym typeface="Calibri"/>
              </a:rPr>
              <a:t>System.out.println</a:t>
            </a:r>
            <a:r>
              <a:rPr lang="en-US" sz="1200" b="0" i="0" u="none" dirty="0">
                <a:solidFill>
                  <a:schemeClr val="bg1"/>
                </a:solidFill>
                <a:latin typeface="Consolas" panose="020B0609020204030204" pitchFamily="49" charset="0"/>
                <a:ea typeface="Calibri"/>
                <a:cs typeface="Calibri"/>
                <a:sym typeface="Calibri"/>
              </a:rPr>
              <a:t>("Thread Z started");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for(int </a:t>
            </a:r>
            <a:r>
              <a:rPr lang="en-US" sz="1200" b="0" i="0" u="none" dirty="0" err="1">
                <a:solidFill>
                  <a:schemeClr val="bg1"/>
                </a:solidFill>
                <a:latin typeface="Consolas" panose="020B0609020204030204" pitchFamily="49" charset="0"/>
                <a:ea typeface="Calibri"/>
                <a:cs typeface="Calibri"/>
                <a:sym typeface="Calibri"/>
              </a:rPr>
              <a:t>i</a:t>
            </a:r>
            <a:r>
              <a:rPr lang="en-US" sz="1200" b="0" i="0" u="none" dirty="0">
                <a:solidFill>
                  <a:schemeClr val="bg1"/>
                </a:solidFill>
                <a:latin typeface="Consolas" panose="020B0609020204030204" pitchFamily="49" charset="0"/>
                <a:ea typeface="Calibri"/>
                <a:cs typeface="Calibri"/>
                <a:sym typeface="Calibri"/>
              </a:rPr>
              <a:t>=0; </a:t>
            </a:r>
            <a:r>
              <a:rPr lang="en-US" sz="1200" b="0" i="0" u="none" dirty="0" err="1">
                <a:solidFill>
                  <a:schemeClr val="bg1"/>
                </a:solidFill>
                <a:latin typeface="Consolas" panose="020B0609020204030204" pitchFamily="49" charset="0"/>
                <a:ea typeface="Calibri"/>
                <a:cs typeface="Calibri"/>
                <a:sym typeface="Calibri"/>
              </a:rPr>
              <a:t>i</a:t>
            </a:r>
            <a:r>
              <a:rPr lang="en-US" sz="1200" b="0" i="0" u="none" dirty="0">
                <a:solidFill>
                  <a:schemeClr val="bg1"/>
                </a:solidFill>
                <a:latin typeface="Consolas" panose="020B0609020204030204" pitchFamily="49" charset="0"/>
                <a:ea typeface="Calibri"/>
                <a:cs typeface="Calibri"/>
                <a:sym typeface="Calibri"/>
              </a:rPr>
              <a:t>&lt;5; </a:t>
            </a:r>
            <a:r>
              <a:rPr lang="en-US" sz="1200" b="0" i="0" u="none" dirty="0" err="1">
                <a:solidFill>
                  <a:schemeClr val="bg1"/>
                </a:solidFill>
                <a:latin typeface="Consolas" panose="020B0609020204030204" pitchFamily="49" charset="0"/>
                <a:ea typeface="Calibri"/>
                <a:cs typeface="Calibri"/>
                <a:sym typeface="Calibri"/>
              </a:rPr>
              <a:t>i</a:t>
            </a:r>
            <a:r>
              <a:rPr lang="en-US" sz="1200" b="0" i="0" u="none" dirty="0">
                <a:solidFill>
                  <a:schemeClr val="bg1"/>
                </a:solidFill>
                <a:latin typeface="Consolas" panose="020B0609020204030204" pitchFamily="49" charset="0"/>
                <a:ea typeface="Calibri"/>
                <a:cs typeface="Calibri"/>
                <a:sym typeface="Calibri"/>
              </a:rPr>
              <a:t>++)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a:t>
            </a:r>
            <a:r>
              <a:rPr lang="en-US" sz="1200" b="0" i="0" u="none" dirty="0" err="1">
                <a:solidFill>
                  <a:schemeClr val="bg1"/>
                </a:solidFill>
                <a:latin typeface="Consolas" panose="020B0609020204030204" pitchFamily="49" charset="0"/>
                <a:ea typeface="Calibri"/>
                <a:cs typeface="Calibri"/>
                <a:sym typeface="Calibri"/>
              </a:rPr>
              <a:t>System.out.println</a:t>
            </a:r>
            <a:r>
              <a:rPr lang="en-US" sz="1200" b="0" i="0" u="none" dirty="0">
                <a:solidFill>
                  <a:schemeClr val="bg1"/>
                </a:solidFill>
                <a:latin typeface="Consolas" panose="020B0609020204030204" pitchFamily="49" charset="0"/>
                <a:ea typeface="Calibri"/>
                <a:cs typeface="Calibri"/>
                <a:sym typeface="Calibri"/>
              </a:rPr>
              <a:t>("\</a:t>
            </a:r>
            <a:r>
              <a:rPr lang="en-US" sz="1200" b="0" i="0" u="none" dirty="0" err="1">
                <a:solidFill>
                  <a:schemeClr val="bg1"/>
                </a:solidFill>
                <a:latin typeface="Consolas" panose="020B0609020204030204" pitchFamily="49" charset="0"/>
                <a:ea typeface="Calibri"/>
                <a:cs typeface="Calibri"/>
                <a:sym typeface="Calibri"/>
              </a:rPr>
              <a:t>tValue</a:t>
            </a:r>
            <a:r>
              <a:rPr lang="en-US" sz="1200" b="0" i="0" u="none" dirty="0">
                <a:solidFill>
                  <a:schemeClr val="bg1"/>
                </a:solidFill>
                <a:latin typeface="Consolas" panose="020B0609020204030204" pitchFamily="49" charset="0"/>
                <a:ea typeface="Calibri"/>
                <a:cs typeface="Calibri"/>
                <a:sym typeface="Calibri"/>
              </a:rPr>
              <a:t> of </a:t>
            </a:r>
            <a:r>
              <a:rPr lang="en-US" sz="1200" b="0" i="0" u="none" dirty="0" err="1">
                <a:solidFill>
                  <a:schemeClr val="bg1"/>
                </a:solidFill>
                <a:latin typeface="Consolas" panose="020B0609020204030204" pitchFamily="49" charset="0"/>
                <a:ea typeface="Calibri"/>
                <a:cs typeface="Calibri"/>
                <a:sym typeface="Calibri"/>
              </a:rPr>
              <a:t>i</a:t>
            </a:r>
            <a:r>
              <a:rPr lang="en-US" sz="1200" b="0" i="0" u="none" dirty="0">
                <a:solidFill>
                  <a:schemeClr val="bg1"/>
                </a:solidFill>
                <a:latin typeface="Consolas" panose="020B0609020204030204" pitchFamily="49" charset="0"/>
                <a:ea typeface="Calibri"/>
                <a:cs typeface="Calibri"/>
                <a:sym typeface="Calibri"/>
              </a:rPr>
              <a:t> in Thread Z : " + </a:t>
            </a:r>
            <a:r>
              <a:rPr lang="en-US" sz="1200" b="0" i="0" u="none" dirty="0" err="1">
                <a:solidFill>
                  <a:schemeClr val="bg1"/>
                </a:solidFill>
                <a:latin typeface="Consolas" panose="020B0609020204030204" pitchFamily="49" charset="0"/>
                <a:ea typeface="Calibri"/>
                <a:cs typeface="Calibri"/>
                <a:sym typeface="Calibri"/>
              </a:rPr>
              <a:t>i</a:t>
            </a:r>
            <a:r>
              <a:rPr lang="en-US" sz="1200" b="0" i="0" u="none" dirty="0">
                <a:solidFill>
                  <a:schemeClr val="bg1"/>
                </a:solidFill>
                <a:latin typeface="Consolas" panose="020B0609020204030204" pitchFamily="49" charset="0"/>
                <a:ea typeface="Calibri"/>
                <a:cs typeface="Calibri"/>
                <a:sym typeface="Calibri"/>
              </a:rPr>
              <a:t>);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a:t>
            </a:r>
            <a:r>
              <a:rPr lang="en-US" sz="1200" b="0" i="0" u="none" dirty="0" err="1">
                <a:solidFill>
                  <a:schemeClr val="bg1"/>
                </a:solidFill>
                <a:latin typeface="Consolas" panose="020B0609020204030204" pitchFamily="49" charset="0"/>
                <a:ea typeface="Calibri"/>
                <a:cs typeface="Calibri"/>
                <a:sym typeface="Calibri"/>
              </a:rPr>
              <a:t>System.out.println</a:t>
            </a:r>
            <a:r>
              <a:rPr lang="en-US" sz="1200" b="0" i="0" u="none" dirty="0">
                <a:solidFill>
                  <a:schemeClr val="bg1"/>
                </a:solidFill>
                <a:latin typeface="Consolas" panose="020B0609020204030204" pitchFamily="49" charset="0"/>
                <a:ea typeface="Calibri"/>
                <a:cs typeface="Calibri"/>
                <a:sym typeface="Calibri"/>
              </a:rPr>
              <a:t>("</a:t>
            </a:r>
            <a:r>
              <a:rPr lang="en-US" sz="1200" b="0" i="0" u="none" dirty="0" err="1">
                <a:solidFill>
                  <a:schemeClr val="bg1"/>
                </a:solidFill>
                <a:latin typeface="Consolas" panose="020B0609020204030204" pitchFamily="49" charset="0"/>
                <a:ea typeface="Calibri"/>
                <a:cs typeface="Calibri"/>
                <a:sym typeface="Calibri"/>
              </a:rPr>
              <a:t>ThreadZ</a:t>
            </a:r>
            <a:r>
              <a:rPr lang="en-US" sz="1200" b="0" i="0" u="none" dirty="0">
                <a:solidFill>
                  <a:schemeClr val="bg1"/>
                </a:solidFill>
                <a:latin typeface="Consolas" panose="020B0609020204030204" pitchFamily="49" charset="0"/>
                <a:ea typeface="Calibri"/>
                <a:cs typeface="Calibri"/>
                <a:sym typeface="Calibri"/>
              </a:rPr>
              <a:t> Finished");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 </a:t>
            </a:r>
          </a:p>
          <a:p>
            <a:pPr marL="342900" marR="0" lvl="0" indent="-342900" algn="l" rtl="0">
              <a:lnSpc>
                <a:spcPct val="80000"/>
              </a:lnSpc>
              <a:spcBef>
                <a:spcPts val="200"/>
              </a:spcBef>
              <a:spcAft>
                <a:spcPts val="0"/>
              </a:spcAft>
              <a:buClr>
                <a:schemeClr val="dk1"/>
              </a:buClr>
              <a:buSzPts val="1000"/>
              <a:buFont typeface="Calibri"/>
              <a:buNone/>
            </a:pP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class </a:t>
            </a:r>
            <a:r>
              <a:rPr lang="en-US" sz="1200" b="0" i="0" u="none" dirty="0" err="1">
                <a:solidFill>
                  <a:schemeClr val="bg1"/>
                </a:solidFill>
                <a:latin typeface="Consolas" panose="020B0609020204030204" pitchFamily="49" charset="0"/>
                <a:ea typeface="Calibri"/>
                <a:cs typeface="Calibri"/>
                <a:sym typeface="Calibri"/>
              </a:rPr>
              <a:t>ThreadPriority</a:t>
            </a:r>
            <a:r>
              <a:rPr lang="en-US" sz="1200" b="0" i="0" u="none" dirty="0">
                <a:solidFill>
                  <a:schemeClr val="bg1"/>
                </a:solidFill>
                <a:latin typeface="Consolas" panose="020B0609020204030204" pitchFamily="49" charset="0"/>
                <a:ea typeface="Calibri"/>
                <a:cs typeface="Calibri"/>
                <a:sym typeface="Calibri"/>
              </a:rPr>
              <a:t>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public static void main(String[] </a:t>
            </a:r>
            <a:r>
              <a:rPr lang="en-US" sz="1200" b="0" i="0" u="none" dirty="0" err="1">
                <a:solidFill>
                  <a:schemeClr val="bg1"/>
                </a:solidFill>
                <a:latin typeface="Consolas" panose="020B0609020204030204" pitchFamily="49" charset="0"/>
                <a:ea typeface="Calibri"/>
                <a:cs typeface="Calibri"/>
                <a:sym typeface="Calibri"/>
              </a:rPr>
              <a:t>args</a:t>
            </a:r>
            <a:r>
              <a:rPr lang="en-US" sz="1200" b="0" i="0" u="none" dirty="0">
                <a:solidFill>
                  <a:schemeClr val="bg1"/>
                </a:solidFill>
                <a:latin typeface="Consolas" panose="020B0609020204030204" pitchFamily="49" charset="0"/>
                <a:ea typeface="Calibri"/>
                <a:cs typeface="Calibri"/>
                <a:sym typeface="Calibri"/>
              </a:rPr>
              <a:t>)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a:t>
            </a:r>
            <a:r>
              <a:rPr lang="en-US" sz="1200" b="0" i="0" u="none" dirty="0" err="1">
                <a:solidFill>
                  <a:schemeClr val="bg1"/>
                </a:solidFill>
                <a:latin typeface="Consolas" panose="020B0609020204030204" pitchFamily="49" charset="0"/>
                <a:ea typeface="Calibri"/>
                <a:cs typeface="Calibri"/>
                <a:sym typeface="Calibri"/>
              </a:rPr>
              <a:t>System.out.println</a:t>
            </a:r>
            <a:r>
              <a:rPr lang="en-US" sz="1200" b="0" i="0" u="none" dirty="0">
                <a:solidFill>
                  <a:schemeClr val="bg1"/>
                </a:solidFill>
                <a:latin typeface="Consolas" panose="020B0609020204030204" pitchFamily="49" charset="0"/>
                <a:ea typeface="Calibri"/>
                <a:cs typeface="Calibri"/>
                <a:sym typeface="Calibri"/>
              </a:rPr>
              <a:t>("Main thread started");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X </a:t>
            </a:r>
            <a:r>
              <a:rPr lang="en-US" sz="1200" b="0" i="0" u="none" dirty="0" err="1">
                <a:solidFill>
                  <a:schemeClr val="bg1"/>
                </a:solidFill>
                <a:latin typeface="Consolas" panose="020B0609020204030204" pitchFamily="49" charset="0"/>
                <a:ea typeface="Calibri"/>
                <a:cs typeface="Calibri"/>
                <a:sym typeface="Calibri"/>
              </a:rPr>
              <a:t>threadX</a:t>
            </a:r>
            <a:r>
              <a:rPr lang="en-US" sz="1200" b="0" i="0" u="none" dirty="0">
                <a:solidFill>
                  <a:schemeClr val="bg1"/>
                </a:solidFill>
                <a:latin typeface="Consolas" panose="020B0609020204030204" pitchFamily="49" charset="0"/>
                <a:ea typeface="Calibri"/>
                <a:cs typeface="Calibri"/>
                <a:sym typeface="Calibri"/>
              </a:rPr>
              <a:t> = new X();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Y </a:t>
            </a:r>
            <a:r>
              <a:rPr lang="en-US" sz="1200" b="0" i="0" u="none" dirty="0" err="1">
                <a:solidFill>
                  <a:schemeClr val="bg1"/>
                </a:solidFill>
                <a:latin typeface="Consolas" panose="020B0609020204030204" pitchFamily="49" charset="0"/>
                <a:ea typeface="Calibri"/>
                <a:cs typeface="Calibri"/>
                <a:sym typeface="Calibri"/>
              </a:rPr>
              <a:t>threadY</a:t>
            </a:r>
            <a:r>
              <a:rPr lang="en-US" sz="1200" b="0" i="0" u="none" dirty="0">
                <a:solidFill>
                  <a:schemeClr val="bg1"/>
                </a:solidFill>
                <a:latin typeface="Consolas" panose="020B0609020204030204" pitchFamily="49" charset="0"/>
                <a:ea typeface="Calibri"/>
                <a:cs typeface="Calibri"/>
                <a:sym typeface="Calibri"/>
              </a:rPr>
              <a:t> = new Y ();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Z </a:t>
            </a:r>
            <a:r>
              <a:rPr lang="en-US" sz="1200" b="0" i="0" u="none" dirty="0" err="1">
                <a:solidFill>
                  <a:schemeClr val="bg1"/>
                </a:solidFill>
                <a:latin typeface="Consolas" panose="020B0609020204030204" pitchFamily="49" charset="0"/>
                <a:ea typeface="Calibri"/>
                <a:cs typeface="Calibri"/>
                <a:sym typeface="Calibri"/>
              </a:rPr>
              <a:t>threadZ</a:t>
            </a:r>
            <a:r>
              <a:rPr lang="en-US" sz="1200" b="0" i="0" u="none" dirty="0">
                <a:solidFill>
                  <a:schemeClr val="bg1"/>
                </a:solidFill>
                <a:latin typeface="Consolas" panose="020B0609020204030204" pitchFamily="49" charset="0"/>
                <a:ea typeface="Calibri"/>
                <a:cs typeface="Calibri"/>
                <a:sym typeface="Calibri"/>
              </a:rPr>
              <a:t> = new </a:t>
            </a:r>
            <a:r>
              <a:rPr lang="en-US" sz="1200" b="0" i="0" u="none" dirty="0">
                <a:solidFill>
                  <a:schemeClr val="dk1"/>
                </a:solidFill>
                <a:latin typeface="Consolas" panose="020B0609020204030204" pitchFamily="49" charset="0"/>
                <a:ea typeface="Calibri"/>
                <a:cs typeface="Calibri"/>
                <a:sym typeface="Calibri"/>
              </a:rPr>
              <a:t>Z (); </a:t>
            </a:r>
            <a:endParaRPr sz="2000" dirty="0">
              <a:latin typeface="Consolas" panose="020B0609020204030204" pitchFamily="49" charset="0"/>
            </a:endParaRPr>
          </a:p>
          <a:p>
            <a:pPr marL="342900" marR="0" lvl="0" indent="-342900" algn="l" rtl="0">
              <a:lnSpc>
                <a:spcPct val="80000"/>
              </a:lnSpc>
              <a:spcBef>
                <a:spcPts val="200"/>
              </a:spcBef>
              <a:spcAft>
                <a:spcPts val="0"/>
              </a:spcAft>
              <a:buClr>
                <a:srgbClr val="FF0000"/>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a:t>
            </a:r>
            <a:r>
              <a:rPr lang="en-US" sz="1200" b="0" i="0" u="none" dirty="0" err="1">
                <a:solidFill>
                  <a:schemeClr val="bg1"/>
                </a:solidFill>
                <a:latin typeface="Consolas" panose="020B0609020204030204" pitchFamily="49" charset="0"/>
                <a:ea typeface="Calibri"/>
                <a:cs typeface="Calibri"/>
                <a:sym typeface="Calibri"/>
              </a:rPr>
              <a:t>threadZ.setPriority</a:t>
            </a:r>
            <a:r>
              <a:rPr lang="en-US" sz="1200" b="0" i="0" u="none" dirty="0">
                <a:solidFill>
                  <a:schemeClr val="bg1"/>
                </a:solidFill>
                <a:latin typeface="Consolas" panose="020B0609020204030204" pitchFamily="49" charset="0"/>
                <a:ea typeface="Calibri"/>
                <a:cs typeface="Calibri"/>
                <a:sym typeface="Calibri"/>
              </a:rPr>
              <a:t>(</a:t>
            </a:r>
            <a:r>
              <a:rPr lang="en-US" sz="1200" b="0" i="0" u="none" dirty="0" err="1">
                <a:solidFill>
                  <a:schemeClr val="bg1"/>
                </a:solidFill>
                <a:latin typeface="Consolas" panose="020B0609020204030204" pitchFamily="49" charset="0"/>
                <a:ea typeface="Calibri"/>
                <a:cs typeface="Calibri"/>
                <a:sym typeface="Calibri"/>
              </a:rPr>
              <a:t>Thread.MAX_PRIORITY</a:t>
            </a:r>
            <a:r>
              <a:rPr lang="en-US" sz="1200" b="0" i="0" u="none" dirty="0">
                <a:solidFill>
                  <a:schemeClr val="bg1"/>
                </a:solidFill>
                <a:latin typeface="Consolas" panose="020B0609020204030204" pitchFamily="49" charset="0"/>
                <a:ea typeface="Calibri"/>
                <a:cs typeface="Calibri"/>
                <a:sym typeface="Calibri"/>
              </a:rPr>
              <a:t>);  // priority = 10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rgbClr val="FF0000"/>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a:t>
            </a:r>
            <a:r>
              <a:rPr lang="en-US" sz="1200" b="0" i="0" u="none" dirty="0" err="1">
                <a:solidFill>
                  <a:schemeClr val="bg1"/>
                </a:solidFill>
                <a:latin typeface="Consolas" panose="020B0609020204030204" pitchFamily="49" charset="0"/>
                <a:ea typeface="Calibri"/>
                <a:cs typeface="Calibri"/>
                <a:sym typeface="Calibri"/>
              </a:rPr>
              <a:t>threadY.setPriority</a:t>
            </a:r>
            <a:r>
              <a:rPr lang="en-US" sz="1200" b="0" i="0" u="none" dirty="0">
                <a:solidFill>
                  <a:schemeClr val="bg1"/>
                </a:solidFill>
                <a:latin typeface="Consolas" panose="020B0609020204030204" pitchFamily="49" charset="0"/>
                <a:ea typeface="Calibri"/>
                <a:cs typeface="Calibri"/>
                <a:sym typeface="Calibri"/>
              </a:rPr>
              <a:t>(</a:t>
            </a:r>
            <a:r>
              <a:rPr lang="en-US" sz="1200" b="0" i="0" u="none" dirty="0" err="1">
                <a:solidFill>
                  <a:schemeClr val="bg1"/>
                </a:solidFill>
                <a:latin typeface="Consolas" panose="020B0609020204030204" pitchFamily="49" charset="0"/>
                <a:ea typeface="Calibri"/>
                <a:cs typeface="Calibri"/>
                <a:sym typeface="Calibri"/>
              </a:rPr>
              <a:t>threadX.getPriority</a:t>
            </a:r>
            <a:r>
              <a:rPr lang="en-US" sz="1200" b="0" i="0" u="none" dirty="0">
                <a:solidFill>
                  <a:schemeClr val="bg1"/>
                </a:solidFill>
                <a:latin typeface="Consolas" panose="020B0609020204030204" pitchFamily="49" charset="0"/>
                <a:ea typeface="Calibri"/>
                <a:cs typeface="Calibri"/>
                <a:sym typeface="Calibri"/>
              </a:rPr>
              <a:t>()+1); // priority = 6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rgbClr val="FF0000"/>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a:t>
            </a:r>
            <a:r>
              <a:rPr lang="en-US" sz="1200" b="0" i="0" u="none" dirty="0" err="1">
                <a:solidFill>
                  <a:schemeClr val="bg1"/>
                </a:solidFill>
                <a:latin typeface="Consolas" panose="020B0609020204030204" pitchFamily="49" charset="0"/>
                <a:ea typeface="Calibri"/>
                <a:cs typeface="Calibri"/>
                <a:sym typeface="Calibri"/>
              </a:rPr>
              <a:t>threadX.setPriority</a:t>
            </a:r>
            <a:r>
              <a:rPr lang="en-US" sz="1200" b="0" i="0" u="none" dirty="0">
                <a:solidFill>
                  <a:schemeClr val="bg1"/>
                </a:solidFill>
                <a:latin typeface="Consolas" panose="020B0609020204030204" pitchFamily="49" charset="0"/>
                <a:ea typeface="Calibri"/>
                <a:cs typeface="Calibri"/>
                <a:sym typeface="Calibri"/>
              </a:rPr>
              <a:t>(</a:t>
            </a:r>
            <a:r>
              <a:rPr lang="en-US" sz="1200" b="0" i="0" u="none" dirty="0" err="1">
                <a:solidFill>
                  <a:schemeClr val="bg1"/>
                </a:solidFill>
                <a:latin typeface="Consolas" panose="020B0609020204030204" pitchFamily="49" charset="0"/>
                <a:ea typeface="Calibri"/>
                <a:cs typeface="Calibri"/>
                <a:sym typeface="Calibri"/>
              </a:rPr>
              <a:t>Thread.MIN_PRIORITY</a:t>
            </a:r>
            <a:r>
              <a:rPr lang="en-US" sz="1200" b="0" i="0" u="none" dirty="0">
                <a:solidFill>
                  <a:schemeClr val="bg1"/>
                </a:solidFill>
                <a:latin typeface="Consolas" panose="020B0609020204030204" pitchFamily="49" charset="0"/>
                <a:ea typeface="Calibri"/>
                <a:cs typeface="Calibri"/>
                <a:sym typeface="Calibri"/>
              </a:rPr>
              <a:t>); // priority =l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a:t>
            </a:r>
            <a:r>
              <a:rPr lang="en-US" sz="1200" b="0" i="0" u="none" dirty="0" err="1">
                <a:solidFill>
                  <a:schemeClr val="bg1"/>
                </a:solidFill>
                <a:latin typeface="Consolas" panose="020B0609020204030204" pitchFamily="49" charset="0"/>
                <a:ea typeface="Calibri"/>
                <a:cs typeface="Calibri"/>
                <a:sym typeface="Calibri"/>
              </a:rPr>
              <a:t>threadX.start</a:t>
            </a:r>
            <a:r>
              <a:rPr lang="en-US" sz="1200" b="0" i="0" u="none" dirty="0">
                <a:solidFill>
                  <a:schemeClr val="bg1"/>
                </a:solidFill>
                <a:latin typeface="Consolas" panose="020B0609020204030204" pitchFamily="49" charset="0"/>
                <a:ea typeface="Calibri"/>
                <a:cs typeface="Calibri"/>
                <a:sym typeface="Calibri"/>
              </a:rPr>
              <a:t>(); </a:t>
            </a:r>
            <a:r>
              <a:rPr lang="en-US" sz="1200" b="0" i="0" u="none" dirty="0" err="1">
                <a:solidFill>
                  <a:schemeClr val="bg1"/>
                </a:solidFill>
                <a:latin typeface="Consolas" panose="020B0609020204030204" pitchFamily="49" charset="0"/>
                <a:ea typeface="Calibri"/>
                <a:cs typeface="Calibri"/>
                <a:sym typeface="Calibri"/>
              </a:rPr>
              <a:t>threadY.start</a:t>
            </a:r>
            <a:r>
              <a:rPr lang="en-US" sz="1200" b="0" i="0" u="none" dirty="0">
                <a:solidFill>
                  <a:schemeClr val="bg1"/>
                </a:solidFill>
                <a:latin typeface="Consolas" panose="020B0609020204030204" pitchFamily="49" charset="0"/>
                <a:ea typeface="Calibri"/>
                <a:cs typeface="Calibri"/>
                <a:sym typeface="Calibri"/>
              </a:rPr>
              <a:t>(); </a:t>
            </a:r>
            <a:r>
              <a:rPr lang="en-US" sz="1200" b="0" i="0" u="none" dirty="0" err="1">
                <a:solidFill>
                  <a:schemeClr val="bg1"/>
                </a:solidFill>
                <a:latin typeface="Consolas" panose="020B0609020204030204" pitchFamily="49" charset="0"/>
                <a:ea typeface="Calibri"/>
                <a:cs typeface="Calibri"/>
                <a:sym typeface="Calibri"/>
              </a:rPr>
              <a:t>threadZ.start</a:t>
            </a:r>
            <a:r>
              <a:rPr lang="en-US" sz="1200" b="0" i="0" u="none" dirty="0">
                <a:solidFill>
                  <a:schemeClr val="bg1"/>
                </a:solidFill>
                <a:latin typeface="Consolas" panose="020B0609020204030204" pitchFamily="49" charset="0"/>
                <a:ea typeface="Calibri"/>
                <a:cs typeface="Calibri"/>
                <a:sym typeface="Calibri"/>
              </a:rPr>
              <a:t>();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try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a:t>
            </a:r>
            <a:r>
              <a:rPr lang="en-US" sz="1200" b="0" i="0" u="none" dirty="0" err="1">
                <a:solidFill>
                  <a:schemeClr val="bg1"/>
                </a:solidFill>
                <a:latin typeface="Consolas" panose="020B0609020204030204" pitchFamily="49" charset="0"/>
                <a:ea typeface="Calibri"/>
                <a:cs typeface="Calibri"/>
                <a:sym typeface="Calibri"/>
              </a:rPr>
              <a:t>threadX.join</a:t>
            </a:r>
            <a:r>
              <a:rPr lang="en-US" sz="1200" b="0" i="0" u="none" dirty="0">
                <a:solidFill>
                  <a:schemeClr val="bg1"/>
                </a:solidFill>
                <a:latin typeface="Consolas" panose="020B0609020204030204" pitchFamily="49" charset="0"/>
                <a:ea typeface="Calibri"/>
                <a:cs typeface="Calibri"/>
                <a:sym typeface="Calibri"/>
              </a:rPr>
              <a:t>();</a:t>
            </a:r>
            <a:r>
              <a:rPr lang="en-US" sz="1200" b="0" i="0" u="none" dirty="0" err="1">
                <a:solidFill>
                  <a:schemeClr val="bg1"/>
                </a:solidFill>
                <a:latin typeface="Consolas" panose="020B0609020204030204" pitchFamily="49" charset="0"/>
                <a:ea typeface="Calibri"/>
                <a:cs typeface="Calibri"/>
                <a:sym typeface="Calibri"/>
              </a:rPr>
              <a:t>threadY.join</a:t>
            </a:r>
            <a:r>
              <a:rPr lang="en-US" sz="1200" b="0" i="0" u="none" dirty="0">
                <a:solidFill>
                  <a:schemeClr val="bg1"/>
                </a:solidFill>
                <a:latin typeface="Consolas" panose="020B0609020204030204" pitchFamily="49" charset="0"/>
                <a:ea typeface="Calibri"/>
                <a:cs typeface="Calibri"/>
                <a:sym typeface="Calibri"/>
              </a:rPr>
              <a:t>();</a:t>
            </a:r>
            <a:r>
              <a:rPr lang="en-US" sz="1200" b="0" i="0" u="none" dirty="0" err="1">
                <a:solidFill>
                  <a:schemeClr val="bg1"/>
                </a:solidFill>
                <a:latin typeface="Consolas" panose="020B0609020204030204" pitchFamily="49" charset="0"/>
                <a:ea typeface="Calibri"/>
                <a:cs typeface="Calibri"/>
                <a:sym typeface="Calibri"/>
              </a:rPr>
              <a:t>threadZ.join</a:t>
            </a:r>
            <a:r>
              <a:rPr lang="en-US" sz="1200" b="0" i="0" u="none" dirty="0">
                <a:solidFill>
                  <a:schemeClr val="bg1"/>
                </a:solidFill>
                <a:latin typeface="Consolas" panose="020B0609020204030204" pitchFamily="49" charset="0"/>
                <a:ea typeface="Calibri"/>
                <a:cs typeface="Calibri"/>
                <a:sym typeface="Calibri"/>
              </a:rPr>
              <a:t>();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catch(</a:t>
            </a:r>
            <a:r>
              <a:rPr lang="en-US" sz="1200" b="0" i="0" u="none" dirty="0" err="1">
                <a:solidFill>
                  <a:schemeClr val="bg1"/>
                </a:solidFill>
                <a:latin typeface="Consolas" panose="020B0609020204030204" pitchFamily="49" charset="0"/>
                <a:ea typeface="Calibri"/>
                <a:cs typeface="Calibri"/>
                <a:sym typeface="Calibri"/>
              </a:rPr>
              <a:t>InterruptedException</a:t>
            </a:r>
            <a:r>
              <a:rPr lang="en-US" sz="1200" b="0" i="0" u="none" dirty="0">
                <a:solidFill>
                  <a:schemeClr val="bg1"/>
                </a:solidFill>
                <a:latin typeface="Consolas" panose="020B0609020204030204" pitchFamily="49" charset="0"/>
                <a:ea typeface="Calibri"/>
                <a:cs typeface="Calibri"/>
                <a:sym typeface="Calibri"/>
              </a:rPr>
              <a:t> e){}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a:t>
            </a:r>
            <a:r>
              <a:rPr lang="en-US" sz="1200" b="0" i="0" u="none" dirty="0" err="1">
                <a:solidFill>
                  <a:schemeClr val="bg1"/>
                </a:solidFill>
                <a:latin typeface="Consolas" panose="020B0609020204030204" pitchFamily="49" charset="0"/>
                <a:ea typeface="Calibri"/>
                <a:cs typeface="Calibri"/>
                <a:sym typeface="Calibri"/>
              </a:rPr>
              <a:t>System.out.println</a:t>
            </a:r>
            <a:r>
              <a:rPr lang="en-US" sz="1200" b="0" i="0" u="none" dirty="0">
                <a:solidFill>
                  <a:schemeClr val="bg1"/>
                </a:solidFill>
                <a:latin typeface="Consolas" panose="020B0609020204030204" pitchFamily="49" charset="0"/>
                <a:ea typeface="Calibri"/>
                <a:cs typeface="Calibri"/>
                <a:sym typeface="Calibri"/>
              </a:rPr>
              <a:t>("Main Thread Finished");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 </a:t>
            </a:r>
            <a:endParaRPr sz="2000" dirty="0">
              <a:solidFill>
                <a:schemeClr val="bg1"/>
              </a:solidFill>
              <a:latin typeface="Consolas" panose="020B0609020204030204" pitchFamily="49" charset="0"/>
            </a:endParaRPr>
          </a:p>
          <a:p>
            <a:pPr marL="342900" marR="0" lvl="0" indent="-342900" algn="l" rtl="0">
              <a:lnSpc>
                <a:spcPct val="80000"/>
              </a:lnSpc>
              <a:spcBef>
                <a:spcPts val="200"/>
              </a:spcBef>
              <a:spcAft>
                <a:spcPts val="0"/>
              </a:spcAft>
              <a:buClr>
                <a:schemeClr val="dk1"/>
              </a:buClr>
              <a:buSzPts val="1000"/>
              <a:buFont typeface="Calibri"/>
              <a:buNone/>
            </a:pPr>
            <a:r>
              <a:rPr lang="en-US" sz="1200" b="0" i="0" u="none" dirty="0">
                <a:solidFill>
                  <a:schemeClr val="bg1"/>
                </a:solidFill>
                <a:latin typeface="Consolas" panose="020B0609020204030204" pitchFamily="49" charset="0"/>
                <a:ea typeface="Calibri"/>
                <a:cs typeface="Calibri"/>
                <a:sym typeface="Calibri"/>
              </a:rPr>
              <a:t> }</a:t>
            </a:r>
            <a:endParaRPr sz="2000" dirty="0">
              <a:solidFill>
                <a:schemeClr val="bg1"/>
              </a:solidFill>
              <a:latin typeface="Consolas" panose="020B0609020204030204" pitchFamily="49"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6"/>
          <p:cNvSpPr txBox="1"/>
          <p:nvPr/>
        </p:nvSpPr>
        <p:spPr>
          <a:xfrm>
            <a:off x="914400" y="762000"/>
            <a:ext cx="7543800" cy="120015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Generally higher priority threads can be expected to be given preference by the thread scheduler over lower priority threads. However, the implementation of thread scheduling is left up to the JVM implementation.</a:t>
            </a:r>
            <a:endParaRPr/>
          </a:p>
        </p:txBody>
      </p:sp>
      <p:pic>
        <p:nvPicPr>
          <p:cNvPr id="283" name="Google Shape;283;p46"/>
          <p:cNvPicPr preferRelativeResize="0"/>
          <p:nvPr/>
        </p:nvPicPr>
        <p:blipFill rotWithShape="1">
          <a:blip r:embed="rId3">
            <a:alphaModFix/>
          </a:blip>
          <a:srcRect/>
          <a:stretch/>
        </p:blipFill>
        <p:spPr>
          <a:xfrm>
            <a:off x="5029200" y="2286000"/>
            <a:ext cx="3686175" cy="3667125"/>
          </a:xfrm>
          <a:prstGeom prst="rect">
            <a:avLst/>
          </a:prstGeom>
          <a:noFill/>
          <a:ln>
            <a:noFill/>
          </a:ln>
        </p:spPr>
      </p:pic>
      <p:sp>
        <p:nvSpPr>
          <p:cNvPr id="284" name="Google Shape;284;p46"/>
          <p:cNvSpPr txBox="1"/>
          <p:nvPr/>
        </p:nvSpPr>
        <p:spPr>
          <a:xfrm>
            <a:off x="914400" y="1905000"/>
            <a:ext cx="12954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Output:</a:t>
            </a:r>
            <a:endParaRPr/>
          </a:p>
        </p:txBody>
      </p:sp>
      <p:sp>
        <p:nvSpPr>
          <p:cNvPr id="285" name="Google Shape;285;p46"/>
          <p:cNvSpPr txBox="1"/>
          <p:nvPr/>
        </p:nvSpPr>
        <p:spPr>
          <a:xfrm>
            <a:off x="1066800" y="2590800"/>
            <a:ext cx="2971800" cy="28622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Although the threads are started in the order thread X followed by thread Y followed by thread Z but the thread Z (priority = 10) produces the output before thread Y (priority = 5) and thread X (priority = 1) because it has the highest priority.</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7"/>
          <p:cNvSpPr txBox="1"/>
          <p:nvPr/>
        </p:nvSpPr>
        <p:spPr>
          <a:xfrm>
            <a:off x="3048000" y="381000"/>
            <a:ext cx="3962400"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Using isAlive( ) and join( )</a:t>
            </a:r>
            <a:endParaRPr/>
          </a:p>
        </p:txBody>
      </p:sp>
      <p:sp>
        <p:nvSpPr>
          <p:cNvPr id="291" name="Google Shape;291;p47"/>
          <p:cNvSpPr txBox="1"/>
          <p:nvPr/>
        </p:nvSpPr>
        <p:spPr>
          <a:xfrm>
            <a:off x="685800" y="1066800"/>
            <a:ext cx="7848600" cy="507841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Two ways exist to determine whether a thread has finished. First, you can call </a:t>
            </a:r>
            <a:r>
              <a:rPr lang="en-US" sz="1800" b="0" i="0" u="none" dirty="0" err="1">
                <a:solidFill>
                  <a:schemeClr val="dk1"/>
                </a:solidFill>
                <a:latin typeface="Arial"/>
                <a:ea typeface="Arial"/>
                <a:cs typeface="Arial"/>
                <a:sym typeface="Arial"/>
              </a:rPr>
              <a:t>isAlive</a:t>
            </a:r>
            <a:r>
              <a:rPr lang="en-US" sz="1800" b="0" i="0" u="none" dirty="0">
                <a:solidFill>
                  <a:schemeClr val="dk1"/>
                </a:solidFill>
                <a:latin typeface="Arial"/>
                <a:ea typeface="Arial"/>
                <a:cs typeface="Arial"/>
                <a:sym typeface="Arial"/>
              </a:rPr>
              <a:t>( ) on the thread. This method is defined by Thread, and its general form is shown here:</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rgbClr val="FF0000"/>
              </a:buClr>
              <a:buSzPts val="1800"/>
              <a:buFont typeface="Arial"/>
              <a:buNone/>
            </a:pPr>
            <a:r>
              <a:rPr lang="en-US" sz="1800" b="0" i="0" u="none" dirty="0">
                <a:solidFill>
                  <a:srgbClr val="FF0000"/>
                </a:solidFill>
                <a:latin typeface="Arial"/>
                <a:ea typeface="Arial"/>
                <a:cs typeface="Arial"/>
                <a:sym typeface="Arial"/>
              </a:rPr>
              <a:t>final </a:t>
            </a:r>
            <a:r>
              <a:rPr lang="en-US" sz="1800" b="0" i="0" u="none" dirty="0" err="1">
                <a:solidFill>
                  <a:srgbClr val="FF0000"/>
                </a:solidFill>
                <a:latin typeface="Arial"/>
                <a:ea typeface="Arial"/>
                <a:cs typeface="Arial"/>
                <a:sym typeface="Arial"/>
              </a:rPr>
              <a:t>boolean</a:t>
            </a:r>
            <a:r>
              <a:rPr lang="en-US" sz="1800" b="0" i="0" u="none" dirty="0">
                <a:solidFill>
                  <a:srgbClr val="FF0000"/>
                </a:solidFill>
                <a:latin typeface="Arial"/>
                <a:ea typeface="Arial"/>
                <a:cs typeface="Arial"/>
                <a:sym typeface="Arial"/>
              </a:rPr>
              <a:t> </a:t>
            </a:r>
            <a:r>
              <a:rPr lang="en-US" sz="1800" b="0" i="0" u="none" dirty="0" err="1">
                <a:solidFill>
                  <a:srgbClr val="FF0000"/>
                </a:solidFill>
                <a:latin typeface="Arial"/>
                <a:ea typeface="Arial"/>
                <a:cs typeface="Arial"/>
                <a:sym typeface="Arial"/>
              </a:rPr>
              <a:t>isAlive</a:t>
            </a:r>
            <a:r>
              <a:rPr lang="en-US" sz="1800" b="0" i="0" u="none" dirty="0">
                <a:solidFill>
                  <a:srgbClr val="FF0000"/>
                </a:solidFill>
                <a:latin typeface="Arial"/>
                <a:ea typeface="Arial"/>
                <a:cs typeface="Arial"/>
                <a:sym typeface="Arial"/>
              </a:rPr>
              <a:t>( ) </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rgbClr val="FF0000"/>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The </a:t>
            </a:r>
            <a:r>
              <a:rPr lang="en-US" sz="1800" b="0" i="0" u="none" dirty="0" err="1">
                <a:solidFill>
                  <a:schemeClr val="dk1"/>
                </a:solidFill>
                <a:latin typeface="Arial"/>
                <a:ea typeface="Arial"/>
                <a:cs typeface="Arial"/>
                <a:sym typeface="Arial"/>
              </a:rPr>
              <a:t>isAlive</a:t>
            </a:r>
            <a:r>
              <a:rPr lang="en-US" sz="1800" b="0" i="0" u="none" dirty="0">
                <a:solidFill>
                  <a:schemeClr val="dk1"/>
                </a:solidFill>
                <a:latin typeface="Arial"/>
                <a:ea typeface="Arial"/>
                <a:cs typeface="Arial"/>
                <a:sym typeface="Arial"/>
              </a:rPr>
              <a:t>( ) method returns true if the thread upon which it is called is still running. It returns false otherwise. While </a:t>
            </a:r>
            <a:r>
              <a:rPr lang="en-US" sz="1800" b="0" i="0" u="none" dirty="0" err="1">
                <a:solidFill>
                  <a:schemeClr val="dk1"/>
                </a:solidFill>
                <a:latin typeface="Arial"/>
                <a:ea typeface="Arial"/>
                <a:cs typeface="Arial"/>
                <a:sym typeface="Arial"/>
              </a:rPr>
              <a:t>isAlive</a:t>
            </a:r>
            <a:r>
              <a:rPr lang="en-US" sz="1800" b="0" i="0" u="none" dirty="0">
                <a:solidFill>
                  <a:schemeClr val="dk1"/>
                </a:solidFill>
                <a:latin typeface="Arial"/>
                <a:ea typeface="Arial"/>
                <a:cs typeface="Arial"/>
                <a:sym typeface="Arial"/>
              </a:rPr>
              <a:t>( ) is occasionally useful, the method that you will more commonly use to wait for a thread to finish is called join( ), shown here:</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rgbClr val="FF0000"/>
              </a:solidFill>
              <a:latin typeface="Arial"/>
              <a:ea typeface="Arial"/>
              <a:cs typeface="Arial"/>
              <a:sym typeface="Arial"/>
            </a:endParaRPr>
          </a:p>
          <a:p>
            <a:pPr marL="0" marR="0" lvl="0" indent="0" algn="just" rtl="0">
              <a:lnSpc>
                <a:spcPct val="100000"/>
              </a:lnSpc>
              <a:spcBef>
                <a:spcPts val="0"/>
              </a:spcBef>
              <a:spcAft>
                <a:spcPts val="0"/>
              </a:spcAft>
              <a:buClr>
                <a:srgbClr val="FF0000"/>
              </a:buClr>
              <a:buSzPts val="1800"/>
              <a:buFont typeface="Arial"/>
              <a:buNone/>
            </a:pPr>
            <a:r>
              <a:rPr lang="en-US" sz="1800" b="0" i="0" u="none" dirty="0">
                <a:solidFill>
                  <a:srgbClr val="FF0000"/>
                </a:solidFill>
                <a:latin typeface="Arial"/>
                <a:ea typeface="Arial"/>
                <a:cs typeface="Arial"/>
                <a:sym typeface="Arial"/>
              </a:rPr>
              <a:t>final void join( ) throws </a:t>
            </a:r>
            <a:r>
              <a:rPr lang="en-US" sz="1800" b="0" i="0" u="none" dirty="0" err="1">
                <a:solidFill>
                  <a:srgbClr val="FF0000"/>
                </a:solidFill>
                <a:latin typeface="Arial"/>
                <a:ea typeface="Arial"/>
                <a:cs typeface="Arial"/>
                <a:sym typeface="Arial"/>
              </a:rPr>
              <a:t>InterruptedException</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rgbClr val="FF0000"/>
              </a:solidFill>
              <a:latin typeface="Arial"/>
              <a:ea typeface="Arial"/>
              <a:cs typeface="Arial"/>
              <a:sym typeface="Arial"/>
            </a:endParaRPr>
          </a:p>
          <a:p>
            <a:pPr marL="0" marR="0" lvl="0" indent="-114300" algn="just" rtl="0">
              <a:lnSpc>
                <a:spcPct val="100000"/>
              </a:lnSpc>
              <a:spcBef>
                <a:spcPts val="0"/>
              </a:spcBef>
              <a:spcAft>
                <a:spcPts val="0"/>
              </a:spcAft>
              <a:buClr>
                <a:schemeClr val="dk1"/>
              </a:buClr>
              <a:buSzPts val="1800"/>
              <a:buFont typeface="Arial"/>
              <a:buChar char="•"/>
            </a:pPr>
            <a:r>
              <a:rPr lang="en-US" sz="1800" b="0" i="0" u="none" dirty="0">
                <a:solidFill>
                  <a:schemeClr val="dk1"/>
                </a:solidFill>
                <a:latin typeface="Arial"/>
                <a:ea typeface="Arial"/>
                <a:cs typeface="Arial"/>
                <a:sym typeface="Arial"/>
              </a:rPr>
              <a:t>This method waits until the thread on which it is called terminates. </a:t>
            </a:r>
            <a:endParaRPr dirty="0"/>
          </a:p>
          <a:p>
            <a:pPr marL="0" marR="0" lvl="0" indent="-114300" algn="just" rtl="0">
              <a:lnSpc>
                <a:spcPct val="100000"/>
              </a:lnSpc>
              <a:spcBef>
                <a:spcPts val="0"/>
              </a:spcBef>
              <a:spcAft>
                <a:spcPts val="0"/>
              </a:spcAft>
              <a:buClr>
                <a:schemeClr val="dk1"/>
              </a:buClr>
              <a:buSzPts val="1800"/>
              <a:buFont typeface="Arial"/>
              <a:buChar char="•"/>
            </a:pPr>
            <a:r>
              <a:rPr lang="en-US" sz="1800" b="0" i="0" u="none" dirty="0">
                <a:solidFill>
                  <a:schemeClr val="dk1"/>
                </a:solidFill>
                <a:latin typeface="Arial"/>
                <a:ea typeface="Arial"/>
                <a:cs typeface="Arial"/>
                <a:sym typeface="Arial"/>
              </a:rPr>
              <a:t>Its name comes from the concept of the calling thread waiting until the specified thread joins it. </a:t>
            </a:r>
            <a:endParaRPr dirty="0"/>
          </a:p>
          <a:p>
            <a:pPr marL="0" marR="0" lvl="0" indent="-114300" algn="just" rtl="0">
              <a:lnSpc>
                <a:spcPct val="100000"/>
              </a:lnSpc>
              <a:spcBef>
                <a:spcPts val="0"/>
              </a:spcBef>
              <a:spcAft>
                <a:spcPts val="0"/>
              </a:spcAft>
              <a:buClr>
                <a:schemeClr val="dk1"/>
              </a:buClr>
              <a:buSzPts val="1800"/>
              <a:buFont typeface="Arial"/>
              <a:buChar char="•"/>
            </a:pPr>
            <a:r>
              <a:rPr lang="en-US" sz="1800" b="0" i="0" u="none" dirty="0">
                <a:solidFill>
                  <a:schemeClr val="dk1"/>
                </a:solidFill>
                <a:latin typeface="Arial"/>
                <a:ea typeface="Arial"/>
                <a:cs typeface="Arial"/>
                <a:sym typeface="Arial"/>
              </a:rPr>
              <a:t>Additional forms of join( ) allow you to specify a maximum amount of time that you want to wait for the specified thread to terminate. </a:t>
            </a: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7" name="Google Shape;297;p48"/>
          <p:cNvSpPr txBox="1"/>
          <p:nvPr/>
        </p:nvSpPr>
        <p:spPr>
          <a:xfrm>
            <a:off x="2590800" y="304800"/>
            <a:ext cx="36576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Example of using join()</a:t>
            </a:r>
            <a:endParaRPr/>
          </a:p>
        </p:txBody>
      </p:sp>
      <p:sp>
        <p:nvSpPr>
          <p:cNvPr id="2" name="TextBox 1">
            <a:extLst>
              <a:ext uri="{FF2B5EF4-FFF2-40B4-BE49-F238E27FC236}">
                <a16:creationId xmlns:a16="http://schemas.microsoft.com/office/drawing/2014/main" id="{A56DB80A-4BC5-862C-C040-124F53FF055D}"/>
              </a:ext>
            </a:extLst>
          </p:cNvPr>
          <p:cNvSpPr txBox="1"/>
          <p:nvPr/>
        </p:nvSpPr>
        <p:spPr>
          <a:xfrm>
            <a:off x="822037" y="822037"/>
            <a:ext cx="6511636" cy="5909310"/>
          </a:xfrm>
          <a:prstGeom prst="rect">
            <a:avLst/>
          </a:prstGeom>
          <a:solidFill>
            <a:schemeClr val="tx1"/>
          </a:solidFill>
        </p:spPr>
        <p:txBody>
          <a:bodyPr wrap="square" rtlCol="0">
            <a:spAutoFit/>
          </a:bodyPr>
          <a:lstStyle/>
          <a:p>
            <a:r>
              <a:rPr lang="en-US" dirty="0">
                <a:solidFill>
                  <a:schemeClr val="bg1"/>
                </a:solidFill>
                <a:latin typeface="Consolas" panose="020B0609020204030204" pitchFamily="49" charset="0"/>
              </a:rPr>
              <a:t>public class </a:t>
            </a:r>
            <a:r>
              <a:rPr lang="en-US" dirty="0" err="1">
                <a:solidFill>
                  <a:schemeClr val="bg1"/>
                </a:solidFill>
                <a:latin typeface="Consolas" panose="020B0609020204030204" pitchFamily="49" charset="0"/>
              </a:rPr>
              <a:t>JoinExample</a:t>
            </a:r>
            <a:r>
              <a:rPr lang="en-US" dirty="0">
                <a:solidFill>
                  <a:schemeClr val="bg1"/>
                </a:solidFill>
                <a:latin typeface="Consolas" panose="020B0609020204030204" pitchFamily="49" charset="0"/>
              </a:rPr>
              <a:t> {</a:t>
            </a:r>
          </a:p>
          <a:p>
            <a:r>
              <a:rPr lang="en-US" dirty="0">
                <a:solidFill>
                  <a:schemeClr val="bg1"/>
                </a:solidFill>
                <a:latin typeface="Consolas" panose="020B0609020204030204" pitchFamily="49" charset="0"/>
              </a:rPr>
              <a:t>    public static void main(String[] </a:t>
            </a:r>
            <a:r>
              <a:rPr lang="en-US" dirty="0" err="1">
                <a:solidFill>
                  <a:schemeClr val="bg1"/>
                </a:solidFill>
                <a:latin typeface="Consolas" panose="020B0609020204030204" pitchFamily="49" charset="0"/>
              </a:rPr>
              <a:t>args</a:t>
            </a:r>
            <a:r>
              <a:rPr lang="en-US" dirty="0">
                <a:solidFill>
                  <a:schemeClr val="bg1"/>
                </a:solidFill>
                <a:latin typeface="Consolas" panose="020B0609020204030204" pitchFamily="49" charset="0"/>
              </a:rPr>
              <a:t>) {</a:t>
            </a:r>
          </a:p>
          <a:p>
            <a:r>
              <a:rPr lang="en-US" dirty="0">
                <a:solidFill>
                  <a:schemeClr val="bg1"/>
                </a:solidFill>
                <a:latin typeface="Consolas" panose="020B0609020204030204" pitchFamily="49" charset="0"/>
              </a:rPr>
              <a:t>        </a:t>
            </a:r>
            <a:r>
              <a:rPr lang="en-US" dirty="0">
                <a:solidFill>
                  <a:srgbClr val="92D050"/>
                </a:solidFill>
                <a:latin typeface="Consolas" panose="020B0609020204030204" pitchFamily="49" charset="0"/>
              </a:rPr>
              <a:t>Thread th1 = new Thread(new </a:t>
            </a:r>
            <a:r>
              <a:rPr lang="en-US" dirty="0" err="1">
                <a:solidFill>
                  <a:srgbClr val="92D050"/>
                </a:solidFill>
                <a:latin typeface="Consolas" panose="020B0609020204030204" pitchFamily="49" charset="0"/>
              </a:rPr>
              <a:t>MyClass</a:t>
            </a:r>
            <a:r>
              <a:rPr lang="en-US" dirty="0">
                <a:solidFill>
                  <a:srgbClr val="92D050"/>
                </a:solidFill>
                <a:latin typeface="Consolas" panose="020B0609020204030204" pitchFamily="49" charset="0"/>
              </a:rPr>
              <a:t>(), "th1");</a:t>
            </a:r>
          </a:p>
          <a:p>
            <a:r>
              <a:rPr lang="en-US" dirty="0">
                <a:solidFill>
                  <a:srgbClr val="92D050"/>
                </a:solidFill>
                <a:latin typeface="Consolas" panose="020B0609020204030204" pitchFamily="49" charset="0"/>
              </a:rPr>
              <a:t>        Thread th2 = new Thread(new </a:t>
            </a:r>
            <a:r>
              <a:rPr lang="en-US" dirty="0" err="1">
                <a:solidFill>
                  <a:srgbClr val="92D050"/>
                </a:solidFill>
                <a:latin typeface="Consolas" panose="020B0609020204030204" pitchFamily="49" charset="0"/>
              </a:rPr>
              <a:t>MyClass</a:t>
            </a:r>
            <a:r>
              <a:rPr lang="en-US" dirty="0">
                <a:solidFill>
                  <a:srgbClr val="92D050"/>
                </a:solidFill>
                <a:latin typeface="Consolas" panose="020B0609020204030204" pitchFamily="49" charset="0"/>
              </a:rPr>
              <a:t>(), "th2");</a:t>
            </a:r>
          </a:p>
          <a:p>
            <a:r>
              <a:rPr lang="en-US" dirty="0">
                <a:solidFill>
                  <a:srgbClr val="92D050"/>
                </a:solidFill>
                <a:latin typeface="Consolas" panose="020B0609020204030204" pitchFamily="49" charset="0"/>
              </a:rPr>
              <a:t>        Thread th3 = new Thread(new </a:t>
            </a:r>
            <a:r>
              <a:rPr lang="en-US" dirty="0" err="1">
                <a:solidFill>
                  <a:srgbClr val="92D050"/>
                </a:solidFill>
                <a:latin typeface="Consolas" panose="020B0609020204030204" pitchFamily="49" charset="0"/>
              </a:rPr>
              <a:t>MyClass</a:t>
            </a:r>
            <a:r>
              <a:rPr lang="en-US" dirty="0">
                <a:solidFill>
                  <a:srgbClr val="92D050"/>
                </a:solidFill>
                <a:latin typeface="Consolas" panose="020B0609020204030204" pitchFamily="49" charset="0"/>
              </a:rPr>
              <a:t>(), "th3");</a:t>
            </a:r>
          </a:p>
          <a:p>
            <a:endParaRPr lang="en-US" dirty="0">
              <a:solidFill>
                <a:srgbClr val="92D050"/>
              </a:solidFill>
              <a:latin typeface="Consolas" panose="020B0609020204030204" pitchFamily="49" charset="0"/>
            </a:endParaRPr>
          </a:p>
          <a:p>
            <a:r>
              <a:rPr lang="en-US" dirty="0">
                <a:solidFill>
                  <a:schemeClr val="bg1"/>
                </a:solidFill>
                <a:latin typeface="Consolas" panose="020B0609020204030204" pitchFamily="49" charset="0"/>
              </a:rPr>
              <a:t>        // Start first thread immediately</a:t>
            </a:r>
          </a:p>
          <a:p>
            <a:r>
              <a:rPr lang="en-US" dirty="0">
                <a:solidFill>
                  <a:schemeClr val="bg1"/>
                </a:solidFill>
                <a:latin typeface="Consolas" panose="020B0609020204030204" pitchFamily="49" charset="0"/>
              </a:rPr>
              <a:t>        </a:t>
            </a:r>
            <a:r>
              <a:rPr lang="en-US" dirty="0">
                <a:solidFill>
                  <a:srgbClr val="FF0000"/>
                </a:solidFill>
                <a:latin typeface="Consolas" panose="020B0609020204030204" pitchFamily="49" charset="0"/>
              </a:rPr>
              <a:t>th1.start();</a:t>
            </a:r>
          </a:p>
          <a:p>
            <a:endParaRPr lang="en-US" dirty="0">
              <a:solidFill>
                <a:schemeClr val="bg1"/>
              </a:solidFill>
              <a:latin typeface="Consolas" panose="020B0609020204030204" pitchFamily="49" charset="0"/>
            </a:endParaRPr>
          </a:p>
          <a:p>
            <a:r>
              <a:rPr lang="en-US" dirty="0">
                <a:solidFill>
                  <a:schemeClr val="bg1"/>
                </a:solidFill>
                <a:latin typeface="Consolas" panose="020B0609020204030204" pitchFamily="49" charset="0"/>
              </a:rPr>
              <a:t>        /* Start second thread (th2) once first thread (th1)</a:t>
            </a:r>
          </a:p>
          <a:p>
            <a:r>
              <a:rPr lang="en-US" dirty="0">
                <a:solidFill>
                  <a:schemeClr val="bg1"/>
                </a:solidFill>
                <a:latin typeface="Consolas" panose="020B0609020204030204" pitchFamily="49" charset="0"/>
              </a:rPr>
              <a:t>         * is dead</a:t>
            </a:r>
          </a:p>
          <a:p>
            <a:r>
              <a:rPr lang="en-US" dirty="0">
                <a:solidFill>
                  <a:schemeClr val="bg1"/>
                </a:solidFill>
                <a:latin typeface="Consolas" panose="020B0609020204030204" pitchFamily="49" charset="0"/>
              </a:rPr>
              <a:t>         */</a:t>
            </a:r>
          </a:p>
          <a:p>
            <a:r>
              <a:rPr lang="en-US" dirty="0">
                <a:solidFill>
                  <a:srgbClr val="92D050"/>
                </a:solidFill>
                <a:latin typeface="Consolas" panose="020B0609020204030204" pitchFamily="49" charset="0"/>
              </a:rPr>
              <a:t>        try {</a:t>
            </a:r>
          </a:p>
          <a:p>
            <a:r>
              <a:rPr lang="en-US" dirty="0">
                <a:solidFill>
                  <a:srgbClr val="92D050"/>
                </a:solidFill>
                <a:latin typeface="Consolas" panose="020B0609020204030204" pitchFamily="49" charset="0"/>
              </a:rPr>
              <a:t>            th1.join();</a:t>
            </a:r>
          </a:p>
          <a:p>
            <a:r>
              <a:rPr lang="en-US" dirty="0">
                <a:solidFill>
                  <a:srgbClr val="92D050"/>
                </a:solidFill>
                <a:latin typeface="Consolas" panose="020B0609020204030204" pitchFamily="49" charset="0"/>
              </a:rPr>
              <a:t>        } catch (</a:t>
            </a:r>
            <a:r>
              <a:rPr lang="en-US" dirty="0" err="1">
                <a:solidFill>
                  <a:srgbClr val="92D050"/>
                </a:solidFill>
                <a:latin typeface="Consolas" panose="020B0609020204030204" pitchFamily="49" charset="0"/>
              </a:rPr>
              <a:t>InterruptedException</a:t>
            </a:r>
            <a:r>
              <a:rPr lang="en-US" dirty="0">
                <a:solidFill>
                  <a:srgbClr val="92D050"/>
                </a:solidFill>
                <a:latin typeface="Consolas" panose="020B0609020204030204" pitchFamily="49" charset="0"/>
              </a:rPr>
              <a:t> </a:t>
            </a:r>
            <a:r>
              <a:rPr lang="en-US" dirty="0" err="1">
                <a:solidFill>
                  <a:srgbClr val="92D050"/>
                </a:solidFill>
                <a:latin typeface="Consolas" panose="020B0609020204030204" pitchFamily="49" charset="0"/>
              </a:rPr>
              <a:t>ie</a:t>
            </a:r>
            <a:r>
              <a:rPr lang="en-US" dirty="0">
                <a:solidFill>
                  <a:srgbClr val="92D050"/>
                </a:solidFill>
                <a:latin typeface="Consolas" panose="020B0609020204030204" pitchFamily="49" charset="0"/>
              </a:rPr>
              <a:t>) {</a:t>
            </a:r>
          </a:p>
          <a:p>
            <a:r>
              <a:rPr lang="en-US" dirty="0">
                <a:solidFill>
                  <a:srgbClr val="92D050"/>
                </a:solidFill>
                <a:latin typeface="Consolas" panose="020B0609020204030204" pitchFamily="49" charset="0"/>
              </a:rPr>
              <a:t>            </a:t>
            </a:r>
            <a:r>
              <a:rPr lang="en-US" dirty="0" err="1">
                <a:solidFill>
                  <a:srgbClr val="92D050"/>
                </a:solidFill>
                <a:latin typeface="Consolas" panose="020B0609020204030204" pitchFamily="49" charset="0"/>
              </a:rPr>
              <a:t>ie.printStackTrace</a:t>
            </a:r>
            <a:r>
              <a:rPr lang="en-US" dirty="0">
                <a:solidFill>
                  <a:srgbClr val="92D050"/>
                </a:solidFill>
                <a:latin typeface="Consolas" panose="020B0609020204030204" pitchFamily="49" charset="0"/>
              </a:rPr>
              <a:t>();</a:t>
            </a:r>
          </a:p>
          <a:p>
            <a:r>
              <a:rPr lang="en-US" dirty="0">
                <a:solidFill>
                  <a:srgbClr val="92D050"/>
                </a:solidFill>
                <a:latin typeface="Consolas" panose="020B0609020204030204" pitchFamily="49" charset="0"/>
              </a:rPr>
              <a:t>        }</a:t>
            </a:r>
          </a:p>
          <a:p>
            <a:r>
              <a:rPr lang="en-US" dirty="0">
                <a:solidFill>
                  <a:schemeClr val="bg1"/>
                </a:solidFill>
                <a:latin typeface="Consolas" panose="020B0609020204030204" pitchFamily="49" charset="0"/>
              </a:rPr>
              <a:t>        </a:t>
            </a:r>
            <a:r>
              <a:rPr lang="en-US" dirty="0">
                <a:solidFill>
                  <a:srgbClr val="FF0000"/>
                </a:solidFill>
                <a:latin typeface="Consolas" panose="020B0609020204030204" pitchFamily="49" charset="0"/>
              </a:rPr>
              <a:t>th2.start();</a:t>
            </a:r>
          </a:p>
          <a:p>
            <a:endParaRPr lang="en-US" dirty="0">
              <a:solidFill>
                <a:schemeClr val="bg1"/>
              </a:solidFill>
              <a:latin typeface="Consolas" panose="020B0609020204030204" pitchFamily="49" charset="0"/>
            </a:endParaRPr>
          </a:p>
          <a:p>
            <a:r>
              <a:rPr lang="en-US" dirty="0">
                <a:solidFill>
                  <a:schemeClr val="bg1"/>
                </a:solidFill>
                <a:latin typeface="Consolas" panose="020B0609020204030204" pitchFamily="49" charset="0"/>
              </a:rPr>
              <a:t>        /* Start third thread (th3) once second thread (th2)</a:t>
            </a:r>
          </a:p>
          <a:p>
            <a:r>
              <a:rPr lang="en-US" dirty="0">
                <a:solidFill>
                  <a:schemeClr val="bg1"/>
                </a:solidFill>
                <a:latin typeface="Consolas" panose="020B0609020204030204" pitchFamily="49" charset="0"/>
              </a:rPr>
              <a:t>         * is dead</a:t>
            </a:r>
          </a:p>
          <a:p>
            <a:r>
              <a:rPr lang="en-US" dirty="0">
                <a:solidFill>
                  <a:schemeClr val="bg1"/>
                </a:solidFill>
                <a:latin typeface="Consolas" panose="020B0609020204030204" pitchFamily="49" charset="0"/>
              </a:rPr>
              <a:t>         */</a:t>
            </a:r>
          </a:p>
          <a:p>
            <a:r>
              <a:rPr lang="en-US" dirty="0">
                <a:solidFill>
                  <a:srgbClr val="92D050"/>
                </a:solidFill>
                <a:latin typeface="Consolas" panose="020B0609020204030204" pitchFamily="49" charset="0"/>
              </a:rPr>
              <a:t>        try {</a:t>
            </a:r>
          </a:p>
          <a:p>
            <a:r>
              <a:rPr lang="en-US" dirty="0">
                <a:solidFill>
                  <a:srgbClr val="92D050"/>
                </a:solidFill>
                <a:latin typeface="Consolas" panose="020B0609020204030204" pitchFamily="49" charset="0"/>
              </a:rPr>
              <a:t>            th2.join();</a:t>
            </a:r>
          </a:p>
          <a:p>
            <a:r>
              <a:rPr lang="en-US" dirty="0">
                <a:solidFill>
                  <a:srgbClr val="92D050"/>
                </a:solidFill>
                <a:latin typeface="Consolas" panose="020B0609020204030204" pitchFamily="49" charset="0"/>
              </a:rPr>
              <a:t>        } catch (</a:t>
            </a:r>
            <a:r>
              <a:rPr lang="en-US" dirty="0" err="1">
                <a:solidFill>
                  <a:srgbClr val="92D050"/>
                </a:solidFill>
                <a:latin typeface="Consolas" panose="020B0609020204030204" pitchFamily="49" charset="0"/>
              </a:rPr>
              <a:t>InterruptedException</a:t>
            </a:r>
            <a:r>
              <a:rPr lang="en-US" dirty="0">
                <a:solidFill>
                  <a:srgbClr val="92D050"/>
                </a:solidFill>
                <a:latin typeface="Consolas" panose="020B0609020204030204" pitchFamily="49" charset="0"/>
              </a:rPr>
              <a:t> </a:t>
            </a:r>
            <a:r>
              <a:rPr lang="en-US" dirty="0" err="1">
                <a:solidFill>
                  <a:srgbClr val="92D050"/>
                </a:solidFill>
                <a:latin typeface="Consolas" panose="020B0609020204030204" pitchFamily="49" charset="0"/>
              </a:rPr>
              <a:t>ie</a:t>
            </a:r>
            <a:r>
              <a:rPr lang="en-US" dirty="0">
                <a:solidFill>
                  <a:srgbClr val="92D050"/>
                </a:solidFill>
                <a:latin typeface="Consolas" panose="020B0609020204030204" pitchFamily="49" charset="0"/>
              </a:rPr>
              <a:t>) {</a:t>
            </a:r>
          </a:p>
          <a:p>
            <a:r>
              <a:rPr lang="en-US" dirty="0">
                <a:solidFill>
                  <a:srgbClr val="92D050"/>
                </a:solidFill>
                <a:latin typeface="Consolas" panose="020B0609020204030204" pitchFamily="49" charset="0"/>
              </a:rPr>
              <a:t>            </a:t>
            </a:r>
            <a:r>
              <a:rPr lang="en-US" dirty="0" err="1">
                <a:solidFill>
                  <a:srgbClr val="92D050"/>
                </a:solidFill>
                <a:latin typeface="Consolas" panose="020B0609020204030204" pitchFamily="49" charset="0"/>
              </a:rPr>
              <a:t>ie.printStackTrace</a:t>
            </a:r>
            <a:r>
              <a:rPr lang="en-US" dirty="0">
                <a:solidFill>
                  <a:srgbClr val="92D050"/>
                </a:solidFill>
                <a:latin typeface="Consolas" panose="020B0609020204030204" pitchFamily="49" charset="0"/>
              </a:rPr>
              <a:t>();</a:t>
            </a:r>
          </a:p>
          <a:p>
            <a:r>
              <a:rPr lang="en-US" dirty="0">
                <a:solidFill>
                  <a:schemeClr val="bg1"/>
                </a:solidFill>
                <a:latin typeface="Consolas" panose="020B0609020204030204" pitchFamily="49" charset="0"/>
              </a:rPr>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BE51BB17-4EC8-DFE8-85D7-685DCB510CEC}"/>
            </a:ext>
          </a:extLst>
        </p:cNvPr>
        <p:cNvGrpSpPr/>
        <p:nvPr/>
      </p:nvGrpSpPr>
      <p:grpSpPr>
        <a:xfrm>
          <a:off x="0" y="0"/>
          <a:ext cx="0" cy="0"/>
          <a:chOff x="0" y="0"/>
          <a:chExt cx="0" cy="0"/>
        </a:xfrm>
      </p:grpSpPr>
      <p:sp>
        <p:nvSpPr>
          <p:cNvPr id="297" name="Google Shape;297;p48">
            <a:extLst>
              <a:ext uri="{FF2B5EF4-FFF2-40B4-BE49-F238E27FC236}">
                <a16:creationId xmlns:a16="http://schemas.microsoft.com/office/drawing/2014/main" id="{688055C5-E66A-026D-83F2-99C5414C6A6D}"/>
              </a:ext>
            </a:extLst>
          </p:cNvPr>
          <p:cNvSpPr txBox="1"/>
          <p:nvPr/>
        </p:nvSpPr>
        <p:spPr>
          <a:xfrm>
            <a:off x="2590800" y="304800"/>
            <a:ext cx="36576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Example of using join()</a:t>
            </a:r>
            <a:endParaRPr/>
          </a:p>
        </p:txBody>
      </p:sp>
      <p:sp>
        <p:nvSpPr>
          <p:cNvPr id="2" name="TextBox 1">
            <a:extLst>
              <a:ext uri="{FF2B5EF4-FFF2-40B4-BE49-F238E27FC236}">
                <a16:creationId xmlns:a16="http://schemas.microsoft.com/office/drawing/2014/main" id="{9DFB8E49-AC70-BA28-BC8E-3F7D04C13732}"/>
              </a:ext>
            </a:extLst>
          </p:cNvPr>
          <p:cNvSpPr txBox="1"/>
          <p:nvPr/>
        </p:nvSpPr>
        <p:spPr>
          <a:xfrm>
            <a:off x="858982" y="1089891"/>
            <a:ext cx="6511636" cy="5693866"/>
          </a:xfrm>
          <a:prstGeom prst="rect">
            <a:avLst/>
          </a:prstGeom>
          <a:solidFill>
            <a:schemeClr val="tx1"/>
          </a:solidFill>
        </p:spPr>
        <p:txBody>
          <a:bodyPr wrap="square" rtlCol="0">
            <a:spAutoFit/>
          </a:bodyPr>
          <a:lstStyle/>
          <a:p>
            <a:r>
              <a:rPr lang="en-US" dirty="0">
                <a:solidFill>
                  <a:srgbClr val="FF0000"/>
                </a:solidFill>
              </a:rPr>
              <a:t>th3.start();</a:t>
            </a:r>
          </a:p>
          <a:p>
            <a:endParaRPr lang="en-US" dirty="0">
              <a:solidFill>
                <a:schemeClr val="bg1"/>
              </a:solidFill>
            </a:endParaRPr>
          </a:p>
          <a:p>
            <a:r>
              <a:rPr lang="en-US" dirty="0">
                <a:solidFill>
                  <a:schemeClr val="bg1"/>
                </a:solidFill>
              </a:rPr>
              <a:t>        // Displaying a message once third thread is dead</a:t>
            </a:r>
          </a:p>
          <a:p>
            <a:r>
              <a:rPr lang="en-US" dirty="0">
                <a:solidFill>
                  <a:srgbClr val="92D050"/>
                </a:solidFill>
              </a:rPr>
              <a:t>        try {</a:t>
            </a:r>
          </a:p>
          <a:p>
            <a:r>
              <a:rPr lang="en-US" dirty="0">
                <a:solidFill>
                  <a:srgbClr val="92D050"/>
                </a:solidFill>
              </a:rPr>
              <a:t>            th3.join();</a:t>
            </a:r>
          </a:p>
          <a:p>
            <a:r>
              <a:rPr lang="en-US" dirty="0">
                <a:solidFill>
                  <a:srgbClr val="92D050"/>
                </a:solidFill>
              </a:rPr>
              <a:t>        } catch (</a:t>
            </a:r>
            <a:r>
              <a:rPr lang="en-US" dirty="0" err="1">
                <a:solidFill>
                  <a:srgbClr val="92D050"/>
                </a:solidFill>
              </a:rPr>
              <a:t>InterruptedException</a:t>
            </a:r>
            <a:r>
              <a:rPr lang="en-US" dirty="0">
                <a:solidFill>
                  <a:srgbClr val="92D050"/>
                </a:solidFill>
              </a:rPr>
              <a:t> </a:t>
            </a:r>
            <a:r>
              <a:rPr lang="en-US" dirty="0" err="1">
                <a:solidFill>
                  <a:srgbClr val="92D050"/>
                </a:solidFill>
              </a:rPr>
              <a:t>ie</a:t>
            </a:r>
            <a:r>
              <a:rPr lang="en-US" dirty="0">
                <a:solidFill>
                  <a:srgbClr val="92D050"/>
                </a:solidFill>
              </a:rPr>
              <a:t>) {</a:t>
            </a:r>
          </a:p>
          <a:p>
            <a:r>
              <a:rPr lang="en-US" dirty="0">
                <a:solidFill>
                  <a:srgbClr val="92D050"/>
                </a:solidFill>
              </a:rPr>
              <a:t>            </a:t>
            </a:r>
            <a:r>
              <a:rPr lang="en-US" dirty="0" err="1">
                <a:solidFill>
                  <a:srgbClr val="92D050"/>
                </a:solidFill>
              </a:rPr>
              <a:t>ie.printStackTrace</a:t>
            </a:r>
            <a:r>
              <a:rPr lang="en-US" dirty="0">
                <a:solidFill>
                  <a:srgbClr val="92D050"/>
                </a:solidFill>
              </a:rPr>
              <a:t>();</a:t>
            </a:r>
          </a:p>
          <a:p>
            <a:r>
              <a:rPr lang="en-US" dirty="0">
                <a:solidFill>
                  <a:srgbClr val="92D050"/>
                </a:solidFill>
              </a:rPr>
              <a:t>        }</a:t>
            </a:r>
          </a:p>
          <a:p>
            <a:r>
              <a:rPr lang="en-US" dirty="0">
                <a:solidFill>
                  <a:schemeClr val="bg1"/>
                </a:solidFill>
              </a:rPr>
              <a:t>        </a:t>
            </a:r>
            <a:r>
              <a:rPr lang="en-US" dirty="0" err="1">
                <a:solidFill>
                  <a:schemeClr val="bg1"/>
                </a:solidFill>
              </a:rPr>
              <a:t>System.out.println</a:t>
            </a:r>
            <a:r>
              <a:rPr lang="en-US" dirty="0">
                <a:solidFill>
                  <a:schemeClr val="bg1"/>
                </a:solidFill>
              </a:rPr>
              <a:t>("All three threads have finished execution");</a:t>
            </a:r>
          </a:p>
          <a:p>
            <a:r>
              <a:rPr lang="en-US" dirty="0">
                <a:solidFill>
                  <a:schemeClr val="bg1"/>
                </a:solidFill>
              </a:rPr>
              <a:t>    }</a:t>
            </a:r>
          </a:p>
          <a:p>
            <a:r>
              <a:rPr lang="en-US" dirty="0">
                <a:solidFill>
                  <a:schemeClr val="bg1"/>
                </a:solidFill>
              </a:rPr>
              <a:t>}</a:t>
            </a:r>
          </a:p>
          <a:p>
            <a:endParaRPr lang="en-US" dirty="0">
              <a:solidFill>
                <a:schemeClr val="bg1"/>
              </a:solidFill>
            </a:endParaRPr>
          </a:p>
          <a:p>
            <a:r>
              <a:rPr lang="en-US" dirty="0">
                <a:solidFill>
                  <a:schemeClr val="bg1"/>
                </a:solidFill>
              </a:rPr>
              <a:t>class </a:t>
            </a:r>
            <a:r>
              <a:rPr lang="en-US" dirty="0" err="1">
                <a:solidFill>
                  <a:schemeClr val="bg1"/>
                </a:solidFill>
              </a:rPr>
              <a:t>MyClass</a:t>
            </a:r>
            <a:r>
              <a:rPr lang="en-US" dirty="0">
                <a:solidFill>
                  <a:schemeClr val="bg1"/>
                </a:solidFill>
              </a:rPr>
              <a:t> implements Runnable {</a:t>
            </a:r>
          </a:p>
          <a:p>
            <a:endParaRPr lang="en-US" dirty="0">
              <a:solidFill>
                <a:schemeClr val="bg1"/>
              </a:solidFill>
            </a:endParaRPr>
          </a:p>
          <a:p>
            <a:r>
              <a:rPr lang="en-US" dirty="0">
                <a:solidFill>
                  <a:schemeClr val="bg1"/>
                </a:solidFill>
              </a:rPr>
              <a:t>    </a:t>
            </a:r>
            <a:r>
              <a:rPr lang="en-US" dirty="0">
                <a:solidFill>
                  <a:srgbClr val="92D050"/>
                </a:solidFill>
              </a:rPr>
              <a:t>@Override</a:t>
            </a:r>
          </a:p>
          <a:p>
            <a:r>
              <a:rPr lang="en-US" dirty="0">
                <a:solidFill>
                  <a:srgbClr val="92D050"/>
                </a:solidFill>
              </a:rPr>
              <a:t>    public void run() {</a:t>
            </a:r>
          </a:p>
          <a:p>
            <a:r>
              <a:rPr lang="en-US" dirty="0">
                <a:solidFill>
                  <a:srgbClr val="92D050"/>
                </a:solidFill>
              </a:rPr>
              <a:t>        Thread t = </a:t>
            </a:r>
            <a:r>
              <a:rPr lang="en-US" dirty="0" err="1">
                <a:solidFill>
                  <a:srgbClr val="92D050"/>
                </a:solidFill>
              </a:rPr>
              <a:t>Thread.currentThread</a:t>
            </a:r>
            <a:r>
              <a:rPr lang="en-US" dirty="0">
                <a:solidFill>
                  <a:srgbClr val="92D050"/>
                </a:solidFill>
              </a:rPr>
              <a:t>();</a:t>
            </a:r>
          </a:p>
          <a:p>
            <a:r>
              <a:rPr lang="en-US" dirty="0">
                <a:solidFill>
                  <a:srgbClr val="92D050"/>
                </a:solidFill>
              </a:rPr>
              <a:t>        </a:t>
            </a:r>
            <a:r>
              <a:rPr lang="en-US" dirty="0" err="1">
                <a:solidFill>
                  <a:srgbClr val="92D050"/>
                </a:solidFill>
              </a:rPr>
              <a:t>System.out.println</a:t>
            </a:r>
            <a:r>
              <a:rPr lang="en-US" dirty="0">
                <a:solidFill>
                  <a:srgbClr val="92D050"/>
                </a:solidFill>
              </a:rPr>
              <a:t>("Thread started: " + </a:t>
            </a:r>
            <a:r>
              <a:rPr lang="en-US" dirty="0" err="1">
                <a:solidFill>
                  <a:srgbClr val="92D050"/>
                </a:solidFill>
              </a:rPr>
              <a:t>t.getName</a:t>
            </a:r>
            <a:r>
              <a:rPr lang="en-US" dirty="0">
                <a:solidFill>
                  <a:srgbClr val="92D050"/>
                </a:solidFill>
              </a:rPr>
              <a:t>());</a:t>
            </a:r>
          </a:p>
          <a:p>
            <a:r>
              <a:rPr lang="en-US" dirty="0">
                <a:solidFill>
                  <a:srgbClr val="92D050"/>
                </a:solidFill>
              </a:rPr>
              <a:t>        try {</a:t>
            </a:r>
          </a:p>
          <a:p>
            <a:r>
              <a:rPr lang="en-US" dirty="0">
                <a:solidFill>
                  <a:srgbClr val="92D050"/>
                </a:solidFill>
              </a:rPr>
              <a:t>            </a:t>
            </a:r>
            <a:r>
              <a:rPr lang="en-US" dirty="0" err="1">
                <a:solidFill>
                  <a:srgbClr val="92D050"/>
                </a:solidFill>
              </a:rPr>
              <a:t>Thread.sleep</a:t>
            </a:r>
            <a:r>
              <a:rPr lang="en-US" dirty="0">
                <a:solidFill>
                  <a:srgbClr val="92D050"/>
                </a:solidFill>
              </a:rPr>
              <a:t>(4000);</a:t>
            </a:r>
          </a:p>
          <a:p>
            <a:r>
              <a:rPr lang="en-US" dirty="0">
                <a:solidFill>
                  <a:srgbClr val="92D050"/>
                </a:solidFill>
              </a:rPr>
              <a:t>        } catch (</a:t>
            </a:r>
            <a:r>
              <a:rPr lang="en-US" dirty="0" err="1">
                <a:solidFill>
                  <a:srgbClr val="92D050"/>
                </a:solidFill>
              </a:rPr>
              <a:t>InterruptedException</a:t>
            </a:r>
            <a:r>
              <a:rPr lang="en-US" dirty="0">
                <a:solidFill>
                  <a:srgbClr val="92D050"/>
                </a:solidFill>
              </a:rPr>
              <a:t> </a:t>
            </a:r>
            <a:r>
              <a:rPr lang="en-US" dirty="0" err="1">
                <a:solidFill>
                  <a:srgbClr val="92D050"/>
                </a:solidFill>
              </a:rPr>
              <a:t>ie</a:t>
            </a:r>
            <a:r>
              <a:rPr lang="en-US" dirty="0">
                <a:solidFill>
                  <a:srgbClr val="92D050"/>
                </a:solidFill>
              </a:rPr>
              <a:t>) {</a:t>
            </a:r>
          </a:p>
          <a:p>
            <a:r>
              <a:rPr lang="en-US" dirty="0">
                <a:solidFill>
                  <a:srgbClr val="92D050"/>
                </a:solidFill>
              </a:rPr>
              <a:t>            </a:t>
            </a:r>
            <a:r>
              <a:rPr lang="en-US" dirty="0" err="1">
                <a:solidFill>
                  <a:srgbClr val="92D050"/>
                </a:solidFill>
              </a:rPr>
              <a:t>ie.printStackTrace</a:t>
            </a:r>
            <a:r>
              <a:rPr lang="en-US" dirty="0">
                <a:solidFill>
                  <a:srgbClr val="92D050"/>
                </a:solidFill>
              </a:rPr>
              <a:t>();</a:t>
            </a:r>
          </a:p>
          <a:p>
            <a:r>
              <a:rPr lang="en-US" dirty="0">
                <a:solidFill>
                  <a:srgbClr val="92D050"/>
                </a:solidFill>
              </a:rPr>
              <a:t>        }</a:t>
            </a:r>
          </a:p>
          <a:p>
            <a:r>
              <a:rPr lang="en-US" dirty="0">
                <a:solidFill>
                  <a:schemeClr val="bg1"/>
                </a:solidFill>
              </a:rPr>
              <a:t>        </a:t>
            </a:r>
            <a:r>
              <a:rPr lang="en-US" dirty="0" err="1">
                <a:solidFill>
                  <a:schemeClr val="bg1"/>
                </a:solidFill>
              </a:rPr>
              <a:t>System.out.println</a:t>
            </a:r>
            <a:r>
              <a:rPr lang="en-US" dirty="0">
                <a:solidFill>
                  <a:schemeClr val="bg1"/>
                </a:solidFill>
              </a:rPr>
              <a:t>("Thread ended: " + </a:t>
            </a:r>
            <a:r>
              <a:rPr lang="en-US" dirty="0" err="1">
                <a:solidFill>
                  <a:schemeClr val="bg1"/>
                </a:solidFill>
              </a:rPr>
              <a:t>t.getName</a:t>
            </a:r>
            <a:r>
              <a:rPr lang="en-US" dirty="0">
                <a:solidFill>
                  <a:schemeClr val="bg1"/>
                </a:solidFill>
              </a:rPr>
              <a:t>());</a:t>
            </a:r>
          </a:p>
          <a:p>
            <a:r>
              <a:rPr lang="en-US" dirty="0">
                <a:solidFill>
                  <a:schemeClr val="bg1"/>
                </a:solidFill>
              </a:rPr>
              <a:t>    }</a:t>
            </a:r>
          </a:p>
          <a:p>
            <a:r>
              <a:rPr lang="en-US" dirty="0">
                <a:solidFill>
                  <a:schemeClr val="bg1"/>
                </a:solidFill>
              </a:rPr>
              <a:t>}</a:t>
            </a:r>
            <a:endParaRPr lang="en-IN" dirty="0">
              <a:solidFill>
                <a:schemeClr val="bg1"/>
              </a:solidFill>
            </a:endParaRPr>
          </a:p>
        </p:txBody>
      </p:sp>
    </p:spTree>
    <p:extLst>
      <p:ext uri="{BB962C8B-B14F-4D97-AF65-F5344CB8AC3E}">
        <p14:creationId xmlns:p14="http://schemas.microsoft.com/office/powerpoint/2010/main" val="19213663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07" name="Google Shape;307;p50"/>
          <p:cNvPicPr preferRelativeResize="0"/>
          <p:nvPr/>
        </p:nvPicPr>
        <p:blipFill rotWithShape="1">
          <a:blip r:embed="rId3">
            <a:alphaModFix/>
          </a:blip>
          <a:srcRect/>
          <a:stretch/>
        </p:blipFill>
        <p:spPr>
          <a:xfrm>
            <a:off x="1066800" y="914400"/>
            <a:ext cx="6924675" cy="20002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51"/>
          <p:cNvSpPr txBox="1"/>
          <p:nvPr/>
        </p:nvSpPr>
        <p:spPr>
          <a:xfrm>
            <a:off x="2514600" y="457200"/>
            <a:ext cx="3810000"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Synchronization</a:t>
            </a:r>
            <a:endParaRPr/>
          </a:p>
        </p:txBody>
      </p:sp>
      <p:sp>
        <p:nvSpPr>
          <p:cNvPr id="313" name="Google Shape;313;p51"/>
          <p:cNvSpPr txBox="1"/>
          <p:nvPr/>
        </p:nvSpPr>
        <p:spPr>
          <a:xfrm>
            <a:off x="838200" y="990600"/>
            <a:ext cx="7924800" cy="6186487"/>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Times New Roman" panose="02020603050405020304" pitchFamily="18" charset="0"/>
                <a:cs typeface="Times New Roman" panose="02020603050405020304" pitchFamily="18" charset="0"/>
                <a:sym typeface="Arial"/>
              </a:rPr>
              <a:t>When two or more threads need access to a shared resource, they need some way to ensure that the resource will be used by only one thread at a time. The process by which this is achieved is called synchronization. As you will see, Java provides unique, language-level support for it.</a:t>
            </a:r>
            <a:endParaRPr dirty="0">
              <a:latin typeface="Times New Roman" panose="02020603050405020304" pitchFamily="18" charset="0"/>
              <a:cs typeface="Times New Roman" panose="02020603050405020304" pitchFamily="18" charset="0"/>
            </a:endParaRPr>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Times New Roman" panose="02020603050405020304" pitchFamily="18" charset="0"/>
                <a:cs typeface="Times New Roman" panose="02020603050405020304" pitchFamily="18" charset="0"/>
                <a:sym typeface="Arial"/>
              </a:rPr>
              <a:t>Key to synchronization is the concept of the monitor. </a:t>
            </a:r>
            <a:endParaRPr dirty="0">
              <a:latin typeface="Times New Roman" panose="02020603050405020304" pitchFamily="18" charset="0"/>
              <a:cs typeface="Times New Roman" panose="02020603050405020304" pitchFamily="18" charset="0"/>
            </a:endParaRPr>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Times New Roman" panose="02020603050405020304" pitchFamily="18" charset="0"/>
                <a:cs typeface="Times New Roman" panose="02020603050405020304" pitchFamily="18" charset="0"/>
                <a:sym typeface="Arial"/>
              </a:rPr>
              <a:t>A monitor is an object that is used as a mutually exclusive lock. </a:t>
            </a:r>
            <a:endParaRPr dirty="0">
              <a:latin typeface="Times New Roman" panose="02020603050405020304" pitchFamily="18" charset="0"/>
              <a:cs typeface="Times New Roman" panose="02020603050405020304" pitchFamily="18" charset="0"/>
            </a:endParaRPr>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Times New Roman" panose="02020603050405020304" pitchFamily="18" charset="0"/>
                <a:cs typeface="Times New Roman" panose="02020603050405020304" pitchFamily="18" charset="0"/>
                <a:sym typeface="Arial"/>
              </a:rPr>
              <a:t>Only one thread can own a monitor at a given time. </a:t>
            </a:r>
            <a:endParaRPr dirty="0">
              <a:latin typeface="Times New Roman" panose="02020603050405020304" pitchFamily="18" charset="0"/>
              <a:cs typeface="Times New Roman" panose="02020603050405020304" pitchFamily="18" charset="0"/>
            </a:endParaRPr>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Times New Roman" panose="02020603050405020304" pitchFamily="18" charset="0"/>
                <a:cs typeface="Times New Roman" panose="02020603050405020304" pitchFamily="18" charset="0"/>
                <a:sym typeface="Arial"/>
              </a:rPr>
              <a:t>When a thread acquires a lock, it is said to have entered the monitor. </a:t>
            </a:r>
            <a:endParaRPr dirty="0">
              <a:latin typeface="Times New Roman" panose="02020603050405020304" pitchFamily="18" charset="0"/>
              <a:cs typeface="Times New Roman" panose="02020603050405020304" pitchFamily="18" charset="0"/>
            </a:endParaRPr>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Times New Roman" panose="02020603050405020304" pitchFamily="18" charset="0"/>
                <a:cs typeface="Times New Roman" panose="02020603050405020304" pitchFamily="18" charset="0"/>
                <a:sym typeface="Arial"/>
              </a:rPr>
              <a:t>All other threads attempting to enter the locked monitor will be suspended until the first thread exits the monitor. </a:t>
            </a:r>
            <a:endParaRPr dirty="0">
              <a:latin typeface="Times New Roman" panose="02020603050405020304" pitchFamily="18" charset="0"/>
              <a:cs typeface="Times New Roman" panose="02020603050405020304" pitchFamily="18" charset="0"/>
            </a:endParaRPr>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Times New Roman" panose="02020603050405020304" pitchFamily="18" charset="0"/>
                <a:cs typeface="Times New Roman" panose="02020603050405020304" pitchFamily="18" charset="0"/>
                <a:sym typeface="Arial"/>
              </a:rPr>
              <a:t>These other threads are said to be waiting for the monitor. A thread that owns a monitor can reenter the same monitor if it so desires. </a:t>
            </a:r>
            <a:endParaRPr dirty="0">
              <a:latin typeface="Times New Roman" panose="02020603050405020304" pitchFamily="18" charset="0"/>
              <a:cs typeface="Times New Roman" panose="02020603050405020304" pitchFamily="18" charset="0"/>
            </a:endParaRPr>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dirty="0">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52"/>
          <p:cNvSpPr txBox="1"/>
          <p:nvPr/>
        </p:nvSpPr>
        <p:spPr>
          <a:xfrm>
            <a:off x="609600" y="381000"/>
            <a:ext cx="8229600"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Understanding the problem without Synchronization</a:t>
            </a:r>
            <a:endParaRPr/>
          </a:p>
        </p:txBody>
      </p:sp>
      <p:sp>
        <p:nvSpPr>
          <p:cNvPr id="320" name="Google Shape;320;p52"/>
          <p:cNvSpPr txBox="1"/>
          <p:nvPr/>
        </p:nvSpPr>
        <p:spPr>
          <a:xfrm>
            <a:off x="905163" y="1124527"/>
            <a:ext cx="7086600" cy="5078412"/>
          </a:xfrm>
          <a:prstGeom prst="rect">
            <a:avLst/>
          </a:prstGeom>
          <a:solidFill>
            <a:schemeClr val="tx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i="0" u="none" dirty="0">
                <a:solidFill>
                  <a:schemeClr val="bg1"/>
                </a:solidFill>
                <a:latin typeface="Consolas" panose="020B0609020204030204" pitchFamily="49" charset="0"/>
                <a:sym typeface="Arial"/>
              </a:rPr>
              <a:t>class First</a:t>
            </a:r>
            <a:br>
              <a:rPr lang="en-US" sz="1800" i="0" u="none" dirty="0">
                <a:solidFill>
                  <a:schemeClr val="bg1"/>
                </a:solidFill>
                <a:latin typeface="Consolas" panose="020B0609020204030204" pitchFamily="49" charset="0"/>
                <a:sym typeface="Arial"/>
              </a:rPr>
            </a:br>
            <a:r>
              <a:rPr lang="en-US" sz="1800" i="0" u="none" dirty="0">
                <a:solidFill>
                  <a:schemeClr val="bg1"/>
                </a:solidFill>
                <a:latin typeface="Consolas" panose="020B0609020204030204" pitchFamily="49" charset="0"/>
                <a:sym typeface="Arial"/>
              </a:rPr>
              <a:t>{</a:t>
            </a:r>
            <a:br>
              <a:rPr lang="en-US" sz="1800" i="0" u="none" dirty="0">
                <a:solidFill>
                  <a:schemeClr val="bg1"/>
                </a:solidFill>
                <a:latin typeface="Consolas" panose="020B0609020204030204" pitchFamily="49" charset="0"/>
                <a:sym typeface="Arial"/>
              </a:rPr>
            </a:br>
            <a:r>
              <a:rPr lang="en-US" sz="1800" i="0" u="none" dirty="0">
                <a:solidFill>
                  <a:schemeClr val="bg1"/>
                </a:solidFill>
                <a:latin typeface="Consolas" panose="020B0609020204030204" pitchFamily="49" charset="0"/>
                <a:sym typeface="Arial"/>
              </a:rPr>
              <a:t>    public void display(String msg)</a:t>
            </a:r>
            <a:br>
              <a:rPr lang="en-US" sz="1800" i="0" u="none" dirty="0">
                <a:solidFill>
                  <a:schemeClr val="bg1"/>
                </a:solidFill>
                <a:latin typeface="Consolas" panose="020B0609020204030204" pitchFamily="49" charset="0"/>
                <a:sym typeface="Arial"/>
              </a:rPr>
            </a:br>
            <a:r>
              <a:rPr lang="en-US" sz="1800" i="0" u="none" dirty="0">
                <a:solidFill>
                  <a:schemeClr val="bg1"/>
                </a:solidFill>
                <a:latin typeface="Consolas" panose="020B0609020204030204" pitchFamily="49" charset="0"/>
                <a:sym typeface="Arial"/>
              </a:rPr>
              <a:t>    {</a:t>
            </a:r>
            <a:br>
              <a:rPr lang="en-US" sz="1800" i="0" u="none" dirty="0">
                <a:solidFill>
                  <a:schemeClr val="bg1"/>
                </a:solidFill>
                <a:latin typeface="Consolas" panose="020B0609020204030204" pitchFamily="49" charset="0"/>
                <a:sym typeface="Arial"/>
              </a:rPr>
            </a:br>
            <a:r>
              <a:rPr lang="en-US" sz="1800" i="0" u="none" dirty="0">
                <a:solidFill>
                  <a:schemeClr val="bg1"/>
                </a:solidFill>
                <a:latin typeface="Consolas" panose="020B0609020204030204" pitchFamily="49" charset="0"/>
                <a:sym typeface="Arial"/>
              </a:rPr>
              <a:t>        </a:t>
            </a:r>
            <a:r>
              <a:rPr lang="en-US" sz="1800" i="0" u="none" dirty="0" err="1">
                <a:solidFill>
                  <a:schemeClr val="bg1"/>
                </a:solidFill>
                <a:latin typeface="Consolas" panose="020B0609020204030204" pitchFamily="49" charset="0"/>
                <a:sym typeface="Arial"/>
              </a:rPr>
              <a:t>System.</a:t>
            </a:r>
            <a:r>
              <a:rPr lang="en-US" sz="1800" i="1" u="none" dirty="0" err="1">
                <a:solidFill>
                  <a:schemeClr val="bg1"/>
                </a:solidFill>
                <a:latin typeface="Consolas" panose="020B0609020204030204" pitchFamily="49" charset="0"/>
                <a:sym typeface="Arial"/>
              </a:rPr>
              <a:t>out</a:t>
            </a:r>
            <a:r>
              <a:rPr lang="en-US" sz="1800" i="0" u="none" dirty="0" err="1">
                <a:solidFill>
                  <a:schemeClr val="bg1"/>
                </a:solidFill>
                <a:latin typeface="Consolas" panose="020B0609020204030204" pitchFamily="49" charset="0"/>
                <a:sym typeface="Arial"/>
              </a:rPr>
              <a:t>.print</a:t>
            </a:r>
            <a:r>
              <a:rPr lang="en-US" sz="1800" i="0" u="none" dirty="0">
                <a:solidFill>
                  <a:schemeClr val="bg1"/>
                </a:solidFill>
                <a:latin typeface="Consolas" panose="020B0609020204030204" pitchFamily="49" charset="0"/>
                <a:sym typeface="Arial"/>
              </a:rPr>
              <a:t> ("["+msg);</a:t>
            </a:r>
            <a:br>
              <a:rPr lang="en-US" sz="1800" i="0" u="none" dirty="0">
                <a:solidFill>
                  <a:schemeClr val="bg1"/>
                </a:solidFill>
                <a:latin typeface="Consolas" panose="020B0609020204030204" pitchFamily="49" charset="0"/>
                <a:sym typeface="Arial"/>
              </a:rPr>
            </a:br>
            <a:r>
              <a:rPr lang="en-US" sz="1800" i="0" u="none" dirty="0">
                <a:solidFill>
                  <a:schemeClr val="bg1"/>
                </a:solidFill>
                <a:latin typeface="Consolas" panose="020B0609020204030204" pitchFamily="49" charset="0"/>
                <a:sym typeface="Arial"/>
              </a:rPr>
              <a:t>        try</a:t>
            </a:r>
            <a:br>
              <a:rPr lang="en-US" sz="1800" i="0" u="none" dirty="0">
                <a:solidFill>
                  <a:schemeClr val="bg1"/>
                </a:solidFill>
                <a:latin typeface="Consolas" panose="020B0609020204030204" pitchFamily="49" charset="0"/>
                <a:sym typeface="Arial"/>
              </a:rPr>
            </a:br>
            <a:r>
              <a:rPr lang="en-US" sz="1800" i="0" u="none" dirty="0">
                <a:solidFill>
                  <a:schemeClr val="bg1"/>
                </a:solidFill>
                <a:latin typeface="Consolas" panose="020B0609020204030204" pitchFamily="49" charset="0"/>
                <a:sym typeface="Arial"/>
              </a:rPr>
              <a:t>        {</a:t>
            </a:r>
            <a:br>
              <a:rPr lang="en-US" sz="1800" i="0" u="none" dirty="0">
                <a:solidFill>
                  <a:schemeClr val="bg1"/>
                </a:solidFill>
                <a:latin typeface="Consolas" panose="020B0609020204030204" pitchFamily="49" charset="0"/>
                <a:sym typeface="Arial"/>
              </a:rPr>
            </a:br>
            <a:r>
              <a:rPr lang="en-US" sz="1800" i="0" u="none" dirty="0">
                <a:solidFill>
                  <a:schemeClr val="bg1"/>
                </a:solidFill>
                <a:latin typeface="Consolas" panose="020B0609020204030204" pitchFamily="49" charset="0"/>
                <a:sym typeface="Arial"/>
              </a:rPr>
              <a:t>            </a:t>
            </a:r>
            <a:r>
              <a:rPr lang="en-US" sz="1800" i="0" u="none" dirty="0" err="1">
                <a:solidFill>
                  <a:schemeClr val="bg1"/>
                </a:solidFill>
                <a:latin typeface="Consolas" panose="020B0609020204030204" pitchFamily="49" charset="0"/>
                <a:sym typeface="Arial"/>
              </a:rPr>
              <a:t>Thread.</a:t>
            </a:r>
            <a:r>
              <a:rPr lang="en-US" sz="1800" i="1" u="none" dirty="0" err="1">
                <a:solidFill>
                  <a:schemeClr val="bg1"/>
                </a:solidFill>
                <a:latin typeface="Consolas" panose="020B0609020204030204" pitchFamily="49" charset="0"/>
                <a:sym typeface="Arial"/>
              </a:rPr>
              <a:t>sleep</a:t>
            </a:r>
            <a:r>
              <a:rPr lang="en-US" sz="1800" i="0" u="none" dirty="0">
                <a:solidFill>
                  <a:schemeClr val="bg1"/>
                </a:solidFill>
                <a:latin typeface="Consolas" panose="020B0609020204030204" pitchFamily="49" charset="0"/>
                <a:sym typeface="Arial"/>
              </a:rPr>
              <a:t>(500);</a:t>
            </a:r>
            <a:br>
              <a:rPr lang="en-US" sz="1800" i="0" u="none" dirty="0">
                <a:solidFill>
                  <a:schemeClr val="bg1"/>
                </a:solidFill>
                <a:latin typeface="Consolas" panose="020B0609020204030204" pitchFamily="49" charset="0"/>
                <a:sym typeface="Arial"/>
              </a:rPr>
            </a:br>
            <a:r>
              <a:rPr lang="en-US" sz="1800" i="0" u="none" dirty="0">
                <a:solidFill>
                  <a:schemeClr val="bg1"/>
                </a:solidFill>
                <a:latin typeface="Consolas" panose="020B0609020204030204" pitchFamily="49" charset="0"/>
                <a:sym typeface="Arial"/>
              </a:rPr>
              <a:t>        }</a:t>
            </a:r>
            <a:br>
              <a:rPr lang="en-US" sz="1800" i="0" u="none" dirty="0">
                <a:solidFill>
                  <a:schemeClr val="bg1"/>
                </a:solidFill>
                <a:latin typeface="Consolas" panose="020B0609020204030204" pitchFamily="49" charset="0"/>
                <a:sym typeface="Arial"/>
              </a:rPr>
            </a:br>
            <a:r>
              <a:rPr lang="en-US" sz="1800" i="0" u="none" dirty="0">
                <a:solidFill>
                  <a:schemeClr val="bg1"/>
                </a:solidFill>
                <a:latin typeface="Consolas" panose="020B0609020204030204" pitchFamily="49" charset="0"/>
                <a:sym typeface="Arial"/>
              </a:rPr>
              <a:t>        catch(</a:t>
            </a:r>
            <a:r>
              <a:rPr lang="en-US" sz="1800" i="0" u="none" dirty="0" err="1">
                <a:solidFill>
                  <a:schemeClr val="bg1"/>
                </a:solidFill>
                <a:latin typeface="Consolas" panose="020B0609020204030204" pitchFamily="49" charset="0"/>
                <a:sym typeface="Arial"/>
              </a:rPr>
              <a:t>InterruptedException</a:t>
            </a:r>
            <a:r>
              <a:rPr lang="en-US" sz="1800" i="0" u="none" dirty="0">
                <a:solidFill>
                  <a:schemeClr val="bg1"/>
                </a:solidFill>
                <a:latin typeface="Consolas" panose="020B0609020204030204" pitchFamily="49" charset="0"/>
                <a:sym typeface="Arial"/>
              </a:rPr>
              <a:t> e)</a:t>
            </a:r>
            <a:br>
              <a:rPr lang="en-US" sz="1800" i="0" u="none" dirty="0">
                <a:solidFill>
                  <a:schemeClr val="bg1"/>
                </a:solidFill>
                <a:latin typeface="Consolas" panose="020B0609020204030204" pitchFamily="49" charset="0"/>
                <a:sym typeface="Arial"/>
              </a:rPr>
            </a:br>
            <a:r>
              <a:rPr lang="en-US" sz="1800" i="0" u="none" dirty="0">
                <a:solidFill>
                  <a:schemeClr val="bg1"/>
                </a:solidFill>
                <a:latin typeface="Consolas" panose="020B0609020204030204" pitchFamily="49" charset="0"/>
                <a:sym typeface="Arial"/>
              </a:rPr>
              <a:t>        {</a:t>
            </a:r>
            <a:br>
              <a:rPr lang="en-US" sz="1800" i="0" u="none" dirty="0">
                <a:solidFill>
                  <a:schemeClr val="bg1"/>
                </a:solidFill>
                <a:latin typeface="Consolas" panose="020B0609020204030204" pitchFamily="49" charset="0"/>
                <a:sym typeface="Arial"/>
              </a:rPr>
            </a:br>
            <a:r>
              <a:rPr lang="en-US" sz="1800" i="0" u="none" dirty="0">
                <a:solidFill>
                  <a:schemeClr val="bg1"/>
                </a:solidFill>
                <a:latin typeface="Consolas" panose="020B0609020204030204" pitchFamily="49" charset="0"/>
                <a:sym typeface="Arial"/>
              </a:rPr>
              <a:t>            </a:t>
            </a:r>
            <a:r>
              <a:rPr lang="en-US" sz="1800" i="0" u="none" dirty="0" err="1">
                <a:solidFill>
                  <a:schemeClr val="bg1"/>
                </a:solidFill>
                <a:latin typeface="Consolas" panose="020B0609020204030204" pitchFamily="49" charset="0"/>
                <a:sym typeface="Arial"/>
              </a:rPr>
              <a:t>e.printStackTrace</a:t>
            </a:r>
            <a:r>
              <a:rPr lang="en-US" sz="1800" i="0" u="none" dirty="0">
                <a:solidFill>
                  <a:schemeClr val="bg1"/>
                </a:solidFill>
                <a:latin typeface="Consolas" panose="020B0609020204030204" pitchFamily="49" charset="0"/>
                <a:sym typeface="Arial"/>
              </a:rPr>
              <a:t>();</a:t>
            </a:r>
            <a:br>
              <a:rPr lang="en-US" sz="1800" i="0" u="none" dirty="0">
                <a:solidFill>
                  <a:schemeClr val="bg1"/>
                </a:solidFill>
                <a:latin typeface="Consolas" panose="020B0609020204030204" pitchFamily="49" charset="0"/>
                <a:sym typeface="Arial"/>
              </a:rPr>
            </a:br>
            <a:r>
              <a:rPr lang="en-US" sz="1800" i="0" u="none" dirty="0">
                <a:solidFill>
                  <a:schemeClr val="bg1"/>
                </a:solidFill>
                <a:latin typeface="Consolas" panose="020B0609020204030204" pitchFamily="49" charset="0"/>
                <a:sym typeface="Arial"/>
              </a:rPr>
              <a:t>        }</a:t>
            </a:r>
            <a:br>
              <a:rPr lang="en-US" sz="1800" i="0" u="none" dirty="0">
                <a:solidFill>
                  <a:srgbClr val="92D050"/>
                </a:solidFill>
                <a:latin typeface="Consolas" panose="020B0609020204030204" pitchFamily="49" charset="0"/>
                <a:sym typeface="Arial"/>
              </a:rPr>
            </a:br>
            <a:r>
              <a:rPr lang="en-US" sz="1800" i="0" u="none" dirty="0">
                <a:solidFill>
                  <a:schemeClr val="bg1"/>
                </a:solidFill>
                <a:latin typeface="Consolas" panose="020B0609020204030204" pitchFamily="49" charset="0"/>
                <a:sym typeface="Arial"/>
              </a:rPr>
              <a:t>        </a:t>
            </a:r>
            <a:r>
              <a:rPr lang="en-US" sz="1800" i="0" u="none" dirty="0" err="1">
                <a:solidFill>
                  <a:schemeClr val="bg1"/>
                </a:solidFill>
                <a:latin typeface="Consolas" panose="020B0609020204030204" pitchFamily="49" charset="0"/>
                <a:sym typeface="Arial"/>
              </a:rPr>
              <a:t>System.</a:t>
            </a:r>
            <a:r>
              <a:rPr lang="en-US" sz="1800" i="1" u="none" dirty="0" err="1">
                <a:solidFill>
                  <a:schemeClr val="bg1"/>
                </a:solidFill>
                <a:latin typeface="Consolas" panose="020B0609020204030204" pitchFamily="49" charset="0"/>
                <a:sym typeface="Arial"/>
              </a:rPr>
              <a:t>out</a:t>
            </a:r>
            <a:r>
              <a:rPr lang="en-US" sz="1800" i="0" u="none" dirty="0" err="1">
                <a:solidFill>
                  <a:schemeClr val="bg1"/>
                </a:solidFill>
                <a:latin typeface="Consolas" panose="020B0609020204030204" pitchFamily="49" charset="0"/>
                <a:sym typeface="Arial"/>
              </a:rPr>
              <a:t>.println</a:t>
            </a:r>
            <a:r>
              <a:rPr lang="en-US" sz="1800" i="0" u="none" dirty="0">
                <a:solidFill>
                  <a:schemeClr val="bg1"/>
                </a:solidFill>
                <a:latin typeface="Consolas" panose="020B0609020204030204" pitchFamily="49" charset="0"/>
                <a:sym typeface="Arial"/>
              </a:rPr>
              <a:t> ("]");</a:t>
            </a:r>
            <a:br>
              <a:rPr lang="en-US" sz="1800" i="0" u="none" dirty="0">
                <a:solidFill>
                  <a:schemeClr val="bg1"/>
                </a:solidFill>
                <a:latin typeface="Consolas" panose="020B0609020204030204" pitchFamily="49" charset="0"/>
                <a:sym typeface="Arial"/>
              </a:rPr>
            </a:br>
            <a:r>
              <a:rPr lang="en-US" sz="1800" i="0" u="none" dirty="0">
                <a:solidFill>
                  <a:schemeClr val="bg1"/>
                </a:solidFill>
                <a:latin typeface="Consolas" panose="020B0609020204030204" pitchFamily="49" charset="0"/>
                <a:sym typeface="Arial"/>
              </a:rPr>
              <a:t>    }</a:t>
            </a:r>
            <a:br>
              <a:rPr lang="en-US" sz="1800" i="0" u="none" dirty="0">
                <a:solidFill>
                  <a:schemeClr val="bg1"/>
                </a:solidFill>
                <a:latin typeface="Consolas" panose="020B0609020204030204" pitchFamily="49" charset="0"/>
                <a:sym typeface="Arial"/>
              </a:rPr>
            </a:br>
            <a:r>
              <a:rPr lang="en-US" sz="1800" i="0" u="none" dirty="0">
                <a:solidFill>
                  <a:schemeClr val="bg1"/>
                </a:solidFill>
                <a:latin typeface="Consolas" panose="020B0609020204030204" pitchFamily="49" charset="0"/>
                <a:sym typeface="Arial"/>
              </a:rPr>
              <a:t>}</a:t>
            </a:r>
            <a:br>
              <a:rPr lang="en-US" sz="1800" i="0" u="none" dirty="0">
                <a:solidFill>
                  <a:schemeClr val="bg1"/>
                </a:solidFill>
                <a:latin typeface="Consolas" panose="020B0609020204030204" pitchFamily="49" charset="0"/>
                <a:sym typeface="Arial"/>
              </a:rPr>
            </a:br>
            <a:br>
              <a:rPr lang="en-US" sz="1800" b="0" i="0" u="none" dirty="0">
                <a:solidFill>
                  <a:schemeClr val="dk1"/>
                </a:solidFill>
                <a:latin typeface="Arial"/>
                <a:ea typeface="Arial"/>
                <a:cs typeface="Arial"/>
                <a:sym typeface="Arial"/>
              </a:rPr>
            </a:b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3"/>
          <p:cNvSpPr txBox="1"/>
          <p:nvPr/>
        </p:nvSpPr>
        <p:spPr>
          <a:xfrm>
            <a:off x="609600" y="381000"/>
            <a:ext cx="8229600"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Understanding the problem without Synchronization</a:t>
            </a:r>
            <a:endParaRPr/>
          </a:p>
        </p:txBody>
      </p:sp>
      <p:sp>
        <p:nvSpPr>
          <p:cNvPr id="326" name="Google Shape;326;p53"/>
          <p:cNvSpPr txBox="1"/>
          <p:nvPr/>
        </p:nvSpPr>
        <p:spPr>
          <a:xfrm>
            <a:off x="609600" y="1143000"/>
            <a:ext cx="8153400" cy="5181600"/>
          </a:xfrm>
          <a:prstGeom prst="rect">
            <a:avLst/>
          </a:prstGeom>
          <a:solidFill>
            <a:schemeClr val="tx1"/>
          </a:solidFill>
          <a:ln w="25400" cap="flat" cmpd="sng">
            <a:solidFill>
              <a:srgbClr val="385D8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7" name="Google Shape;327;p53"/>
          <p:cNvSpPr txBox="1"/>
          <p:nvPr/>
        </p:nvSpPr>
        <p:spPr>
          <a:xfrm>
            <a:off x="914400" y="1447800"/>
            <a:ext cx="7086600" cy="51704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200"/>
              <a:buFont typeface="Arial"/>
              <a:buNone/>
            </a:pPr>
            <a:r>
              <a:rPr lang="en-US" sz="1200" b="1" i="0" u="none" dirty="0">
                <a:solidFill>
                  <a:schemeClr val="bg1"/>
                </a:solidFill>
                <a:latin typeface="Arial"/>
                <a:ea typeface="Arial"/>
                <a:cs typeface="Arial"/>
                <a:sym typeface="Arial"/>
              </a:rPr>
              <a:t>class Second extends Thread</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String msg;</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First </a:t>
            </a:r>
            <a:r>
              <a:rPr lang="en-US" sz="1200" b="1" i="0" u="none" dirty="0" err="1">
                <a:solidFill>
                  <a:schemeClr val="bg1"/>
                </a:solidFill>
                <a:latin typeface="Arial"/>
                <a:ea typeface="Arial"/>
                <a:cs typeface="Arial"/>
                <a:sym typeface="Arial"/>
              </a:rPr>
              <a:t>fobj</a:t>
            </a:r>
            <a:r>
              <a:rPr lang="en-US" sz="1200" b="1" i="0" u="none" dirty="0">
                <a:solidFill>
                  <a:schemeClr val="bg1"/>
                </a:solidFill>
                <a:latin typeface="Arial"/>
                <a:ea typeface="Arial"/>
                <a:cs typeface="Arial"/>
                <a:sym typeface="Arial"/>
              </a:rPr>
              <a:t>;</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Second (First </a:t>
            </a:r>
            <a:r>
              <a:rPr lang="en-US" sz="1200" b="1" i="0" u="none" dirty="0" err="1">
                <a:solidFill>
                  <a:schemeClr val="bg1"/>
                </a:solidFill>
                <a:latin typeface="Arial"/>
                <a:ea typeface="Arial"/>
                <a:cs typeface="Arial"/>
                <a:sym typeface="Arial"/>
              </a:rPr>
              <a:t>fp,String</a:t>
            </a:r>
            <a:r>
              <a:rPr lang="en-US" sz="1200" b="1" i="0" u="none" dirty="0">
                <a:solidFill>
                  <a:schemeClr val="bg1"/>
                </a:solidFill>
                <a:latin typeface="Arial"/>
                <a:ea typeface="Arial"/>
                <a:cs typeface="Arial"/>
                <a:sym typeface="Arial"/>
              </a:rPr>
              <a:t> str)</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a:t>
            </a:r>
            <a:r>
              <a:rPr lang="en-US" sz="1200" b="1" i="0" u="none" dirty="0" err="1">
                <a:solidFill>
                  <a:schemeClr val="bg1"/>
                </a:solidFill>
                <a:latin typeface="Arial"/>
                <a:ea typeface="Arial"/>
                <a:cs typeface="Arial"/>
                <a:sym typeface="Arial"/>
              </a:rPr>
              <a:t>fobj</a:t>
            </a:r>
            <a:r>
              <a:rPr lang="en-US" sz="1200" b="1" i="0" u="none" dirty="0">
                <a:solidFill>
                  <a:schemeClr val="bg1"/>
                </a:solidFill>
                <a:latin typeface="Arial"/>
                <a:ea typeface="Arial"/>
                <a:cs typeface="Arial"/>
                <a:sym typeface="Arial"/>
              </a:rPr>
              <a:t> = </a:t>
            </a:r>
            <a:r>
              <a:rPr lang="en-US" sz="1200" b="1" i="0" u="none" dirty="0" err="1">
                <a:solidFill>
                  <a:schemeClr val="bg1"/>
                </a:solidFill>
                <a:latin typeface="Arial"/>
                <a:ea typeface="Arial"/>
                <a:cs typeface="Arial"/>
                <a:sym typeface="Arial"/>
              </a:rPr>
              <a:t>fp</a:t>
            </a:r>
            <a:r>
              <a:rPr lang="en-US" sz="1200" b="1" i="0" u="none" dirty="0">
                <a:solidFill>
                  <a:schemeClr val="bg1"/>
                </a:solidFill>
                <a:latin typeface="Arial"/>
                <a:ea typeface="Arial"/>
                <a:cs typeface="Arial"/>
                <a:sym typeface="Arial"/>
              </a:rPr>
              <a:t>;</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msg = str;</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start();</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a:t>
            </a:r>
            <a:br>
              <a:rPr lang="en-US" sz="1200" b="1" i="0" u="none" dirty="0">
                <a:solidFill>
                  <a:srgbClr val="FF0000"/>
                </a:solidFill>
                <a:latin typeface="Arial"/>
                <a:ea typeface="Arial"/>
                <a:cs typeface="Arial"/>
                <a:sym typeface="Arial"/>
              </a:rPr>
            </a:br>
            <a:r>
              <a:rPr lang="en-US" sz="1200" b="1" i="0" u="none" dirty="0">
                <a:solidFill>
                  <a:schemeClr val="bg1"/>
                </a:solidFill>
                <a:latin typeface="Arial"/>
                <a:ea typeface="Arial"/>
                <a:cs typeface="Arial"/>
                <a:sym typeface="Arial"/>
              </a:rPr>
              <a:t>    public void run()</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a:t>
            </a:r>
            <a:r>
              <a:rPr lang="en-US" sz="1200" b="1" i="0" u="none" dirty="0" err="1">
                <a:solidFill>
                  <a:schemeClr val="bg1"/>
                </a:solidFill>
                <a:latin typeface="Arial"/>
                <a:ea typeface="Arial"/>
                <a:cs typeface="Arial"/>
                <a:sym typeface="Arial"/>
              </a:rPr>
              <a:t>fobj.display</a:t>
            </a:r>
            <a:r>
              <a:rPr lang="en-US" sz="1200" b="1" i="0" u="none" dirty="0">
                <a:solidFill>
                  <a:schemeClr val="bg1"/>
                </a:solidFill>
                <a:latin typeface="Arial"/>
                <a:ea typeface="Arial"/>
                <a:cs typeface="Arial"/>
                <a:sym typeface="Arial"/>
              </a:rPr>
              <a:t>(msg);</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a:t>
            </a:r>
            <a:br>
              <a:rPr lang="en-US" sz="1200" b="1" i="0" u="none" dirty="0">
                <a:solidFill>
                  <a:schemeClr val="bg1"/>
                </a:solidFill>
                <a:latin typeface="Arial"/>
                <a:ea typeface="Arial"/>
                <a:cs typeface="Arial"/>
                <a:sym typeface="Arial"/>
              </a:rPr>
            </a:b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public class Main</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public static void main (String[] </a:t>
            </a:r>
            <a:r>
              <a:rPr lang="en-US" sz="1200" b="1" i="0" u="none" dirty="0" err="1">
                <a:solidFill>
                  <a:schemeClr val="bg1"/>
                </a:solidFill>
                <a:latin typeface="Arial"/>
                <a:ea typeface="Arial"/>
                <a:cs typeface="Arial"/>
                <a:sym typeface="Arial"/>
              </a:rPr>
              <a:t>args</a:t>
            </a:r>
            <a:r>
              <a:rPr lang="en-US" sz="1200" b="1" i="0" u="none" dirty="0">
                <a:solidFill>
                  <a:schemeClr val="bg1"/>
                </a:solidFill>
                <a:latin typeface="Arial"/>
                <a:ea typeface="Arial"/>
                <a:cs typeface="Arial"/>
                <a:sym typeface="Arial"/>
              </a:rPr>
              <a:t>)</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First </a:t>
            </a:r>
            <a:r>
              <a:rPr lang="en-US" sz="1200" b="1" i="0" u="none" dirty="0" err="1">
                <a:solidFill>
                  <a:schemeClr val="bg1"/>
                </a:solidFill>
                <a:latin typeface="Arial"/>
                <a:ea typeface="Arial"/>
                <a:cs typeface="Arial"/>
                <a:sym typeface="Arial"/>
              </a:rPr>
              <a:t>fnew</a:t>
            </a:r>
            <a:r>
              <a:rPr lang="en-US" sz="1200" b="1" i="0" u="none" dirty="0">
                <a:solidFill>
                  <a:schemeClr val="bg1"/>
                </a:solidFill>
                <a:latin typeface="Arial"/>
                <a:ea typeface="Arial"/>
                <a:cs typeface="Arial"/>
                <a:sym typeface="Arial"/>
              </a:rPr>
              <a:t> = new First();</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Second ss  = new Second(</a:t>
            </a:r>
            <a:r>
              <a:rPr lang="en-US" sz="1200" b="1" i="0" u="none" dirty="0" err="1">
                <a:solidFill>
                  <a:schemeClr val="bg1"/>
                </a:solidFill>
                <a:latin typeface="Arial"/>
                <a:ea typeface="Arial"/>
                <a:cs typeface="Arial"/>
                <a:sym typeface="Arial"/>
              </a:rPr>
              <a:t>fnew</a:t>
            </a:r>
            <a:r>
              <a:rPr lang="en-US" sz="1200" b="1" i="0" u="none" dirty="0">
                <a:solidFill>
                  <a:schemeClr val="bg1"/>
                </a:solidFill>
                <a:latin typeface="Arial"/>
                <a:ea typeface="Arial"/>
                <a:cs typeface="Arial"/>
                <a:sym typeface="Arial"/>
              </a:rPr>
              <a:t>, "welcome");</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Second ss1 = new Second (</a:t>
            </a:r>
            <a:r>
              <a:rPr lang="en-US" sz="1200" b="1" i="0" u="none" dirty="0" err="1">
                <a:solidFill>
                  <a:schemeClr val="bg1"/>
                </a:solidFill>
                <a:latin typeface="Arial"/>
                <a:ea typeface="Arial"/>
                <a:cs typeface="Arial"/>
                <a:sym typeface="Arial"/>
              </a:rPr>
              <a:t>fnew</a:t>
            </a:r>
            <a:r>
              <a:rPr lang="en-US" sz="1200" b="1" i="0" u="none" dirty="0">
                <a:solidFill>
                  <a:schemeClr val="bg1"/>
                </a:solidFill>
                <a:latin typeface="Arial"/>
                <a:ea typeface="Arial"/>
                <a:cs typeface="Arial"/>
                <a:sym typeface="Arial"/>
              </a:rPr>
              <a:t>,"to");</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        Second ss2 = new Second(</a:t>
            </a:r>
            <a:r>
              <a:rPr lang="en-US" sz="1200" b="1" i="0" u="none" dirty="0" err="1">
                <a:solidFill>
                  <a:schemeClr val="bg1"/>
                </a:solidFill>
                <a:latin typeface="Arial"/>
                <a:ea typeface="Arial"/>
                <a:cs typeface="Arial"/>
                <a:sym typeface="Arial"/>
              </a:rPr>
              <a:t>fnew</a:t>
            </a:r>
            <a:r>
              <a:rPr lang="en-US" sz="1200" b="1" i="0" u="none" dirty="0">
                <a:solidFill>
                  <a:schemeClr val="bg1"/>
                </a:solidFill>
                <a:latin typeface="Arial"/>
                <a:ea typeface="Arial"/>
                <a:cs typeface="Arial"/>
                <a:sym typeface="Arial"/>
              </a:rPr>
              <a:t>, “java");</a:t>
            </a:r>
            <a:br>
              <a:rPr lang="en-US" sz="1200" b="1" i="0" u="none" dirty="0">
                <a:solidFill>
                  <a:srgbClr val="92D050"/>
                </a:solidFill>
                <a:latin typeface="Arial"/>
                <a:ea typeface="Arial"/>
                <a:cs typeface="Arial"/>
                <a:sym typeface="Arial"/>
              </a:rPr>
            </a:br>
            <a:r>
              <a:rPr lang="en-US" sz="1200" b="1" i="0" u="none" dirty="0">
                <a:solidFill>
                  <a:schemeClr val="bg1"/>
                </a:solidFill>
                <a:latin typeface="Arial"/>
                <a:ea typeface="Arial"/>
                <a:cs typeface="Arial"/>
                <a:sym typeface="Arial"/>
              </a:rPr>
              <a:t>    }</a:t>
            </a:r>
            <a:br>
              <a:rPr lang="en-US" sz="1200" b="1" i="0" u="none" dirty="0">
                <a:solidFill>
                  <a:schemeClr val="bg1"/>
                </a:solidFill>
                <a:latin typeface="Arial"/>
                <a:ea typeface="Arial"/>
                <a:cs typeface="Arial"/>
                <a:sym typeface="Arial"/>
              </a:rPr>
            </a:br>
            <a:r>
              <a:rPr lang="en-US" sz="1200" b="1" i="0" u="none" dirty="0">
                <a:solidFill>
                  <a:schemeClr val="bg1"/>
                </a:solidFill>
                <a:latin typeface="Arial"/>
                <a:ea typeface="Arial"/>
                <a:cs typeface="Arial"/>
                <a:sym typeface="Arial"/>
              </a:rPr>
              <a:t>}</a:t>
            </a:r>
            <a:endParaRPr dirty="0">
              <a:solidFill>
                <a:schemeClr val="bg1"/>
              </a:solidFill>
            </a:endParaRPr>
          </a:p>
          <a:p>
            <a:pPr marL="0" marR="0" lvl="0" indent="0" algn="l" rtl="0">
              <a:lnSpc>
                <a:spcPct val="100000"/>
              </a:lnSpc>
              <a:spcBef>
                <a:spcPts val="0"/>
              </a:spcBef>
              <a:spcAft>
                <a:spcPts val="0"/>
              </a:spcAft>
              <a:buNone/>
            </a:pPr>
            <a:endParaRPr sz="1200" b="1" i="0" u="none" dirty="0">
              <a:solidFill>
                <a:schemeClr val="dk1"/>
              </a:solidFill>
              <a:latin typeface="Arial"/>
              <a:ea typeface="Arial"/>
              <a:cs typeface="Arial"/>
              <a:sym typeface="Arial"/>
            </a:endParaRPr>
          </a:p>
        </p:txBody>
      </p:sp>
      <p:sp>
        <p:nvSpPr>
          <p:cNvPr id="328" name="Google Shape;328;p53"/>
          <p:cNvSpPr txBox="1"/>
          <p:nvPr/>
        </p:nvSpPr>
        <p:spPr>
          <a:xfrm>
            <a:off x="4953000" y="2133600"/>
            <a:ext cx="2895600" cy="9239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dirty="0">
                <a:solidFill>
                  <a:schemeClr val="bg1"/>
                </a:solidFill>
                <a:latin typeface="Arial"/>
                <a:ea typeface="Arial"/>
                <a:cs typeface="Arial"/>
                <a:sym typeface="Arial"/>
              </a:rPr>
              <a:t>Output: (The order varies during each execution</a:t>
            </a:r>
            <a:r>
              <a:rPr lang="en-US" sz="1800" b="0" i="0" u="none" dirty="0">
                <a:solidFill>
                  <a:schemeClr val="dk1"/>
                </a:solidFill>
                <a:latin typeface="Arial"/>
                <a:ea typeface="Arial"/>
                <a:cs typeface="Arial"/>
                <a:sym typeface="Arial"/>
              </a:rPr>
              <a:t>)</a:t>
            </a:r>
            <a:endParaRPr dirty="0"/>
          </a:p>
          <a:p>
            <a:pPr marL="0" marR="0" lvl="0" indent="0" algn="l" rtl="0">
              <a:lnSpc>
                <a:spcPct val="100000"/>
              </a:lnSpc>
              <a:spcBef>
                <a:spcPts val="0"/>
              </a:spcBef>
              <a:spcAft>
                <a:spcPts val="0"/>
              </a:spcAft>
              <a:buNone/>
            </a:pPr>
            <a:endParaRPr sz="1800" b="0" i="0" u="none" dirty="0">
              <a:solidFill>
                <a:schemeClr val="dk1"/>
              </a:solidFill>
              <a:latin typeface="Arial"/>
              <a:ea typeface="Arial"/>
              <a:cs typeface="Arial"/>
              <a:sym typeface="Arial"/>
            </a:endParaRPr>
          </a:p>
        </p:txBody>
      </p:sp>
      <p:pic>
        <p:nvPicPr>
          <p:cNvPr id="329" name="Google Shape;329;p53"/>
          <p:cNvPicPr preferRelativeResize="0"/>
          <p:nvPr/>
        </p:nvPicPr>
        <p:blipFill rotWithShape="1">
          <a:blip r:embed="rId3">
            <a:alphaModFix/>
          </a:blip>
          <a:srcRect/>
          <a:stretch/>
        </p:blipFill>
        <p:spPr>
          <a:xfrm>
            <a:off x="5029200" y="2743200"/>
            <a:ext cx="1847850" cy="904875"/>
          </a:xfrm>
          <a:prstGeom prst="rect">
            <a:avLst/>
          </a:prstGeom>
          <a:noFill/>
          <a:ln>
            <a:noFill/>
          </a:ln>
        </p:spPr>
      </p:pic>
      <p:pic>
        <p:nvPicPr>
          <p:cNvPr id="330" name="Google Shape;330;p53"/>
          <p:cNvPicPr preferRelativeResize="0"/>
          <p:nvPr/>
        </p:nvPicPr>
        <p:blipFill rotWithShape="1">
          <a:blip r:embed="rId4">
            <a:alphaModFix/>
          </a:blip>
          <a:srcRect/>
          <a:stretch/>
        </p:blipFill>
        <p:spPr>
          <a:xfrm>
            <a:off x="5029200" y="3733800"/>
            <a:ext cx="1733550" cy="9144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54"/>
          <p:cNvSpPr txBox="1"/>
          <p:nvPr/>
        </p:nvSpPr>
        <p:spPr>
          <a:xfrm>
            <a:off x="2362200" y="228600"/>
            <a:ext cx="3962400" cy="381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Using Synchronized Methods </a:t>
            </a:r>
            <a:endParaRPr/>
          </a:p>
        </p:txBody>
      </p:sp>
      <p:sp>
        <p:nvSpPr>
          <p:cNvPr id="336" name="Google Shape;336;p54"/>
          <p:cNvSpPr txBox="1"/>
          <p:nvPr/>
        </p:nvSpPr>
        <p:spPr>
          <a:xfrm>
            <a:off x="685800" y="990600"/>
            <a:ext cx="7315200" cy="3139281"/>
          </a:xfrm>
          <a:prstGeom prst="rect">
            <a:avLst/>
          </a:prstGeom>
          <a:noFill/>
          <a:ln>
            <a:noFill/>
          </a:ln>
        </p:spPr>
        <p:txBody>
          <a:bodyPr spcFirstLastPara="1" wrap="square" lIns="91425" tIns="45700" rIns="91425" bIns="45700" anchor="t" anchorCtr="0">
            <a:spAutoFit/>
          </a:bodyPr>
          <a:lstStyle/>
          <a:p>
            <a:pPr marL="0" marR="0" lvl="0" indent="-114300" algn="just" rtl="0">
              <a:lnSpc>
                <a:spcPct val="100000"/>
              </a:lnSpc>
              <a:spcBef>
                <a:spcPts val="0"/>
              </a:spcBef>
              <a:spcAft>
                <a:spcPts val="0"/>
              </a:spcAft>
              <a:buClr>
                <a:schemeClr val="dk1"/>
              </a:buClr>
              <a:buSzPts val="1800"/>
              <a:buFont typeface="Arial"/>
              <a:buChar char="•"/>
            </a:pPr>
            <a:r>
              <a:rPr lang="en-US" sz="1800" b="0" i="0" u="none" dirty="0">
                <a:solidFill>
                  <a:schemeClr val="dk1"/>
                </a:solidFill>
                <a:latin typeface="Times New Roman" panose="02020603050405020304" pitchFamily="18" charset="0"/>
                <a:cs typeface="Times New Roman" panose="02020603050405020304" pitchFamily="18" charset="0"/>
                <a:sym typeface="Arial"/>
              </a:rPr>
              <a:t>If you declare any method as synchronized, it is known as synchronized method.</a:t>
            </a:r>
            <a:endParaRPr dirty="0">
              <a:latin typeface="Times New Roman" panose="02020603050405020304" pitchFamily="18" charset="0"/>
              <a:cs typeface="Times New Roman" panose="02020603050405020304" pitchFamily="18" charset="0"/>
            </a:endParaRPr>
          </a:p>
          <a:p>
            <a:pPr marL="0" marR="0" lvl="0" indent="-114300" algn="just" rtl="0">
              <a:lnSpc>
                <a:spcPct val="100000"/>
              </a:lnSpc>
              <a:spcBef>
                <a:spcPts val="0"/>
              </a:spcBef>
              <a:spcAft>
                <a:spcPts val="0"/>
              </a:spcAft>
              <a:buClr>
                <a:schemeClr val="dk1"/>
              </a:buClr>
              <a:buSzPts val="1800"/>
              <a:buFont typeface="Arial"/>
              <a:buChar char="•"/>
            </a:pPr>
            <a:r>
              <a:rPr lang="en-US" sz="1800" b="0" i="0" u="none" dirty="0">
                <a:solidFill>
                  <a:schemeClr val="dk1"/>
                </a:solidFill>
                <a:latin typeface="Times New Roman" panose="02020603050405020304" pitchFamily="18" charset="0"/>
                <a:cs typeface="Times New Roman" panose="02020603050405020304" pitchFamily="18" charset="0"/>
                <a:sym typeface="Arial"/>
              </a:rPr>
              <a:t>Synchronized method is used to lock an object for any shared resource.</a:t>
            </a:r>
            <a:endParaRPr dirty="0">
              <a:latin typeface="Times New Roman" panose="02020603050405020304" pitchFamily="18" charset="0"/>
              <a:cs typeface="Times New Roman" panose="02020603050405020304" pitchFamily="18" charset="0"/>
            </a:endParaRPr>
          </a:p>
          <a:p>
            <a:pPr marL="0" marR="0" lvl="0" indent="-114300" algn="just" rtl="0">
              <a:lnSpc>
                <a:spcPct val="100000"/>
              </a:lnSpc>
              <a:spcBef>
                <a:spcPts val="0"/>
              </a:spcBef>
              <a:spcAft>
                <a:spcPts val="0"/>
              </a:spcAft>
              <a:buClr>
                <a:schemeClr val="dk1"/>
              </a:buClr>
              <a:buSzPts val="1800"/>
              <a:buFont typeface="Arial"/>
              <a:buChar char="•"/>
            </a:pPr>
            <a:r>
              <a:rPr lang="en-US" sz="1800" b="0" i="0" u="none" dirty="0">
                <a:solidFill>
                  <a:schemeClr val="dk1"/>
                </a:solidFill>
                <a:latin typeface="Times New Roman" panose="02020603050405020304" pitchFamily="18" charset="0"/>
                <a:cs typeface="Times New Roman" panose="02020603050405020304" pitchFamily="18" charset="0"/>
                <a:sym typeface="Arial"/>
              </a:rPr>
              <a:t>When a thread invokes a synchronized method, it automatically acquires the lock for that object and releases it when the method returns.</a:t>
            </a:r>
            <a:endParaRPr dirty="0">
              <a:latin typeface="Times New Roman" panose="02020603050405020304" pitchFamily="18" charset="0"/>
              <a:cs typeface="Times New Roman" panose="02020603050405020304" pitchFamily="18" charset="0"/>
            </a:endParaRPr>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Times New Roman" panose="02020603050405020304" pitchFamily="18" charset="0"/>
                <a:cs typeface="Times New Roman" panose="02020603050405020304" pitchFamily="18" charset="0"/>
                <a:sym typeface="Arial"/>
              </a:rPr>
              <a:t>In the previous example include the keyword “synchronized” before the method “display”</a:t>
            </a:r>
            <a:endParaRPr dirty="0">
              <a:latin typeface="Times New Roman" panose="02020603050405020304" pitchFamily="18" charset="0"/>
              <a:cs typeface="Times New Roman" panose="02020603050405020304" pitchFamily="18" charset="0"/>
            </a:endParaRPr>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dirty="0">
              <a:solidFill>
                <a:schemeClr val="dk1"/>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55"/>
          <p:cNvSpPr txBox="1"/>
          <p:nvPr/>
        </p:nvSpPr>
        <p:spPr>
          <a:xfrm>
            <a:off x="1143000" y="609600"/>
            <a:ext cx="6477000" cy="35401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400"/>
              <a:buFont typeface="Arial"/>
              <a:buNone/>
            </a:pPr>
            <a:r>
              <a:rPr lang="en-US" sz="1400" b="1" i="0" u="none">
                <a:solidFill>
                  <a:schemeClr val="dk1"/>
                </a:solidFill>
                <a:latin typeface="Arial"/>
                <a:ea typeface="Arial"/>
                <a:cs typeface="Arial"/>
                <a:sym typeface="Arial"/>
              </a:rPr>
              <a:t>class First</a:t>
            </a:r>
            <a:br>
              <a:rPr lang="en-US" sz="1400" b="1" i="0" u="none">
                <a:solidFill>
                  <a:schemeClr val="dk1"/>
                </a:solidFill>
                <a:latin typeface="Arial"/>
                <a:ea typeface="Arial"/>
                <a:cs typeface="Arial"/>
                <a:sym typeface="Arial"/>
              </a:rPr>
            </a:br>
            <a:r>
              <a:rPr lang="en-US" sz="1400" b="1" i="0" u="none">
                <a:solidFill>
                  <a:schemeClr val="dk1"/>
                </a:solidFill>
                <a:latin typeface="Arial"/>
                <a:ea typeface="Arial"/>
                <a:cs typeface="Arial"/>
                <a:sym typeface="Arial"/>
              </a:rPr>
              <a:t>{</a:t>
            </a:r>
            <a:br>
              <a:rPr lang="en-US" sz="1400" b="1" i="0" u="none">
                <a:solidFill>
                  <a:schemeClr val="dk1"/>
                </a:solidFill>
                <a:latin typeface="Arial"/>
                <a:ea typeface="Arial"/>
                <a:cs typeface="Arial"/>
                <a:sym typeface="Arial"/>
              </a:rPr>
            </a:br>
            <a:r>
              <a:rPr lang="en-US" sz="1400" b="1" i="0" u="none">
                <a:solidFill>
                  <a:schemeClr val="dk1"/>
                </a:solidFill>
                <a:latin typeface="Arial"/>
                <a:ea typeface="Arial"/>
                <a:cs typeface="Arial"/>
                <a:sym typeface="Arial"/>
              </a:rPr>
              <a:t>    public synchronized void display(String msg)</a:t>
            </a:r>
            <a:br>
              <a:rPr lang="en-US" sz="1400" b="1" i="0" u="none">
                <a:solidFill>
                  <a:schemeClr val="dk1"/>
                </a:solidFill>
                <a:latin typeface="Arial"/>
                <a:ea typeface="Arial"/>
                <a:cs typeface="Arial"/>
                <a:sym typeface="Arial"/>
              </a:rPr>
            </a:br>
            <a:r>
              <a:rPr lang="en-US" sz="1400" b="1" i="0" u="none">
                <a:solidFill>
                  <a:schemeClr val="dk1"/>
                </a:solidFill>
                <a:latin typeface="Arial"/>
                <a:ea typeface="Arial"/>
                <a:cs typeface="Arial"/>
                <a:sym typeface="Arial"/>
              </a:rPr>
              <a:t>    {</a:t>
            </a:r>
            <a:br>
              <a:rPr lang="en-US" sz="1400" b="1" i="0" u="none">
                <a:solidFill>
                  <a:schemeClr val="dk1"/>
                </a:solidFill>
                <a:latin typeface="Arial"/>
                <a:ea typeface="Arial"/>
                <a:cs typeface="Arial"/>
                <a:sym typeface="Arial"/>
              </a:rPr>
            </a:br>
            <a:r>
              <a:rPr lang="en-US" sz="1400" b="1" i="0" u="none">
                <a:solidFill>
                  <a:schemeClr val="dk1"/>
                </a:solidFill>
                <a:latin typeface="Arial"/>
                <a:ea typeface="Arial"/>
                <a:cs typeface="Arial"/>
                <a:sym typeface="Arial"/>
              </a:rPr>
              <a:t>        System.</a:t>
            </a:r>
            <a:r>
              <a:rPr lang="en-US" sz="1400" b="1" i="1" u="none">
                <a:solidFill>
                  <a:schemeClr val="dk1"/>
                </a:solidFill>
                <a:latin typeface="Arial"/>
                <a:ea typeface="Arial"/>
                <a:cs typeface="Arial"/>
                <a:sym typeface="Arial"/>
              </a:rPr>
              <a:t>out</a:t>
            </a:r>
            <a:r>
              <a:rPr lang="en-US" sz="1400" b="1" i="0" u="none">
                <a:solidFill>
                  <a:schemeClr val="dk1"/>
                </a:solidFill>
                <a:latin typeface="Arial"/>
                <a:ea typeface="Arial"/>
                <a:cs typeface="Arial"/>
                <a:sym typeface="Arial"/>
              </a:rPr>
              <a:t>.print ("["+msg);</a:t>
            </a:r>
            <a:br>
              <a:rPr lang="en-US" sz="1400" b="1" i="0" u="none">
                <a:solidFill>
                  <a:schemeClr val="dk1"/>
                </a:solidFill>
                <a:latin typeface="Arial"/>
                <a:ea typeface="Arial"/>
                <a:cs typeface="Arial"/>
                <a:sym typeface="Arial"/>
              </a:rPr>
            </a:br>
            <a:r>
              <a:rPr lang="en-US" sz="1400" b="1" i="0" u="none">
                <a:solidFill>
                  <a:schemeClr val="dk1"/>
                </a:solidFill>
                <a:latin typeface="Arial"/>
                <a:ea typeface="Arial"/>
                <a:cs typeface="Arial"/>
                <a:sym typeface="Arial"/>
              </a:rPr>
              <a:t>        try</a:t>
            </a:r>
            <a:br>
              <a:rPr lang="en-US" sz="1400" b="1" i="0" u="none">
                <a:solidFill>
                  <a:schemeClr val="dk1"/>
                </a:solidFill>
                <a:latin typeface="Arial"/>
                <a:ea typeface="Arial"/>
                <a:cs typeface="Arial"/>
                <a:sym typeface="Arial"/>
              </a:rPr>
            </a:br>
            <a:r>
              <a:rPr lang="en-US" sz="1400" b="1" i="0" u="none">
                <a:solidFill>
                  <a:schemeClr val="dk1"/>
                </a:solidFill>
                <a:latin typeface="Arial"/>
                <a:ea typeface="Arial"/>
                <a:cs typeface="Arial"/>
                <a:sym typeface="Arial"/>
              </a:rPr>
              <a:t>        {</a:t>
            </a:r>
            <a:br>
              <a:rPr lang="en-US" sz="1400" b="1" i="0" u="none">
                <a:solidFill>
                  <a:schemeClr val="dk1"/>
                </a:solidFill>
                <a:latin typeface="Arial"/>
                <a:ea typeface="Arial"/>
                <a:cs typeface="Arial"/>
                <a:sym typeface="Arial"/>
              </a:rPr>
            </a:br>
            <a:r>
              <a:rPr lang="en-US" sz="1400" b="1" i="0" u="none">
                <a:solidFill>
                  <a:schemeClr val="dk1"/>
                </a:solidFill>
                <a:latin typeface="Arial"/>
                <a:ea typeface="Arial"/>
                <a:cs typeface="Arial"/>
                <a:sym typeface="Arial"/>
              </a:rPr>
              <a:t>            Thread.</a:t>
            </a:r>
            <a:r>
              <a:rPr lang="en-US" sz="1400" b="1" i="1" u="none">
                <a:solidFill>
                  <a:schemeClr val="dk1"/>
                </a:solidFill>
                <a:latin typeface="Arial"/>
                <a:ea typeface="Arial"/>
                <a:cs typeface="Arial"/>
                <a:sym typeface="Arial"/>
              </a:rPr>
              <a:t>sleep</a:t>
            </a:r>
            <a:r>
              <a:rPr lang="en-US" sz="1400" b="1" i="0" u="none">
                <a:solidFill>
                  <a:schemeClr val="dk1"/>
                </a:solidFill>
                <a:latin typeface="Arial"/>
                <a:ea typeface="Arial"/>
                <a:cs typeface="Arial"/>
                <a:sym typeface="Arial"/>
              </a:rPr>
              <a:t>(500);</a:t>
            </a:r>
            <a:br>
              <a:rPr lang="en-US" sz="1400" b="1" i="0" u="none">
                <a:solidFill>
                  <a:schemeClr val="dk1"/>
                </a:solidFill>
                <a:latin typeface="Arial"/>
                <a:ea typeface="Arial"/>
                <a:cs typeface="Arial"/>
                <a:sym typeface="Arial"/>
              </a:rPr>
            </a:br>
            <a:r>
              <a:rPr lang="en-US" sz="1400" b="1" i="0" u="none">
                <a:solidFill>
                  <a:schemeClr val="dk1"/>
                </a:solidFill>
                <a:latin typeface="Arial"/>
                <a:ea typeface="Arial"/>
                <a:cs typeface="Arial"/>
                <a:sym typeface="Arial"/>
              </a:rPr>
              <a:t>        }</a:t>
            </a:r>
            <a:br>
              <a:rPr lang="en-US" sz="1400" b="1" i="0" u="none">
                <a:solidFill>
                  <a:schemeClr val="dk1"/>
                </a:solidFill>
                <a:latin typeface="Arial"/>
                <a:ea typeface="Arial"/>
                <a:cs typeface="Arial"/>
                <a:sym typeface="Arial"/>
              </a:rPr>
            </a:br>
            <a:r>
              <a:rPr lang="en-US" sz="1400" b="1" i="0" u="none">
                <a:solidFill>
                  <a:schemeClr val="dk1"/>
                </a:solidFill>
                <a:latin typeface="Arial"/>
                <a:ea typeface="Arial"/>
                <a:cs typeface="Arial"/>
                <a:sym typeface="Arial"/>
              </a:rPr>
              <a:t>        catch(InterruptedException e)</a:t>
            </a:r>
            <a:br>
              <a:rPr lang="en-US" sz="1400" b="1" i="0" u="none">
                <a:solidFill>
                  <a:schemeClr val="dk1"/>
                </a:solidFill>
                <a:latin typeface="Arial"/>
                <a:ea typeface="Arial"/>
                <a:cs typeface="Arial"/>
                <a:sym typeface="Arial"/>
              </a:rPr>
            </a:br>
            <a:r>
              <a:rPr lang="en-US" sz="1400" b="1" i="0" u="none">
                <a:solidFill>
                  <a:schemeClr val="dk1"/>
                </a:solidFill>
                <a:latin typeface="Arial"/>
                <a:ea typeface="Arial"/>
                <a:cs typeface="Arial"/>
                <a:sym typeface="Arial"/>
              </a:rPr>
              <a:t>        {</a:t>
            </a:r>
            <a:br>
              <a:rPr lang="en-US" sz="1400" b="1" i="0" u="none">
                <a:solidFill>
                  <a:schemeClr val="dk1"/>
                </a:solidFill>
                <a:latin typeface="Arial"/>
                <a:ea typeface="Arial"/>
                <a:cs typeface="Arial"/>
                <a:sym typeface="Arial"/>
              </a:rPr>
            </a:br>
            <a:r>
              <a:rPr lang="en-US" sz="1400" b="1" i="0" u="none">
                <a:solidFill>
                  <a:schemeClr val="dk1"/>
                </a:solidFill>
                <a:latin typeface="Arial"/>
                <a:ea typeface="Arial"/>
                <a:cs typeface="Arial"/>
                <a:sym typeface="Arial"/>
              </a:rPr>
              <a:t>            e.printStackTrace();</a:t>
            </a:r>
            <a:br>
              <a:rPr lang="en-US" sz="1400" b="1" i="0" u="none">
                <a:solidFill>
                  <a:schemeClr val="dk1"/>
                </a:solidFill>
                <a:latin typeface="Arial"/>
                <a:ea typeface="Arial"/>
                <a:cs typeface="Arial"/>
                <a:sym typeface="Arial"/>
              </a:rPr>
            </a:br>
            <a:r>
              <a:rPr lang="en-US" sz="1400" b="1" i="0" u="none">
                <a:solidFill>
                  <a:schemeClr val="dk1"/>
                </a:solidFill>
                <a:latin typeface="Arial"/>
                <a:ea typeface="Arial"/>
                <a:cs typeface="Arial"/>
                <a:sym typeface="Arial"/>
              </a:rPr>
              <a:t>        }</a:t>
            </a:r>
            <a:br>
              <a:rPr lang="en-US" sz="1400" b="1" i="0" u="none">
                <a:solidFill>
                  <a:schemeClr val="dk1"/>
                </a:solidFill>
                <a:latin typeface="Arial"/>
                <a:ea typeface="Arial"/>
                <a:cs typeface="Arial"/>
                <a:sym typeface="Arial"/>
              </a:rPr>
            </a:br>
            <a:r>
              <a:rPr lang="en-US" sz="1400" b="1" i="0" u="none">
                <a:solidFill>
                  <a:schemeClr val="dk1"/>
                </a:solidFill>
                <a:latin typeface="Arial"/>
                <a:ea typeface="Arial"/>
                <a:cs typeface="Arial"/>
                <a:sym typeface="Arial"/>
              </a:rPr>
              <a:t>        System.</a:t>
            </a:r>
            <a:r>
              <a:rPr lang="en-US" sz="1400" b="1" i="1" u="none">
                <a:solidFill>
                  <a:schemeClr val="dk1"/>
                </a:solidFill>
                <a:latin typeface="Arial"/>
                <a:ea typeface="Arial"/>
                <a:cs typeface="Arial"/>
                <a:sym typeface="Arial"/>
              </a:rPr>
              <a:t>out</a:t>
            </a:r>
            <a:r>
              <a:rPr lang="en-US" sz="1400" b="1" i="0" u="none">
                <a:solidFill>
                  <a:schemeClr val="dk1"/>
                </a:solidFill>
                <a:latin typeface="Arial"/>
                <a:ea typeface="Arial"/>
                <a:cs typeface="Arial"/>
                <a:sym typeface="Arial"/>
              </a:rPr>
              <a:t>.println ("]");</a:t>
            </a:r>
            <a:br>
              <a:rPr lang="en-US" sz="1400" b="1" i="0" u="none">
                <a:solidFill>
                  <a:schemeClr val="dk1"/>
                </a:solidFill>
                <a:latin typeface="Arial"/>
                <a:ea typeface="Arial"/>
                <a:cs typeface="Arial"/>
                <a:sym typeface="Arial"/>
              </a:rPr>
            </a:br>
            <a:r>
              <a:rPr lang="en-US" sz="1400" b="1" i="0" u="none">
                <a:solidFill>
                  <a:schemeClr val="dk1"/>
                </a:solidFill>
                <a:latin typeface="Arial"/>
                <a:ea typeface="Arial"/>
                <a:cs typeface="Arial"/>
                <a:sym typeface="Arial"/>
              </a:rPr>
              <a:t>    }</a:t>
            </a:r>
            <a:br>
              <a:rPr lang="en-US" sz="1400" b="1" i="0" u="none">
                <a:solidFill>
                  <a:schemeClr val="dk1"/>
                </a:solidFill>
                <a:latin typeface="Arial"/>
                <a:ea typeface="Arial"/>
                <a:cs typeface="Arial"/>
                <a:sym typeface="Arial"/>
              </a:rPr>
            </a:br>
            <a:r>
              <a:rPr lang="en-US" sz="1400" b="1" i="0" u="none">
                <a:solidFill>
                  <a:schemeClr val="dk1"/>
                </a:solidFill>
                <a:latin typeface="Arial"/>
                <a:ea typeface="Arial"/>
                <a:cs typeface="Arial"/>
                <a:sym typeface="Arial"/>
              </a:rPr>
              <a:t>}</a:t>
            </a:r>
            <a:endParaRPr/>
          </a:p>
        </p:txBody>
      </p:sp>
      <p:sp>
        <p:nvSpPr>
          <p:cNvPr id="342" name="Google Shape;342;p55"/>
          <p:cNvSpPr txBox="1"/>
          <p:nvPr/>
        </p:nvSpPr>
        <p:spPr>
          <a:xfrm>
            <a:off x="1143000" y="4343400"/>
            <a:ext cx="6781800" cy="9239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The output will be :</a:t>
            </a:r>
            <a:endParaRPr/>
          </a:p>
          <a:p>
            <a:pPr marL="0" marR="0" lvl="0" indent="0" algn="l" rtl="0">
              <a:lnSpc>
                <a:spcPct val="100000"/>
              </a:lnSpc>
              <a:spcBef>
                <a:spcPts val="0"/>
              </a:spcBef>
              <a:spcAft>
                <a:spcPts val="0"/>
              </a:spcAft>
              <a:buClr>
                <a:schemeClr val="dk1"/>
              </a:buClr>
              <a:buSzPts val="1800"/>
              <a:buFont typeface="Arial"/>
              <a:buNone/>
            </a:pPr>
            <a:endParaRPr sz="1800" b="0" i="0" u="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343" name="Google Shape;343;p55"/>
          <p:cNvPicPr preferRelativeResize="0"/>
          <p:nvPr/>
        </p:nvPicPr>
        <p:blipFill rotWithShape="1">
          <a:blip r:embed="rId3">
            <a:alphaModFix/>
          </a:blip>
          <a:srcRect/>
          <a:stretch/>
        </p:blipFill>
        <p:spPr>
          <a:xfrm>
            <a:off x="1066800" y="4953000"/>
            <a:ext cx="1219200" cy="9048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6"/>
          <p:cNvSpPr txBox="1"/>
          <p:nvPr/>
        </p:nvSpPr>
        <p:spPr>
          <a:xfrm>
            <a:off x="2057400" y="304800"/>
            <a:ext cx="47244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The synchronized Statement</a:t>
            </a:r>
            <a:endParaRPr/>
          </a:p>
        </p:txBody>
      </p:sp>
      <p:sp>
        <p:nvSpPr>
          <p:cNvPr id="349" name="Google Shape;349;p56"/>
          <p:cNvSpPr txBox="1"/>
          <p:nvPr/>
        </p:nvSpPr>
        <p:spPr>
          <a:xfrm>
            <a:off x="914400" y="1143000"/>
            <a:ext cx="7467600" cy="507841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While creating synchronized methods within classes that you create is an easy and effective means of achieving synchronization, it will not work in all cases.</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Imagine that you want to synchronize access to objects of a class that was not designed for multithreaded access. </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That is, the class does not use synchronized methods. </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Further, this class was not created by you, but by a third party, and you do not have access to the source code. </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Thus, you can’t add synchronized to the appropriate methods within the class.</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Fortunately, the solution to this problem is quite easy: You simply put calls to the methods defined by this class inside a synchronized block. This is the general form of the synchronized statement:</a:t>
            </a: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7"/>
          <p:cNvSpPr txBox="1"/>
          <p:nvPr/>
        </p:nvSpPr>
        <p:spPr>
          <a:xfrm>
            <a:off x="2057400" y="304800"/>
            <a:ext cx="47244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The synchronized Statement</a:t>
            </a:r>
            <a:endParaRPr/>
          </a:p>
        </p:txBody>
      </p:sp>
      <p:pic>
        <p:nvPicPr>
          <p:cNvPr id="355" name="Google Shape;355;p57"/>
          <p:cNvPicPr preferRelativeResize="0"/>
          <p:nvPr/>
        </p:nvPicPr>
        <p:blipFill rotWithShape="1">
          <a:blip r:embed="rId3">
            <a:alphaModFix/>
          </a:blip>
          <a:srcRect/>
          <a:stretch/>
        </p:blipFill>
        <p:spPr>
          <a:xfrm>
            <a:off x="914400" y="1066800"/>
            <a:ext cx="3686175" cy="847725"/>
          </a:xfrm>
          <a:prstGeom prst="rect">
            <a:avLst/>
          </a:prstGeom>
          <a:noFill/>
          <a:ln>
            <a:noFill/>
          </a:ln>
        </p:spPr>
      </p:pic>
      <p:sp>
        <p:nvSpPr>
          <p:cNvPr id="356" name="Google Shape;356;p57"/>
          <p:cNvSpPr txBox="1"/>
          <p:nvPr/>
        </p:nvSpPr>
        <p:spPr>
          <a:xfrm>
            <a:off x="914400" y="2362200"/>
            <a:ext cx="7086600" cy="120015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Here, objRef is a reference to the object being synchronized. A synchronized block ensures that a call to a synchronized method that is a member of objRef’s class occurs only after the current thread has successfully entered objRef’s monitor.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5A36E4-3AD7-E4E8-C7AD-797443E2837D}"/>
              </a:ext>
            </a:extLst>
          </p:cNvPr>
          <p:cNvSpPr txBox="1"/>
          <p:nvPr/>
        </p:nvSpPr>
        <p:spPr>
          <a:xfrm>
            <a:off x="304800" y="-64655"/>
            <a:ext cx="8700654" cy="6986528"/>
          </a:xfrm>
          <a:prstGeom prst="rect">
            <a:avLst/>
          </a:prstGeom>
          <a:noFill/>
        </p:spPr>
        <p:txBody>
          <a:bodyPr wrap="square" rtlCol="0">
            <a:spAutoFit/>
          </a:bodyPr>
          <a:lstStyle/>
          <a:p>
            <a:r>
              <a:rPr lang="en-IN" b="1" dirty="0">
                <a:latin typeface="Consolas" panose="020B0609020204030204" pitchFamily="49" charset="0"/>
              </a:rPr>
              <a:t>// This program uses a synchronized block.</a:t>
            </a:r>
          </a:p>
          <a:p>
            <a:r>
              <a:rPr lang="en-IN" b="1" dirty="0">
                <a:solidFill>
                  <a:srgbClr val="FF0000"/>
                </a:solidFill>
                <a:latin typeface="Consolas" panose="020B0609020204030204" pitchFamily="49" charset="0"/>
              </a:rPr>
              <a:t>class </a:t>
            </a:r>
            <a:r>
              <a:rPr lang="en-IN" b="1" dirty="0" err="1">
                <a:solidFill>
                  <a:srgbClr val="FF0000"/>
                </a:solidFill>
                <a:latin typeface="Consolas" panose="020B0609020204030204" pitchFamily="49" charset="0"/>
              </a:rPr>
              <a:t>Callme</a:t>
            </a:r>
            <a:r>
              <a:rPr lang="en-IN" b="1" dirty="0">
                <a:solidFill>
                  <a:srgbClr val="FF0000"/>
                </a:solidFill>
                <a:latin typeface="Consolas" panose="020B0609020204030204" pitchFamily="49" charset="0"/>
              </a:rPr>
              <a:t> {</a:t>
            </a:r>
          </a:p>
          <a:p>
            <a:r>
              <a:rPr lang="en-IN" b="1" dirty="0">
                <a:solidFill>
                  <a:srgbClr val="FF0000"/>
                </a:solidFill>
                <a:latin typeface="Consolas" panose="020B0609020204030204" pitchFamily="49" charset="0"/>
              </a:rPr>
              <a:t>    void call(String </a:t>
            </a:r>
            <a:r>
              <a:rPr lang="en-IN" b="1" dirty="0" err="1">
                <a:solidFill>
                  <a:srgbClr val="FF0000"/>
                </a:solidFill>
                <a:latin typeface="Consolas" panose="020B0609020204030204" pitchFamily="49" charset="0"/>
              </a:rPr>
              <a:t>msg</a:t>
            </a:r>
            <a:r>
              <a:rPr lang="en-IN" b="1" dirty="0">
                <a:solidFill>
                  <a:srgbClr val="FF0000"/>
                </a:solidFill>
                <a:latin typeface="Consolas" panose="020B0609020204030204" pitchFamily="49" charset="0"/>
              </a:rPr>
              <a:t>) {</a:t>
            </a:r>
          </a:p>
          <a:p>
            <a:r>
              <a:rPr lang="en-IN" b="1" dirty="0">
                <a:solidFill>
                  <a:srgbClr val="FF0000"/>
                </a:solidFill>
                <a:latin typeface="Consolas" panose="020B0609020204030204" pitchFamily="49" charset="0"/>
              </a:rPr>
              <a:t>        </a:t>
            </a:r>
            <a:r>
              <a:rPr lang="en-IN" b="1" dirty="0" err="1">
                <a:solidFill>
                  <a:srgbClr val="FF0000"/>
                </a:solidFill>
                <a:latin typeface="Consolas" panose="020B0609020204030204" pitchFamily="49" charset="0"/>
              </a:rPr>
              <a:t>System.out.print</a:t>
            </a:r>
            <a:r>
              <a:rPr lang="en-IN" b="1" dirty="0">
                <a:solidFill>
                  <a:srgbClr val="FF0000"/>
                </a:solidFill>
                <a:latin typeface="Consolas" panose="020B0609020204030204" pitchFamily="49" charset="0"/>
              </a:rPr>
              <a:t>("[" + </a:t>
            </a:r>
            <a:r>
              <a:rPr lang="en-IN" b="1" dirty="0" err="1">
                <a:solidFill>
                  <a:srgbClr val="FF0000"/>
                </a:solidFill>
                <a:latin typeface="Consolas" panose="020B0609020204030204" pitchFamily="49" charset="0"/>
              </a:rPr>
              <a:t>msg</a:t>
            </a:r>
            <a:r>
              <a:rPr lang="en-IN" b="1" dirty="0">
                <a:solidFill>
                  <a:srgbClr val="FF0000"/>
                </a:solidFill>
                <a:latin typeface="Consolas" panose="020B0609020204030204" pitchFamily="49" charset="0"/>
              </a:rPr>
              <a:t>);</a:t>
            </a:r>
          </a:p>
          <a:p>
            <a:r>
              <a:rPr lang="en-IN" b="1" dirty="0">
                <a:solidFill>
                  <a:srgbClr val="FF0000"/>
                </a:solidFill>
                <a:latin typeface="Consolas" panose="020B0609020204030204" pitchFamily="49" charset="0"/>
              </a:rPr>
              <a:t>        try {</a:t>
            </a:r>
          </a:p>
          <a:p>
            <a:r>
              <a:rPr lang="en-IN" b="1" dirty="0">
                <a:solidFill>
                  <a:srgbClr val="FF0000"/>
                </a:solidFill>
                <a:latin typeface="Consolas" panose="020B0609020204030204" pitchFamily="49" charset="0"/>
              </a:rPr>
              <a:t>            </a:t>
            </a:r>
            <a:r>
              <a:rPr lang="en-IN" b="1" dirty="0" err="1">
                <a:solidFill>
                  <a:srgbClr val="FF0000"/>
                </a:solidFill>
                <a:latin typeface="Consolas" panose="020B0609020204030204" pitchFamily="49" charset="0"/>
              </a:rPr>
              <a:t>Thread.sleep</a:t>
            </a:r>
            <a:r>
              <a:rPr lang="en-IN" b="1" dirty="0">
                <a:solidFill>
                  <a:srgbClr val="FF0000"/>
                </a:solidFill>
                <a:latin typeface="Consolas" panose="020B0609020204030204" pitchFamily="49" charset="0"/>
              </a:rPr>
              <a:t>(1000);</a:t>
            </a:r>
          </a:p>
          <a:p>
            <a:r>
              <a:rPr lang="en-IN" b="1" dirty="0">
                <a:solidFill>
                  <a:srgbClr val="FF0000"/>
                </a:solidFill>
                <a:latin typeface="Consolas" panose="020B0609020204030204" pitchFamily="49" charset="0"/>
              </a:rPr>
              <a:t>        } catch (</a:t>
            </a:r>
            <a:r>
              <a:rPr lang="en-IN" b="1" dirty="0" err="1">
                <a:solidFill>
                  <a:srgbClr val="FF0000"/>
                </a:solidFill>
                <a:latin typeface="Consolas" panose="020B0609020204030204" pitchFamily="49" charset="0"/>
              </a:rPr>
              <a:t>InterruptedException</a:t>
            </a:r>
            <a:r>
              <a:rPr lang="en-IN" b="1" dirty="0">
                <a:solidFill>
                  <a:srgbClr val="FF0000"/>
                </a:solidFill>
                <a:latin typeface="Consolas" panose="020B0609020204030204" pitchFamily="49" charset="0"/>
              </a:rPr>
              <a:t> e) {</a:t>
            </a:r>
          </a:p>
          <a:p>
            <a:r>
              <a:rPr lang="en-IN" b="1" dirty="0">
                <a:solidFill>
                  <a:srgbClr val="FF0000"/>
                </a:solidFill>
                <a:latin typeface="Consolas" panose="020B0609020204030204" pitchFamily="49" charset="0"/>
              </a:rPr>
              <a:t>            System.out.println("Interrupted");</a:t>
            </a:r>
          </a:p>
          <a:p>
            <a:r>
              <a:rPr lang="en-IN" b="1" dirty="0">
                <a:solidFill>
                  <a:srgbClr val="FF0000"/>
                </a:solidFill>
                <a:latin typeface="Consolas" panose="020B0609020204030204" pitchFamily="49" charset="0"/>
              </a:rPr>
              <a:t>        }</a:t>
            </a:r>
          </a:p>
          <a:p>
            <a:r>
              <a:rPr lang="en-IN" b="1" dirty="0">
                <a:solidFill>
                  <a:srgbClr val="FF0000"/>
                </a:solidFill>
                <a:latin typeface="Consolas" panose="020B0609020204030204" pitchFamily="49" charset="0"/>
              </a:rPr>
              <a:t>        System.out.println("]");</a:t>
            </a:r>
          </a:p>
          <a:p>
            <a:r>
              <a:rPr lang="en-IN" b="1" dirty="0">
                <a:solidFill>
                  <a:srgbClr val="FF0000"/>
                </a:solidFill>
                <a:latin typeface="Consolas" panose="020B0609020204030204" pitchFamily="49" charset="0"/>
              </a:rPr>
              <a:t>    }</a:t>
            </a:r>
          </a:p>
          <a:p>
            <a:r>
              <a:rPr lang="en-IN" b="1" dirty="0">
                <a:solidFill>
                  <a:srgbClr val="FF0000"/>
                </a:solidFill>
                <a:latin typeface="Consolas" panose="020B0609020204030204" pitchFamily="49" charset="0"/>
              </a:rPr>
              <a:t>}</a:t>
            </a:r>
          </a:p>
          <a:p>
            <a:endParaRPr lang="en-IN" dirty="0">
              <a:latin typeface="Consolas" panose="020B0609020204030204" pitchFamily="49" charset="0"/>
            </a:endParaRPr>
          </a:p>
          <a:p>
            <a:r>
              <a:rPr lang="en-IN" b="1" dirty="0">
                <a:solidFill>
                  <a:srgbClr val="372B75"/>
                </a:solidFill>
                <a:latin typeface="Consolas" panose="020B0609020204030204" pitchFamily="49" charset="0"/>
              </a:rPr>
              <a:t>class Caller implements Runnable {</a:t>
            </a:r>
          </a:p>
          <a:p>
            <a:r>
              <a:rPr lang="en-IN" b="1" dirty="0">
                <a:solidFill>
                  <a:srgbClr val="372B75"/>
                </a:solidFill>
                <a:latin typeface="Consolas" panose="020B0609020204030204" pitchFamily="49" charset="0"/>
              </a:rPr>
              <a:t>    String </a:t>
            </a:r>
            <a:r>
              <a:rPr lang="en-IN" b="1" dirty="0" err="1">
                <a:solidFill>
                  <a:srgbClr val="372B75"/>
                </a:solidFill>
                <a:latin typeface="Consolas" panose="020B0609020204030204" pitchFamily="49" charset="0"/>
              </a:rPr>
              <a:t>msg</a:t>
            </a:r>
            <a:r>
              <a:rPr lang="en-IN" b="1" dirty="0">
                <a:solidFill>
                  <a:srgbClr val="372B75"/>
                </a:solidFill>
                <a:latin typeface="Consolas" panose="020B0609020204030204" pitchFamily="49" charset="0"/>
              </a:rPr>
              <a:t>;</a:t>
            </a:r>
          </a:p>
          <a:p>
            <a:r>
              <a:rPr lang="en-IN" b="1" dirty="0">
                <a:solidFill>
                  <a:srgbClr val="372B75"/>
                </a:solidFill>
                <a:latin typeface="Consolas" panose="020B0609020204030204" pitchFamily="49" charset="0"/>
              </a:rPr>
              <a:t>    </a:t>
            </a:r>
            <a:r>
              <a:rPr lang="en-IN" b="1" dirty="0" err="1">
                <a:solidFill>
                  <a:srgbClr val="372B75"/>
                </a:solidFill>
                <a:latin typeface="Consolas" panose="020B0609020204030204" pitchFamily="49" charset="0"/>
              </a:rPr>
              <a:t>Callme</a:t>
            </a:r>
            <a:r>
              <a:rPr lang="en-IN" b="1" dirty="0">
                <a:solidFill>
                  <a:srgbClr val="372B75"/>
                </a:solidFill>
                <a:latin typeface="Consolas" panose="020B0609020204030204" pitchFamily="49" charset="0"/>
              </a:rPr>
              <a:t> target;</a:t>
            </a:r>
          </a:p>
          <a:p>
            <a:r>
              <a:rPr lang="en-IN" b="1" dirty="0">
                <a:solidFill>
                  <a:srgbClr val="372B75"/>
                </a:solidFill>
                <a:latin typeface="Consolas" panose="020B0609020204030204" pitchFamily="49" charset="0"/>
              </a:rPr>
              <a:t>    Thread t;</a:t>
            </a:r>
          </a:p>
          <a:p>
            <a:endParaRPr lang="en-IN" b="1" dirty="0">
              <a:solidFill>
                <a:srgbClr val="372B75"/>
              </a:solidFill>
              <a:latin typeface="Consolas" panose="020B0609020204030204" pitchFamily="49" charset="0"/>
            </a:endParaRPr>
          </a:p>
          <a:p>
            <a:r>
              <a:rPr lang="en-IN" b="1" dirty="0">
                <a:solidFill>
                  <a:srgbClr val="372B75"/>
                </a:solidFill>
                <a:latin typeface="Consolas" panose="020B0609020204030204" pitchFamily="49" charset="0"/>
              </a:rPr>
              <a:t>    public Caller(</a:t>
            </a:r>
            <a:r>
              <a:rPr lang="en-IN" b="1" dirty="0" err="1">
                <a:solidFill>
                  <a:srgbClr val="372B75"/>
                </a:solidFill>
                <a:latin typeface="Consolas" panose="020B0609020204030204" pitchFamily="49" charset="0"/>
              </a:rPr>
              <a:t>Callme</a:t>
            </a:r>
            <a:r>
              <a:rPr lang="en-IN" b="1" dirty="0">
                <a:solidFill>
                  <a:srgbClr val="372B75"/>
                </a:solidFill>
                <a:latin typeface="Consolas" panose="020B0609020204030204" pitchFamily="49" charset="0"/>
              </a:rPr>
              <a:t> </a:t>
            </a:r>
            <a:r>
              <a:rPr lang="en-IN" b="1" dirty="0" err="1">
                <a:solidFill>
                  <a:srgbClr val="372B75"/>
                </a:solidFill>
                <a:latin typeface="Consolas" panose="020B0609020204030204" pitchFamily="49" charset="0"/>
              </a:rPr>
              <a:t>targ</a:t>
            </a:r>
            <a:r>
              <a:rPr lang="en-IN" b="1" dirty="0">
                <a:solidFill>
                  <a:srgbClr val="372B75"/>
                </a:solidFill>
                <a:latin typeface="Consolas" panose="020B0609020204030204" pitchFamily="49" charset="0"/>
              </a:rPr>
              <a:t>, String s) {</a:t>
            </a:r>
          </a:p>
          <a:p>
            <a:r>
              <a:rPr lang="en-IN" b="1" dirty="0">
                <a:solidFill>
                  <a:srgbClr val="372B75"/>
                </a:solidFill>
                <a:latin typeface="Consolas" panose="020B0609020204030204" pitchFamily="49" charset="0"/>
              </a:rPr>
              <a:t>        target = </a:t>
            </a:r>
            <a:r>
              <a:rPr lang="en-IN" b="1" dirty="0" err="1">
                <a:solidFill>
                  <a:srgbClr val="372B75"/>
                </a:solidFill>
                <a:latin typeface="Consolas" panose="020B0609020204030204" pitchFamily="49" charset="0"/>
              </a:rPr>
              <a:t>targ</a:t>
            </a:r>
            <a:r>
              <a:rPr lang="en-IN" b="1" dirty="0">
                <a:solidFill>
                  <a:srgbClr val="372B75"/>
                </a:solidFill>
                <a:latin typeface="Consolas" panose="020B0609020204030204" pitchFamily="49" charset="0"/>
              </a:rPr>
              <a:t>;</a:t>
            </a:r>
          </a:p>
          <a:p>
            <a:r>
              <a:rPr lang="en-IN" b="1" dirty="0">
                <a:solidFill>
                  <a:srgbClr val="372B75"/>
                </a:solidFill>
                <a:latin typeface="Consolas" panose="020B0609020204030204" pitchFamily="49" charset="0"/>
              </a:rPr>
              <a:t>        </a:t>
            </a:r>
            <a:r>
              <a:rPr lang="en-IN" b="1" dirty="0" err="1">
                <a:solidFill>
                  <a:srgbClr val="372B75"/>
                </a:solidFill>
                <a:latin typeface="Consolas" panose="020B0609020204030204" pitchFamily="49" charset="0"/>
              </a:rPr>
              <a:t>msg</a:t>
            </a:r>
            <a:r>
              <a:rPr lang="en-IN" b="1" dirty="0">
                <a:solidFill>
                  <a:srgbClr val="372B75"/>
                </a:solidFill>
                <a:latin typeface="Consolas" panose="020B0609020204030204" pitchFamily="49" charset="0"/>
              </a:rPr>
              <a:t> = s;</a:t>
            </a:r>
          </a:p>
          <a:p>
            <a:r>
              <a:rPr lang="en-IN" b="1" dirty="0">
                <a:solidFill>
                  <a:srgbClr val="372B75"/>
                </a:solidFill>
                <a:latin typeface="Consolas" panose="020B0609020204030204" pitchFamily="49" charset="0"/>
              </a:rPr>
              <a:t>        t = new Thread(this);</a:t>
            </a:r>
          </a:p>
          <a:p>
            <a:r>
              <a:rPr lang="en-IN" b="1" dirty="0">
                <a:solidFill>
                  <a:srgbClr val="372B75"/>
                </a:solidFill>
                <a:latin typeface="Consolas" panose="020B0609020204030204" pitchFamily="49" charset="0"/>
              </a:rPr>
              <a:t>    }</a:t>
            </a:r>
          </a:p>
          <a:p>
            <a:endParaRPr lang="en-IN" b="1" dirty="0">
              <a:solidFill>
                <a:srgbClr val="372B75"/>
              </a:solidFill>
              <a:latin typeface="Consolas" panose="020B0609020204030204" pitchFamily="49" charset="0"/>
            </a:endParaRPr>
          </a:p>
          <a:p>
            <a:r>
              <a:rPr lang="en-IN" b="1" dirty="0">
                <a:solidFill>
                  <a:srgbClr val="372B75"/>
                </a:solidFill>
                <a:latin typeface="Consolas" panose="020B0609020204030204" pitchFamily="49" charset="0"/>
              </a:rPr>
              <a:t>    // synchronize calls to call()</a:t>
            </a:r>
          </a:p>
          <a:p>
            <a:r>
              <a:rPr lang="en-IN" b="1" dirty="0">
                <a:solidFill>
                  <a:srgbClr val="372B75"/>
                </a:solidFill>
                <a:latin typeface="Consolas" panose="020B0609020204030204" pitchFamily="49" charset="0"/>
              </a:rPr>
              <a:t>    public void run() {</a:t>
            </a:r>
          </a:p>
          <a:p>
            <a:r>
              <a:rPr lang="en-IN" b="1" dirty="0">
                <a:solidFill>
                  <a:srgbClr val="372B75"/>
                </a:solidFill>
                <a:latin typeface="Consolas" panose="020B0609020204030204" pitchFamily="49" charset="0"/>
              </a:rPr>
              <a:t>        synchronized (target) {   // synchronized block</a:t>
            </a:r>
          </a:p>
          <a:p>
            <a:r>
              <a:rPr lang="en-IN" b="1" dirty="0">
                <a:solidFill>
                  <a:srgbClr val="372B75"/>
                </a:solidFill>
                <a:latin typeface="Consolas" panose="020B0609020204030204" pitchFamily="49" charset="0"/>
              </a:rPr>
              <a:t>            </a:t>
            </a:r>
            <a:r>
              <a:rPr lang="en-IN" b="1" dirty="0" err="1">
                <a:solidFill>
                  <a:srgbClr val="372B75"/>
                </a:solidFill>
                <a:latin typeface="Consolas" panose="020B0609020204030204" pitchFamily="49" charset="0"/>
              </a:rPr>
              <a:t>target.call</a:t>
            </a:r>
            <a:r>
              <a:rPr lang="en-IN" b="1" dirty="0">
                <a:solidFill>
                  <a:srgbClr val="372B75"/>
                </a:solidFill>
                <a:latin typeface="Consolas" panose="020B0609020204030204" pitchFamily="49" charset="0"/>
              </a:rPr>
              <a:t>(</a:t>
            </a:r>
            <a:r>
              <a:rPr lang="en-IN" b="1" dirty="0" err="1">
                <a:solidFill>
                  <a:srgbClr val="372B75"/>
                </a:solidFill>
                <a:latin typeface="Consolas" panose="020B0609020204030204" pitchFamily="49" charset="0"/>
              </a:rPr>
              <a:t>msg</a:t>
            </a:r>
            <a:r>
              <a:rPr lang="en-IN" b="1" dirty="0">
                <a:solidFill>
                  <a:srgbClr val="372B75"/>
                </a:solidFill>
                <a:latin typeface="Consolas" panose="020B0609020204030204" pitchFamily="49" charset="0"/>
              </a:rPr>
              <a:t>);</a:t>
            </a:r>
          </a:p>
          <a:p>
            <a:r>
              <a:rPr lang="en-IN" b="1" dirty="0">
                <a:solidFill>
                  <a:srgbClr val="372B75"/>
                </a:solidFill>
                <a:latin typeface="Consolas" panose="020B0609020204030204" pitchFamily="49" charset="0"/>
              </a:rPr>
              <a:t>        }</a:t>
            </a:r>
          </a:p>
          <a:p>
            <a:r>
              <a:rPr lang="en-IN" b="1" dirty="0">
                <a:solidFill>
                  <a:srgbClr val="372B75"/>
                </a:solidFill>
                <a:latin typeface="Consolas" panose="020B0609020204030204" pitchFamily="49" charset="0"/>
              </a:rPr>
              <a:t>    }</a:t>
            </a:r>
          </a:p>
          <a:p>
            <a:r>
              <a:rPr lang="en-IN" b="1" dirty="0">
                <a:solidFill>
                  <a:srgbClr val="372B75"/>
                </a:solidFill>
                <a:latin typeface="Consolas" panose="020B0609020204030204" pitchFamily="49" charset="0"/>
              </a:rPr>
              <a:t>}</a:t>
            </a:r>
          </a:p>
          <a:p>
            <a:endParaRPr lang="en-IN" dirty="0"/>
          </a:p>
        </p:txBody>
      </p:sp>
    </p:spTree>
    <p:extLst>
      <p:ext uri="{BB962C8B-B14F-4D97-AF65-F5344CB8AC3E}">
        <p14:creationId xmlns:p14="http://schemas.microsoft.com/office/powerpoint/2010/main" val="4114372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92648-E8F7-D317-70E6-052EB83A879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A977446-1333-3CFF-0FFA-EE58C62D922B}"/>
              </a:ext>
            </a:extLst>
          </p:cNvPr>
          <p:cNvSpPr txBox="1"/>
          <p:nvPr/>
        </p:nvSpPr>
        <p:spPr>
          <a:xfrm>
            <a:off x="267855" y="286327"/>
            <a:ext cx="8700654" cy="5047536"/>
          </a:xfrm>
          <a:prstGeom prst="rect">
            <a:avLst/>
          </a:prstGeom>
          <a:noFill/>
        </p:spPr>
        <p:txBody>
          <a:bodyPr wrap="square" rtlCol="0">
            <a:spAutoFit/>
          </a:bodyPr>
          <a:lstStyle/>
          <a:p>
            <a:endParaRPr lang="en-IN" dirty="0"/>
          </a:p>
          <a:p>
            <a:r>
              <a:rPr lang="en-IN" dirty="0"/>
              <a:t>class Synch1 {</a:t>
            </a:r>
          </a:p>
          <a:p>
            <a:r>
              <a:rPr lang="en-IN" dirty="0"/>
              <a:t>    public static void main(String args[]) {</a:t>
            </a:r>
          </a:p>
          <a:p>
            <a:r>
              <a:rPr lang="en-IN" b="1" dirty="0">
                <a:solidFill>
                  <a:srgbClr val="C00000"/>
                </a:solidFill>
              </a:rPr>
              <a:t>        </a:t>
            </a:r>
            <a:r>
              <a:rPr lang="en-IN" b="1" dirty="0" err="1">
                <a:solidFill>
                  <a:srgbClr val="C00000"/>
                </a:solidFill>
              </a:rPr>
              <a:t>Callme</a:t>
            </a:r>
            <a:r>
              <a:rPr lang="en-IN" b="1" dirty="0">
                <a:solidFill>
                  <a:srgbClr val="C00000"/>
                </a:solidFill>
              </a:rPr>
              <a:t> target = new </a:t>
            </a:r>
            <a:r>
              <a:rPr lang="en-IN" b="1" dirty="0" err="1">
                <a:solidFill>
                  <a:srgbClr val="C00000"/>
                </a:solidFill>
              </a:rPr>
              <a:t>Callme</a:t>
            </a:r>
            <a:r>
              <a:rPr lang="en-IN" b="1" dirty="0">
                <a:solidFill>
                  <a:srgbClr val="C00000"/>
                </a:solidFill>
              </a:rPr>
              <a:t>();</a:t>
            </a:r>
          </a:p>
          <a:p>
            <a:r>
              <a:rPr lang="en-IN" b="1" dirty="0">
                <a:solidFill>
                  <a:srgbClr val="C00000"/>
                </a:solidFill>
              </a:rPr>
              <a:t>        Caller ob1 = new Caller(target, "Hello");</a:t>
            </a:r>
          </a:p>
          <a:p>
            <a:r>
              <a:rPr lang="en-IN" b="1" dirty="0">
                <a:solidFill>
                  <a:srgbClr val="C00000"/>
                </a:solidFill>
              </a:rPr>
              <a:t>        Caller ob2 = new Caller(target, "Synchronized");</a:t>
            </a:r>
          </a:p>
          <a:p>
            <a:r>
              <a:rPr lang="en-IN" b="1" dirty="0">
                <a:solidFill>
                  <a:srgbClr val="C00000"/>
                </a:solidFill>
              </a:rPr>
              <a:t>        Caller ob3 = new Caller(target, "World");</a:t>
            </a:r>
          </a:p>
          <a:p>
            <a:endParaRPr lang="en-IN" dirty="0"/>
          </a:p>
          <a:p>
            <a:r>
              <a:rPr lang="en-IN" dirty="0"/>
              <a:t>        // Start the threads.</a:t>
            </a:r>
          </a:p>
          <a:p>
            <a:r>
              <a:rPr lang="en-IN" b="1" dirty="0"/>
              <a:t>        ob1.t.start();</a:t>
            </a:r>
          </a:p>
          <a:p>
            <a:r>
              <a:rPr lang="en-IN" b="1" dirty="0"/>
              <a:t>        ob2.t.start();</a:t>
            </a:r>
          </a:p>
          <a:p>
            <a:r>
              <a:rPr lang="en-IN" b="1" dirty="0"/>
              <a:t>        ob3.t.start();</a:t>
            </a:r>
          </a:p>
          <a:p>
            <a:endParaRPr lang="en-IN" dirty="0"/>
          </a:p>
          <a:p>
            <a:r>
              <a:rPr lang="en-IN" dirty="0"/>
              <a:t>        // wait for threads to end</a:t>
            </a:r>
          </a:p>
          <a:p>
            <a:r>
              <a:rPr lang="en-IN" dirty="0"/>
              <a:t>        try {</a:t>
            </a:r>
          </a:p>
          <a:p>
            <a:r>
              <a:rPr lang="en-IN" b="1" dirty="0"/>
              <a:t>            ob1.t.join();</a:t>
            </a:r>
          </a:p>
          <a:p>
            <a:r>
              <a:rPr lang="en-IN" b="1" dirty="0"/>
              <a:t>            ob2.t.join();</a:t>
            </a:r>
          </a:p>
          <a:p>
            <a:r>
              <a:rPr lang="en-IN" b="1" dirty="0"/>
              <a:t>            ob3.t.join();</a:t>
            </a:r>
          </a:p>
          <a:p>
            <a:r>
              <a:rPr lang="en-IN" dirty="0"/>
              <a:t>        } catch (</a:t>
            </a:r>
            <a:r>
              <a:rPr lang="en-IN" dirty="0" err="1"/>
              <a:t>InterruptedException</a:t>
            </a:r>
            <a:r>
              <a:rPr lang="en-IN" dirty="0"/>
              <a:t> e) {</a:t>
            </a:r>
          </a:p>
          <a:p>
            <a:r>
              <a:rPr lang="en-IN" dirty="0"/>
              <a:t>            System.out.println("Interrupted");</a:t>
            </a:r>
          </a:p>
          <a:p>
            <a:r>
              <a:rPr lang="en-IN" dirty="0"/>
              <a:t>        }</a:t>
            </a:r>
          </a:p>
          <a:p>
            <a:r>
              <a:rPr lang="en-IN" dirty="0"/>
              <a:t>    }</a:t>
            </a:r>
          </a:p>
          <a:p>
            <a:r>
              <a:rPr lang="en-IN" dirty="0"/>
              <a:t>}</a:t>
            </a:r>
          </a:p>
        </p:txBody>
      </p:sp>
    </p:spTree>
    <p:extLst>
      <p:ext uri="{BB962C8B-B14F-4D97-AF65-F5344CB8AC3E}">
        <p14:creationId xmlns:p14="http://schemas.microsoft.com/office/powerpoint/2010/main" val="19237630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60"/>
          <p:cNvSpPr txBox="1"/>
          <p:nvPr/>
        </p:nvSpPr>
        <p:spPr>
          <a:xfrm>
            <a:off x="685800" y="637309"/>
            <a:ext cx="7772400" cy="50784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Interthread Communication</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To avoid polling, Java includes an elegant </a:t>
            </a:r>
            <a:r>
              <a:rPr lang="en-US" sz="1800" b="0" i="0" u="none" dirty="0" err="1">
                <a:solidFill>
                  <a:schemeClr val="dk1"/>
                </a:solidFill>
                <a:latin typeface="Arial"/>
                <a:ea typeface="Arial"/>
                <a:cs typeface="Arial"/>
                <a:sym typeface="Arial"/>
              </a:rPr>
              <a:t>interprocess</a:t>
            </a:r>
            <a:r>
              <a:rPr lang="en-US" sz="1800" b="0" i="0" u="none" dirty="0">
                <a:solidFill>
                  <a:schemeClr val="dk1"/>
                </a:solidFill>
                <a:latin typeface="Arial"/>
                <a:ea typeface="Arial"/>
                <a:cs typeface="Arial"/>
                <a:sym typeface="Arial"/>
              </a:rPr>
              <a:t> communication mechanism via the wait( ), notify( ), and </a:t>
            </a:r>
            <a:r>
              <a:rPr lang="en-US" sz="1800" b="0" i="0" u="none" dirty="0" err="1">
                <a:solidFill>
                  <a:schemeClr val="dk1"/>
                </a:solidFill>
                <a:latin typeface="Arial"/>
                <a:ea typeface="Arial"/>
                <a:cs typeface="Arial"/>
                <a:sym typeface="Arial"/>
              </a:rPr>
              <a:t>notifyAll</a:t>
            </a:r>
            <a:r>
              <a:rPr lang="en-US" sz="1800" b="0" i="0" u="none" dirty="0">
                <a:solidFill>
                  <a:schemeClr val="dk1"/>
                </a:solidFill>
                <a:latin typeface="Arial"/>
                <a:ea typeface="Arial"/>
                <a:cs typeface="Arial"/>
                <a:sym typeface="Arial"/>
              </a:rPr>
              <a:t>( ) methods. </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1" i="0" u="none" dirty="0">
                <a:solidFill>
                  <a:schemeClr val="dk1"/>
                </a:solidFill>
                <a:latin typeface="Arial"/>
                <a:ea typeface="Arial"/>
                <a:cs typeface="Arial"/>
                <a:sym typeface="Arial"/>
              </a:rPr>
              <a:t>These methods are implemented as final methods in Object, so all classes have them. </a:t>
            </a:r>
            <a:endParaRPr b="1"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All three methods can be called only from within a synchronized context. </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Although conceptually advanced from a computer science perspective, the rules for using these methods are actually quite simple:</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114300" algn="just" rtl="0">
              <a:lnSpc>
                <a:spcPct val="100000"/>
              </a:lnSpc>
              <a:spcBef>
                <a:spcPts val="0"/>
              </a:spcBef>
              <a:spcAft>
                <a:spcPts val="0"/>
              </a:spcAft>
              <a:buClr>
                <a:schemeClr val="dk1"/>
              </a:buClr>
              <a:buSzPts val="1800"/>
              <a:buFont typeface="Arial"/>
              <a:buChar char="•"/>
            </a:pPr>
            <a:r>
              <a:rPr lang="en-US" sz="1800" b="0" i="0" u="none" dirty="0">
                <a:solidFill>
                  <a:srgbClr val="FF0000"/>
                </a:solidFill>
                <a:latin typeface="Arial"/>
                <a:ea typeface="Arial"/>
                <a:cs typeface="Arial"/>
                <a:sym typeface="Arial"/>
              </a:rPr>
              <a:t>wait( ) </a:t>
            </a:r>
            <a:r>
              <a:rPr lang="en-US" sz="1800" b="0" i="0" u="none" dirty="0">
                <a:solidFill>
                  <a:schemeClr val="dk1"/>
                </a:solidFill>
                <a:latin typeface="Arial"/>
                <a:ea typeface="Arial"/>
                <a:cs typeface="Arial"/>
                <a:sym typeface="Arial"/>
              </a:rPr>
              <a:t>tells the calling thread to give up the monitor and go to sleep until some other thread enters the same monitor and calls notify( ) or </a:t>
            </a:r>
            <a:r>
              <a:rPr lang="en-US" sz="1800" b="0" i="0" u="none" dirty="0" err="1">
                <a:solidFill>
                  <a:schemeClr val="dk1"/>
                </a:solidFill>
                <a:latin typeface="Arial"/>
                <a:ea typeface="Arial"/>
                <a:cs typeface="Arial"/>
                <a:sym typeface="Arial"/>
              </a:rPr>
              <a:t>notifyAll</a:t>
            </a:r>
            <a:r>
              <a:rPr lang="en-US" sz="1800" b="0" i="0" u="none" dirty="0">
                <a:solidFill>
                  <a:schemeClr val="dk1"/>
                </a:solidFill>
                <a:latin typeface="Arial"/>
                <a:ea typeface="Arial"/>
                <a:cs typeface="Arial"/>
                <a:sym typeface="Arial"/>
              </a:rPr>
              <a:t>( ). • </a:t>
            </a:r>
            <a:r>
              <a:rPr lang="en-US" sz="1800" b="0" i="0" u="none" dirty="0">
                <a:solidFill>
                  <a:srgbClr val="FF0000"/>
                </a:solidFill>
                <a:latin typeface="Arial"/>
                <a:ea typeface="Arial"/>
                <a:cs typeface="Arial"/>
                <a:sym typeface="Arial"/>
              </a:rPr>
              <a:t>notify( ) </a:t>
            </a:r>
            <a:r>
              <a:rPr lang="en-US" sz="1800" b="0" i="0" u="none" dirty="0">
                <a:solidFill>
                  <a:schemeClr val="dk1"/>
                </a:solidFill>
                <a:latin typeface="Arial"/>
                <a:ea typeface="Arial"/>
                <a:cs typeface="Arial"/>
                <a:sym typeface="Arial"/>
              </a:rPr>
              <a:t>wakes up a thread that called wait( ) on the same object. </a:t>
            </a:r>
            <a:endParaRPr dirty="0"/>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 </a:t>
            </a:r>
            <a:r>
              <a:rPr lang="en-US" sz="1800" b="0" i="0" u="none" dirty="0" err="1">
                <a:solidFill>
                  <a:srgbClr val="FF0000"/>
                </a:solidFill>
                <a:latin typeface="Arial"/>
                <a:ea typeface="Arial"/>
                <a:cs typeface="Arial"/>
                <a:sym typeface="Arial"/>
              </a:rPr>
              <a:t>notifyAll</a:t>
            </a:r>
            <a:r>
              <a:rPr lang="en-US" sz="1800" b="0" i="0" u="none" dirty="0">
                <a:solidFill>
                  <a:srgbClr val="FF0000"/>
                </a:solidFill>
                <a:latin typeface="Arial"/>
                <a:ea typeface="Arial"/>
                <a:cs typeface="Arial"/>
                <a:sym typeface="Arial"/>
              </a:rPr>
              <a:t>( ) </a:t>
            </a:r>
            <a:r>
              <a:rPr lang="en-US" sz="1800" b="0" i="0" u="none" dirty="0">
                <a:solidFill>
                  <a:schemeClr val="dk1"/>
                </a:solidFill>
                <a:latin typeface="Arial"/>
                <a:ea typeface="Arial"/>
                <a:cs typeface="Arial"/>
                <a:sym typeface="Arial"/>
              </a:rPr>
              <a:t>wakes up all the threads that called wait( ) on the same object. One of the threads will be granted access</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61"/>
          <p:cNvSpPr txBox="1"/>
          <p:nvPr/>
        </p:nvSpPr>
        <p:spPr>
          <a:xfrm>
            <a:off x="914400" y="609600"/>
            <a:ext cx="7315200" cy="53546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These methods are declared within </a:t>
            </a:r>
            <a:r>
              <a:rPr lang="en-US" sz="1800" b="1" i="0" u="none" dirty="0">
                <a:solidFill>
                  <a:schemeClr val="dk1"/>
                </a:solidFill>
                <a:latin typeface="Arial"/>
                <a:ea typeface="Arial"/>
                <a:cs typeface="Arial"/>
                <a:sym typeface="Arial"/>
              </a:rPr>
              <a:t>Object</a:t>
            </a:r>
            <a:r>
              <a:rPr lang="en-US" sz="1800" b="0" i="0" u="none" dirty="0">
                <a:solidFill>
                  <a:schemeClr val="dk1"/>
                </a:solidFill>
                <a:latin typeface="Arial"/>
                <a:ea typeface="Arial"/>
                <a:cs typeface="Arial"/>
                <a:sym typeface="Arial"/>
              </a:rPr>
              <a:t>, as shown here: </a:t>
            </a:r>
            <a:endParaRPr dirty="0"/>
          </a:p>
          <a:p>
            <a:pPr marL="0" marR="0" lvl="0" indent="0" algn="l" rtl="0">
              <a:lnSpc>
                <a:spcPct val="100000"/>
              </a:lnSpc>
              <a:spcBef>
                <a:spcPts val="0"/>
              </a:spcBef>
              <a:spcAft>
                <a:spcPts val="0"/>
              </a:spcAft>
              <a:buClr>
                <a:schemeClr val="dk1"/>
              </a:buClr>
              <a:buSzPts val="1800"/>
              <a:buFont typeface="Arial"/>
              <a:buNone/>
            </a:pPr>
            <a:r>
              <a:rPr lang="en-US" sz="1800" b="0" i="0" u="none" dirty="0">
                <a:solidFill>
                  <a:srgbClr val="FF0000"/>
                </a:solidFill>
                <a:latin typeface="Arial"/>
                <a:ea typeface="Arial"/>
                <a:cs typeface="Arial"/>
                <a:sym typeface="Arial"/>
              </a:rPr>
              <a:t>final void wait( ) throws </a:t>
            </a:r>
            <a:r>
              <a:rPr lang="en-US" sz="1800" b="0" i="0" u="none" dirty="0" err="1">
                <a:solidFill>
                  <a:srgbClr val="FF0000"/>
                </a:solidFill>
                <a:latin typeface="Arial"/>
                <a:ea typeface="Arial"/>
                <a:cs typeface="Arial"/>
                <a:sym typeface="Arial"/>
              </a:rPr>
              <a:t>InterruptedException</a:t>
            </a:r>
            <a:r>
              <a:rPr lang="en-US" sz="1800" b="0" i="0" u="none" dirty="0">
                <a:solidFill>
                  <a:srgbClr val="FF0000"/>
                </a:solidFill>
                <a:latin typeface="Arial"/>
                <a:ea typeface="Arial"/>
                <a:cs typeface="Arial"/>
                <a:sym typeface="Arial"/>
              </a:rPr>
              <a:t> </a:t>
            </a:r>
            <a:endParaRPr dirty="0">
              <a:solidFill>
                <a:srgbClr val="FF0000"/>
              </a:solidFill>
            </a:endParaRPr>
          </a:p>
          <a:p>
            <a:pPr marL="0" marR="0" lvl="0" indent="0" algn="l" rtl="0">
              <a:lnSpc>
                <a:spcPct val="100000"/>
              </a:lnSpc>
              <a:spcBef>
                <a:spcPts val="0"/>
              </a:spcBef>
              <a:spcAft>
                <a:spcPts val="0"/>
              </a:spcAft>
              <a:buClr>
                <a:schemeClr val="dk1"/>
              </a:buClr>
              <a:buSzPts val="1800"/>
              <a:buFont typeface="Arial"/>
              <a:buNone/>
            </a:pPr>
            <a:r>
              <a:rPr lang="en-US" sz="1800" b="0" i="0" u="none" dirty="0">
                <a:solidFill>
                  <a:srgbClr val="FF0000"/>
                </a:solidFill>
                <a:latin typeface="Arial"/>
                <a:ea typeface="Arial"/>
                <a:cs typeface="Arial"/>
                <a:sym typeface="Arial"/>
              </a:rPr>
              <a:t>final void notify( ) </a:t>
            </a:r>
            <a:endParaRPr dirty="0">
              <a:solidFill>
                <a:srgbClr val="FF0000"/>
              </a:solidFill>
            </a:endParaRPr>
          </a:p>
          <a:p>
            <a:pPr marL="0" marR="0" lvl="0" indent="0" algn="l" rtl="0">
              <a:lnSpc>
                <a:spcPct val="100000"/>
              </a:lnSpc>
              <a:spcBef>
                <a:spcPts val="0"/>
              </a:spcBef>
              <a:spcAft>
                <a:spcPts val="0"/>
              </a:spcAft>
              <a:buClr>
                <a:schemeClr val="dk1"/>
              </a:buClr>
              <a:buSzPts val="1800"/>
              <a:buFont typeface="Arial"/>
              <a:buNone/>
            </a:pPr>
            <a:r>
              <a:rPr lang="en-US" sz="1800" b="0" i="0" u="none" dirty="0">
                <a:solidFill>
                  <a:srgbClr val="FF0000"/>
                </a:solidFill>
                <a:latin typeface="Arial"/>
                <a:ea typeface="Arial"/>
                <a:cs typeface="Arial"/>
                <a:sym typeface="Arial"/>
              </a:rPr>
              <a:t>final void notify All( )</a:t>
            </a:r>
            <a:endParaRPr dirty="0">
              <a:solidFill>
                <a:srgbClr val="FF0000"/>
              </a:solidFill>
            </a:endParaRPr>
          </a:p>
          <a:p>
            <a:pPr marL="0" marR="0" lvl="0" indent="0" algn="l"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Although wait( ) normally waits until notify( ) or </a:t>
            </a:r>
            <a:r>
              <a:rPr lang="en-US" sz="1800" b="0" i="0" u="none" dirty="0" err="1">
                <a:solidFill>
                  <a:schemeClr val="dk1"/>
                </a:solidFill>
                <a:latin typeface="Arial"/>
                <a:ea typeface="Arial"/>
                <a:cs typeface="Arial"/>
                <a:sym typeface="Arial"/>
              </a:rPr>
              <a:t>notifyAll</a:t>
            </a:r>
            <a:r>
              <a:rPr lang="en-US" sz="1800" b="0" i="0" u="none" dirty="0">
                <a:solidFill>
                  <a:schemeClr val="dk1"/>
                </a:solidFill>
                <a:latin typeface="Arial"/>
                <a:ea typeface="Arial"/>
                <a:cs typeface="Arial"/>
                <a:sym typeface="Arial"/>
              </a:rPr>
              <a:t>( ) is called, there is a possibility that in very rare cases the waiting thread could be awakened due to a spurious wakeup</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To begin, consider the following sample program that incorrectly implements a simple form of the producer/consumer problem. </a:t>
            </a:r>
            <a:endParaRPr dirty="0"/>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It consists of four classes: </a:t>
            </a:r>
            <a:endParaRPr dirty="0"/>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Q, the queue that you’re trying to synchronize; </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Producer, the threaded object that is producing queue entries;</a:t>
            </a:r>
            <a:endParaRPr dirty="0"/>
          </a:p>
          <a:p>
            <a:pPr marL="0" marR="0" lvl="0" indent="0" algn="just"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Consumer, the threaded object that is consuming queue entries; </a:t>
            </a:r>
            <a:endParaRPr dirty="0"/>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and</a:t>
            </a:r>
            <a:endParaRPr dirty="0"/>
          </a:p>
          <a:p>
            <a:pPr marL="0" marR="0" lvl="0" indent="0" algn="just"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PC, the tiny class that creates the single Q, Producer, and Consumer.</a:t>
            </a:r>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D8D06-8074-1654-6CD1-CD7C43673293}"/>
              </a:ext>
            </a:extLst>
          </p:cNvPr>
          <p:cNvSpPr txBox="1"/>
          <p:nvPr/>
        </p:nvSpPr>
        <p:spPr>
          <a:xfrm>
            <a:off x="563418" y="563418"/>
            <a:ext cx="7887855" cy="5909310"/>
          </a:xfrm>
          <a:prstGeom prst="rect">
            <a:avLst/>
          </a:prstGeom>
          <a:noFill/>
        </p:spPr>
        <p:txBody>
          <a:bodyPr wrap="square" rtlCol="0">
            <a:spAutoFit/>
          </a:bodyPr>
          <a:lstStyle/>
          <a:p>
            <a:r>
              <a:rPr lang="en-IN" dirty="0"/>
              <a:t>// A correct implementation of a producer and consumer.</a:t>
            </a:r>
          </a:p>
          <a:p>
            <a:r>
              <a:rPr lang="en-IN" dirty="0"/>
              <a:t>class Q {</a:t>
            </a:r>
          </a:p>
          <a:p>
            <a:r>
              <a:rPr lang="en-IN" dirty="0"/>
              <a:t>    int n;</a:t>
            </a:r>
          </a:p>
          <a:p>
            <a:r>
              <a:rPr lang="en-IN" dirty="0"/>
              <a:t>    </a:t>
            </a:r>
            <a:r>
              <a:rPr lang="en-IN" dirty="0" err="1"/>
              <a:t>boolean</a:t>
            </a:r>
            <a:r>
              <a:rPr lang="en-IN" dirty="0"/>
              <a:t> </a:t>
            </a:r>
            <a:r>
              <a:rPr lang="en-IN" dirty="0" err="1"/>
              <a:t>valueSet</a:t>
            </a:r>
            <a:r>
              <a:rPr lang="en-IN" dirty="0"/>
              <a:t> = false;</a:t>
            </a:r>
          </a:p>
          <a:p>
            <a:endParaRPr lang="en-IN" dirty="0"/>
          </a:p>
          <a:p>
            <a:r>
              <a:rPr lang="en-IN" dirty="0">
                <a:solidFill>
                  <a:srgbClr val="C00000"/>
                </a:solidFill>
              </a:rPr>
              <a:t>    synchronized int get() {</a:t>
            </a:r>
          </a:p>
          <a:p>
            <a:r>
              <a:rPr lang="en-IN" dirty="0">
                <a:solidFill>
                  <a:srgbClr val="C00000"/>
                </a:solidFill>
              </a:rPr>
              <a:t>        while (!</a:t>
            </a:r>
            <a:r>
              <a:rPr lang="en-IN" dirty="0" err="1">
                <a:solidFill>
                  <a:srgbClr val="C00000"/>
                </a:solidFill>
              </a:rPr>
              <a:t>valueSet</a:t>
            </a:r>
            <a:r>
              <a:rPr lang="en-IN" dirty="0">
                <a:solidFill>
                  <a:srgbClr val="C00000"/>
                </a:solidFill>
              </a:rPr>
              <a:t>) {</a:t>
            </a:r>
          </a:p>
          <a:p>
            <a:r>
              <a:rPr lang="en-IN" dirty="0">
                <a:solidFill>
                  <a:srgbClr val="C00000"/>
                </a:solidFill>
              </a:rPr>
              <a:t>            try {</a:t>
            </a:r>
          </a:p>
          <a:p>
            <a:r>
              <a:rPr lang="en-IN" dirty="0">
                <a:solidFill>
                  <a:srgbClr val="C00000"/>
                </a:solidFill>
              </a:rPr>
              <a:t>                wait();</a:t>
            </a:r>
          </a:p>
          <a:p>
            <a:r>
              <a:rPr lang="en-IN" dirty="0">
                <a:solidFill>
                  <a:srgbClr val="C00000"/>
                </a:solidFill>
              </a:rPr>
              <a:t>            } catch (</a:t>
            </a:r>
            <a:r>
              <a:rPr lang="en-IN" dirty="0" err="1">
                <a:solidFill>
                  <a:srgbClr val="C00000"/>
                </a:solidFill>
              </a:rPr>
              <a:t>InterruptedException</a:t>
            </a:r>
            <a:r>
              <a:rPr lang="en-IN" dirty="0">
                <a:solidFill>
                  <a:srgbClr val="C00000"/>
                </a:solidFill>
              </a:rPr>
              <a:t> e) {</a:t>
            </a:r>
          </a:p>
          <a:p>
            <a:r>
              <a:rPr lang="en-IN" dirty="0">
                <a:solidFill>
                  <a:srgbClr val="C00000"/>
                </a:solidFill>
              </a:rPr>
              <a:t>                System.out.println("</a:t>
            </a:r>
            <a:r>
              <a:rPr lang="en-IN" dirty="0" err="1">
                <a:solidFill>
                  <a:srgbClr val="C00000"/>
                </a:solidFill>
              </a:rPr>
              <a:t>InterruptedException</a:t>
            </a:r>
            <a:r>
              <a:rPr lang="en-IN" dirty="0">
                <a:solidFill>
                  <a:srgbClr val="C00000"/>
                </a:solidFill>
              </a:rPr>
              <a:t> caught");</a:t>
            </a:r>
          </a:p>
          <a:p>
            <a:r>
              <a:rPr lang="en-IN" dirty="0">
                <a:solidFill>
                  <a:srgbClr val="C00000"/>
                </a:solidFill>
              </a:rPr>
              <a:t>            }</a:t>
            </a:r>
          </a:p>
          <a:p>
            <a:r>
              <a:rPr lang="en-IN" dirty="0">
                <a:solidFill>
                  <a:srgbClr val="C00000"/>
                </a:solidFill>
              </a:rPr>
              <a:t>        }</a:t>
            </a:r>
          </a:p>
          <a:p>
            <a:r>
              <a:rPr lang="en-IN" dirty="0">
                <a:solidFill>
                  <a:srgbClr val="C00000"/>
                </a:solidFill>
              </a:rPr>
              <a:t>        System.out.println("Got: " + n);</a:t>
            </a:r>
          </a:p>
          <a:p>
            <a:r>
              <a:rPr lang="en-IN" dirty="0">
                <a:solidFill>
                  <a:srgbClr val="C00000"/>
                </a:solidFill>
              </a:rPr>
              <a:t>        </a:t>
            </a:r>
            <a:r>
              <a:rPr lang="en-IN" dirty="0" err="1">
                <a:solidFill>
                  <a:srgbClr val="C00000"/>
                </a:solidFill>
              </a:rPr>
              <a:t>valueSet</a:t>
            </a:r>
            <a:r>
              <a:rPr lang="en-IN" dirty="0">
                <a:solidFill>
                  <a:srgbClr val="C00000"/>
                </a:solidFill>
              </a:rPr>
              <a:t> = false;</a:t>
            </a:r>
          </a:p>
          <a:p>
            <a:r>
              <a:rPr lang="en-IN" dirty="0">
                <a:solidFill>
                  <a:srgbClr val="C00000"/>
                </a:solidFill>
              </a:rPr>
              <a:t>        notify();</a:t>
            </a:r>
          </a:p>
          <a:p>
            <a:r>
              <a:rPr lang="en-IN" dirty="0">
                <a:solidFill>
                  <a:srgbClr val="C00000"/>
                </a:solidFill>
              </a:rPr>
              <a:t>        return n;</a:t>
            </a:r>
          </a:p>
          <a:p>
            <a:r>
              <a:rPr lang="en-IN" dirty="0"/>
              <a:t>    }</a:t>
            </a:r>
          </a:p>
          <a:p>
            <a:endParaRPr lang="en-IN" dirty="0"/>
          </a:p>
          <a:p>
            <a:r>
              <a:rPr lang="en-IN" b="1" dirty="0">
                <a:solidFill>
                  <a:schemeClr val="bg2"/>
                </a:solidFill>
              </a:rPr>
              <a:t>    synchronized void put(int n) {</a:t>
            </a:r>
          </a:p>
          <a:p>
            <a:r>
              <a:rPr lang="en-IN" b="1" dirty="0">
                <a:solidFill>
                  <a:schemeClr val="bg2"/>
                </a:solidFill>
              </a:rPr>
              <a:t>        while (</a:t>
            </a:r>
            <a:r>
              <a:rPr lang="en-IN" b="1" dirty="0" err="1">
                <a:solidFill>
                  <a:schemeClr val="bg2"/>
                </a:solidFill>
              </a:rPr>
              <a:t>valueSet</a:t>
            </a:r>
            <a:r>
              <a:rPr lang="en-IN" b="1" dirty="0">
                <a:solidFill>
                  <a:schemeClr val="bg2"/>
                </a:solidFill>
              </a:rPr>
              <a:t>) {</a:t>
            </a:r>
          </a:p>
          <a:p>
            <a:r>
              <a:rPr lang="en-IN" b="1" dirty="0">
                <a:solidFill>
                  <a:schemeClr val="bg2"/>
                </a:solidFill>
              </a:rPr>
              <a:t>            try {</a:t>
            </a:r>
          </a:p>
          <a:p>
            <a:r>
              <a:rPr lang="en-IN" b="1" dirty="0">
                <a:solidFill>
                  <a:schemeClr val="bg2"/>
                </a:solidFill>
              </a:rPr>
              <a:t>                wait();</a:t>
            </a:r>
          </a:p>
          <a:p>
            <a:r>
              <a:rPr lang="en-IN" b="1" dirty="0">
                <a:solidFill>
                  <a:schemeClr val="bg2"/>
                </a:solidFill>
              </a:rPr>
              <a:t>            } catch (</a:t>
            </a:r>
            <a:r>
              <a:rPr lang="en-IN" b="1" dirty="0" err="1">
                <a:solidFill>
                  <a:schemeClr val="bg2"/>
                </a:solidFill>
              </a:rPr>
              <a:t>InterruptedException</a:t>
            </a:r>
            <a:r>
              <a:rPr lang="en-IN" b="1" dirty="0">
                <a:solidFill>
                  <a:schemeClr val="bg2"/>
                </a:solidFill>
              </a:rPr>
              <a:t> e) {</a:t>
            </a:r>
          </a:p>
          <a:p>
            <a:r>
              <a:rPr lang="en-IN" b="1" dirty="0">
                <a:solidFill>
                  <a:schemeClr val="bg2"/>
                </a:solidFill>
              </a:rPr>
              <a:t>                System.out.println("</a:t>
            </a:r>
            <a:r>
              <a:rPr lang="en-IN" b="1" dirty="0" err="1">
                <a:solidFill>
                  <a:schemeClr val="bg2"/>
                </a:solidFill>
              </a:rPr>
              <a:t>InterruptedException</a:t>
            </a:r>
            <a:r>
              <a:rPr lang="en-IN" b="1" dirty="0">
                <a:solidFill>
                  <a:schemeClr val="bg2"/>
                </a:solidFill>
              </a:rPr>
              <a:t> caught");</a:t>
            </a:r>
          </a:p>
          <a:p>
            <a:r>
              <a:rPr lang="en-IN" b="1" dirty="0">
                <a:solidFill>
                  <a:schemeClr val="bg2"/>
                </a:solidFill>
              </a:rPr>
              <a:t>            }</a:t>
            </a:r>
          </a:p>
          <a:p>
            <a:r>
              <a:rPr lang="en-IN" b="1" dirty="0">
                <a:solidFill>
                  <a:schemeClr val="bg2"/>
                </a:solidFill>
              </a:rPr>
              <a:t>        }</a:t>
            </a:r>
          </a:p>
        </p:txBody>
      </p:sp>
    </p:spTree>
    <p:extLst>
      <p:ext uri="{BB962C8B-B14F-4D97-AF65-F5344CB8AC3E}">
        <p14:creationId xmlns:p14="http://schemas.microsoft.com/office/powerpoint/2010/main" val="38920854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851F3-C412-1020-BCE3-B40174B6CEA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D3B2C1E-212D-5147-0EFB-2C06A6B0D91A}"/>
              </a:ext>
            </a:extLst>
          </p:cNvPr>
          <p:cNvSpPr txBox="1"/>
          <p:nvPr/>
        </p:nvSpPr>
        <p:spPr>
          <a:xfrm>
            <a:off x="563418" y="563418"/>
            <a:ext cx="7887855" cy="5262979"/>
          </a:xfrm>
          <a:prstGeom prst="rect">
            <a:avLst/>
          </a:prstGeom>
          <a:noFill/>
        </p:spPr>
        <p:txBody>
          <a:bodyPr wrap="square" rtlCol="0">
            <a:spAutoFit/>
          </a:bodyPr>
          <a:lstStyle/>
          <a:p>
            <a:r>
              <a:rPr lang="en-IN" dirty="0" err="1"/>
              <a:t>this.n</a:t>
            </a:r>
            <a:r>
              <a:rPr lang="en-IN" dirty="0"/>
              <a:t> = n;</a:t>
            </a:r>
          </a:p>
          <a:p>
            <a:r>
              <a:rPr lang="en-IN" dirty="0"/>
              <a:t>        </a:t>
            </a:r>
            <a:r>
              <a:rPr lang="en-IN" dirty="0" err="1"/>
              <a:t>valueSet</a:t>
            </a:r>
            <a:r>
              <a:rPr lang="en-IN" dirty="0"/>
              <a:t> = true;</a:t>
            </a:r>
          </a:p>
          <a:p>
            <a:r>
              <a:rPr lang="en-IN" dirty="0"/>
              <a:t>        System.out.println("Put: " + n);</a:t>
            </a:r>
          </a:p>
          <a:p>
            <a:r>
              <a:rPr lang="en-IN" dirty="0"/>
              <a:t>        notify();</a:t>
            </a:r>
          </a:p>
          <a:p>
            <a:r>
              <a:rPr lang="en-IN" dirty="0"/>
              <a:t>    }</a:t>
            </a:r>
          </a:p>
          <a:p>
            <a:r>
              <a:rPr lang="en-IN" dirty="0"/>
              <a:t>}</a:t>
            </a:r>
          </a:p>
          <a:p>
            <a:endParaRPr lang="en-IN" dirty="0"/>
          </a:p>
          <a:p>
            <a:r>
              <a:rPr lang="en-IN" dirty="0"/>
              <a:t>class Producer implements Runnable {</a:t>
            </a:r>
          </a:p>
          <a:p>
            <a:r>
              <a:rPr lang="en-IN" dirty="0"/>
              <a:t>    Q </a:t>
            </a:r>
            <a:r>
              <a:rPr lang="en-IN" dirty="0" err="1"/>
              <a:t>q</a:t>
            </a:r>
            <a:r>
              <a:rPr lang="en-IN" dirty="0"/>
              <a:t>;</a:t>
            </a:r>
          </a:p>
          <a:p>
            <a:r>
              <a:rPr lang="en-IN" dirty="0"/>
              <a:t>    Thread t;</a:t>
            </a:r>
          </a:p>
          <a:p>
            <a:endParaRPr lang="en-IN" dirty="0"/>
          </a:p>
          <a:p>
            <a:r>
              <a:rPr lang="en-IN" dirty="0"/>
              <a:t>    Producer(Q q) {</a:t>
            </a:r>
          </a:p>
          <a:p>
            <a:r>
              <a:rPr lang="en-IN" dirty="0"/>
              <a:t>        </a:t>
            </a:r>
            <a:r>
              <a:rPr lang="en-IN" dirty="0" err="1"/>
              <a:t>this.q</a:t>
            </a:r>
            <a:r>
              <a:rPr lang="en-IN" dirty="0"/>
              <a:t> = q;</a:t>
            </a:r>
          </a:p>
          <a:p>
            <a:r>
              <a:rPr lang="en-IN" dirty="0"/>
              <a:t>        t = new Thread(this, "Producer");</a:t>
            </a:r>
          </a:p>
          <a:p>
            <a:r>
              <a:rPr lang="en-IN" dirty="0"/>
              <a:t>    }</a:t>
            </a:r>
          </a:p>
          <a:p>
            <a:endParaRPr lang="en-IN" dirty="0"/>
          </a:p>
          <a:p>
            <a:r>
              <a:rPr lang="en-IN" dirty="0"/>
              <a:t>    public void run() {</a:t>
            </a:r>
          </a:p>
          <a:p>
            <a:r>
              <a:rPr lang="en-IN" dirty="0"/>
              <a:t>        int </a:t>
            </a:r>
            <a:r>
              <a:rPr lang="en-IN" dirty="0" err="1"/>
              <a:t>i</a:t>
            </a:r>
            <a:r>
              <a:rPr lang="en-IN" dirty="0"/>
              <a:t> = 0;</a:t>
            </a:r>
          </a:p>
          <a:p>
            <a:r>
              <a:rPr lang="en-IN" dirty="0"/>
              <a:t>        while (true) {</a:t>
            </a:r>
          </a:p>
          <a:p>
            <a:r>
              <a:rPr lang="en-IN" dirty="0"/>
              <a:t>            </a:t>
            </a:r>
            <a:r>
              <a:rPr lang="en-IN" dirty="0" err="1"/>
              <a:t>q.put</a:t>
            </a:r>
            <a:r>
              <a:rPr lang="en-IN" dirty="0"/>
              <a:t>(</a:t>
            </a:r>
            <a:r>
              <a:rPr lang="en-IN" dirty="0" err="1"/>
              <a:t>i</a:t>
            </a:r>
            <a:r>
              <a:rPr lang="en-IN" dirty="0"/>
              <a:t>++);</a:t>
            </a:r>
          </a:p>
          <a:p>
            <a:r>
              <a:rPr lang="en-IN" dirty="0"/>
              <a:t>        }</a:t>
            </a:r>
          </a:p>
          <a:p>
            <a:r>
              <a:rPr lang="en-IN" dirty="0"/>
              <a:t>    }</a:t>
            </a:r>
          </a:p>
          <a:p>
            <a:r>
              <a:rPr lang="en-IN" dirty="0"/>
              <a:t>}</a:t>
            </a:r>
          </a:p>
          <a:p>
            <a:endParaRPr lang="en-IN" dirty="0"/>
          </a:p>
        </p:txBody>
      </p:sp>
    </p:spTree>
    <p:extLst>
      <p:ext uri="{BB962C8B-B14F-4D97-AF65-F5344CB8AC3E}">
        <p14:creationId xmlns:p14="http://schemas.microsoft.com/office/powerpoint/2010/main" val="27609206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13F34-5B70-C586-B740-D4CB61CAE49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7C7863-76CB-E3A1-1DE0-73FA2F700AE2}"/>
              </a:ext>
            </a:extLst>
          </p:cNvPr>
          <p:cNvSpPr txBox="1"/>
          <p:nvPr/>
        </p:nvSpPr>
        <p:spPr>
          <a:xfrm>
            <a:off x="369455" y="43458"/>
            <a:ext cx="7887855" cy="6771084"/>
          </a:xfrm>
          <a:prstGeom prst="rect">
            <a:avLst/>
          </a:prstGeom>
          <a:noFill/>
        </p:spPr>
        <p:txBody>
          <a:bodyPr wrap="square" rtlCol="0">
            <a:spAutoFit/>
          </a:bodyPr>
          <a:lstStyle/>
          <a:p>
            <a:endParaRPr lang="en-IN" dirty="0"/>
          </a:p>
          <a:p>
            <a:endParaRPr lang="en-IN" dirty="0"/>
          </a:p>
          <a:p>
            <a:r>
              <a:rPr lang="en-IN" dirty="0"/>
              <a:t>class Consumer implements Runnable {</a:t>
            </a:r>
          </a:p>
          <a:p>
            <a:r>
              <a:rPr lang="en-IN" dirty="0"/>
              <a:t>    Q </a:t>
            </a:r>
            <a:r>
              <a:rPr lang="en-IN" dirty="0" err="1"/>
              <a:t>q</a:t>
            </a:r>
            <a:r>
              <a:rPr lang="en-IN" dirty="0"/>
              <a:t>;</a:t>
            </a:r>
          </a:p>
          <a:p>
            <a:r>
              <a:rPr lang="en-IN" dirty="0"/>
              <a:t>    Thread t;</a:t>
            </a:r>
          </a:p>
          <a:p>
            <a:endParaRPr lang="en-IN" dirty="0"/>
          </a:p>
          <a:p>
            <a:r>
              <a:rPr lang="en-IN" dirty="0"/>
              <a:t>    Consumer(Q q) {</a:t>
            </a:r>
          </a:p>
          <a:p>
            <a:r>
              <a:rPr lang="en-IN" dirty="0"/>
              <a:t>        </a:t>
            </a:r>
            <a:r>
              <a:rPr lang="en-IN" dirty="0" err="1"/>
              <a:t>this.q</a:t>
            </a:r>
            <a:r>
              <a:rPr lang="en-IN" dirty="0"/>
              <a:t> = q;</a:t>
            </a:r>
          </a:p>
          <a:p>
            <a:r>
              <a:rPr lang="en-IN" dirty="0"/>
              <a:t>        t = new Thread(this, "Consumer");</a:t>
            </a:r>
          </a:p>
          <a:p>
            <a:r>
              <a:rPr lang="en-IN" dirty="0"/>
              <a:t>    }</a:t>
            </a:r>
          </a:p>
          <a:p>
            <a:endParaRPr lang="en-IN" dirty="0"/>
          </a:p>
          <a:p>
            <a:r>
              <a:rPr lang="en-IN" dirty="0"/>
              <a:t>    public void run() {</a:t>
            </a:r>
          </a:p>
          <a:p>
            <a:r>
              <a:rPr lang="en-IN" dirty="0"/>
              <a:t>        while (true) {</a:t>
            </a:r>
          </a:p>
          <a:p>
            <a:r>
              <a:rPr lang="en-IN" dirty="0"/>
              <a:t>            </a:t>
            </a:r>
            <a:r>
              <a:rPr lang="en-IN" dirty="0" err="1"/>
              <a:t>q.get</a:t>
            </a:r>
            <a:r>
              <a:rPr lang="en-IN" dirty="0"/>
              <a:t>();</a:t>
            </a:r>
          </a:p>
          <a:p>
            <a:r>
              <a:rPr lang="en-IN" dirty="0"/>
              <a:t>        }</a:t>
            </a:r>
          </a:p>
          <a:p>
            <a:r>
              <a:rPr lang="en-IN" dirty="0"/>
              <a:t>    }</a:t>
            </a:r>
          </a:p>
          <a:p>
            <a:r>
              <a:rPr lang="en-IN" dirty="0"/>
              <a:t>}</a:t>
            </a:r>
          </a:p>
          <a:p>
            <a:endParaRPr lang="en-IN" dirty="0"/>
          </a:p>
          <a:p>
            <a:r>
              <a:rPr lang="en-IN" dirty="0"/>
              <a:t>class </a:t>
            </a:r>
            <a:r>
              <a:rPr lang="en-IN" dirty="0" err="1"/>
              <a:t>PCFixed</a:t>
            </a:r>
            <a:r>
              <a:rPr lang="en-IN" dirty="0"/>
              <a:t> {</a:t>
            </a:r>
          </a:p>
          <a:p>
            <a:r>
              <a:rPr lang="en-IN" dirty="0"/>
              <a:t>    public static void main(String args[]) {</a:t>
            </a:r>
          </a:p>
          <a:p>
            <a:r>
              <a:rPr lang="en-IN" dirty="0"/>
              <a:t>        Q </a:t>
            </a:r>
            <a:r>
              <a:rPr lang="en-IN" dirty="0" err="1"/>
              <a:t>q</a:t>
            </a:r>
            <a:r>
              <a:rPr lang="en-IN" dirty="0"/>
              <a:t> = new Q();</a:t>
            </a:r>
          </a:p>
          <a:p>
            <a:r>
              <a:rPr lang="en-IN" dirty="0"/>
              <a:t>        Producer p = new Producer(q);</a:t>
            </a:r>
          </a:p>
          <a:p>
            <a:r>
              <a:rPr lang="en-IN" dirty="0"/>
              <a:t>        Consumer c = new Consumer(q);</a:t>
            </a:r>
          </a:p>
          <a:p>
            <a:endParaRPr lang="en-IN" dirty="0"/>
          </a:p>
          <a:p>
            <a:r>
              <a:rPr lang="en-IN" dirty="0"/>
              <a:t>        // Start the threads.</a:t>
            </a:r>
          </a:p>
          <a:p>
            <a:r>
              <a:rPr lang="en-IN" dirty="0"/>
              <a:t>        </a:t>
            </a:r>
            <a:r>
              <a:rPr lang="en-IN" dirty="0" err="1"/>
              <a:t>p.t.start</a:t>
            </a:r>
            <a:r>
              <a:rPr lang="en-IN" dirty="0"/>
              <a:t>();</a:t>
            </a:r>
          </a:p>
          <a:p>
            <a:r>
              <a:rPr lang="en-IN" dirty="0"/>
              <a:t>        </a:t>
            </a:r>
            <a:r>
              <a:rPr lang="en-IN" dirty="0" err="1"/>
              <a:t>c.t.start</a:t>
            </a:r>
            <a:r>
              <a:rPr lang="en-IN" dirty="0"/>
              <a:t>();</a:t>
            </a:r>
          </a:p>
          <a:p>
            <a:endParaRPr lang="en-IN" dirty="0"/>
          </a:p>
          <a:p>
            <a:r>
              <a:rPr lang="en-IN" dirty="0"/>
              <a:t>        System.out.println("Press Control-C to stop.");</a:t>
            </a:r>
          </a:p>
          <a:p>
            <a:r>
              <a:rPr lang="en-IN" dirty="0"/>
              <a:t>    }</a:t>
            </a:r>
          </a:p>
          <a:p>
            <a:r>
              <a:rPr lang="en-IN" dirty="0"/>
              <a:t>}</a:t>
            </a:r>
          </a:p>
        </p:txBody>
      </p:sp>
    </p:spTree>
    <p:extLst>
      <p:ext uri="{BB962C8B-B14F-4D97-AF65-F5344CB8AC3E}">
        <p14:creationId xmlns:p14="http://schemas.microsoft.com/office/powerpoint/2010/main" val="28525972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65"/>
          <p:cNvSpPr txBox="1"/>
          <p:nvPr/>
        </p:nvSpPr>
        <p:spPr>
          <a:xfrm>
            <a:off x="533400" y="304800"/>
            <a:ext cx="7924800" cy="369411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Inside get( ), wait( ) is called. </a:t>
            </a:r>
            <a:endParaRPr/>
          </a:p>
          <a:p>
            <a:pPr marL="0" marR="0" lvl="0" indent="0" algn="just"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This causes its execution to suspend until Producer notifies you that some data is ready. </a:t>
            </a:r>
            <a:endParaRPr/>
          </a:p>
          <a:p>
            <a:pPr marL="0" marR="0" lvl="0" indent="0" algn="just"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When this happens, execution inside get( ) resumes. After the data has been obtained, get( ) calls notify( ). </a:t>
            </a:r>
            <a:endParaRPr/>
          </a:p>
          <a:p>
            <a:pPr marL="0" marR="0" lvl="0" indent="0" algn="just"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This tells Producer that it is okay to put more data in the queue. </a:t>
            </a:r>
            <a:endParaRPr/>
          </a:p>
          <a:p>
            <a:pPr marL="0" marR="0" lvl="0" indent="0" algn="just"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Inside put( ), wait( ) suspends execution until Consumer has removed the item from the queue. </a:t>
            </a:r>
            <a:endParaRPr/>
          </a:p>
          <a:p>
            <a:pPr marL="0" marR="0" lvl="0" indent="0" algn="just"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When execution resumes, the next item of data is put in the queue, and notify( ) is called. This tells Consumer that it should now remove it.</a:t>
            </a:r>
            <a:endParaRPr/>
          </a:p>
          <a:p>
            <a:pPr marL="0" marR="0" lvl="0" indent="0" algn="just" rtl="0">
              <a:lnSpc>
                <a:spcPct val="100000"/>
              </a:lnSpc>
              <a:spcBef>
                <a:spcPts val="0"/>
              </a:spcBef>
              <a:spcAft>
                <a:spcPts val="0"/>
              </a:spcAft>
              <a:buClr>
                <a:schemeClr val="dk1"/>
              </a:buClr>
              <a:buSzPts val="1800"/>
              <a:buFont typeface="Arial"/>
              <a:buNone/>
            </a:pPr>
            <a:endParaRPr sz="1800" b="0" i="0" u="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Output:</a:t>
            </a:r>
            <a:endParaRPr/>
          </a:p>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406" name="Google Shape;406;p65"/>
          <p:cNvPicPr preferRelativeResize="0"/>
          <p:nvPr/>
        </p:nvPicPr>
        <p:blipFill rotWithShape="1">
          <a:blip r:embed="rId3">
            <a:alphaModFix/>
          </a:blip>
          <a:srcRect/>
          <a:stretch/>
        </p:blipFill>
        <p:spPr>
          <a:xfrm>
            <a:off x="609600" y="3810000"/>
            <a:ext cx="1162050" cy="19907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66"/>
          <p:cNvSpPr txBox="1"/>
          <p:nvPr/>
        </p:nvSpPr>
        <p:spPr>
          <a:xfrm>
            <a:off x="2667000" y="533400"/>
            <a:ext cx="3810000"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1" i="0" u="none">
                <a:solidFill>
                  <a:schemeClr val="dk1"/>
                </a:solidFill>
                <a:latin typeface="Arial"/>
                <a:ea typeface="Arial"/>
                <a:cs typeface="Arial"/>
                <a:sym typeface="Arial"/>
              </a:rPr>
              <a:t>Obtaining a Thread’s State</a:t>
            </a:r>
            <a:endParaRPr/>
          </a:p>
        </p:txBody>
      </p:sp>
      <p:sp>
        <p:nvSpPr>
          <p:cNvPr id="412" name="Google Shape;412;p66"/>
          <p:cNvSpPr txBox="1"/>
          <p:nvPr/>
        </p:nvSpPr>
        <p:spPr>
          <a:xfrm>
            <a:off x="990600" y="1143000"/>
            <a:ext cx="7620000" cy="12001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You can obtain the current state of a thread by calling the getState( ) method defined by Thread. It is shown here:</a:t>
            </a:r>
            <a:endParaRPr/>
          </a:p>
          <a:p>
            <a:pPr marL="0" marR="0" lvl="0" indent="0" algn="l" rtl="0">
              <a:lnSpc>
                <a:spcPct val="100000"/>
              </a:lnSpc>
              <a:spcBef>
                <a:spcPts val="0"/>
              </a:spcBef>
              <a:spcAft>
                <a:spcPts val="0"/>
              </a:spcAft>
              <a:buClr>
                <a:schemeClr val="dk1"/>
              </a:buClr>
              <a:buSzPts val="1800"/>
              <a:buFont typeface="Arial"/>
              <a:buNone/>
            </a:pPr>
            <a:endParaRPr sz="1800" b="0" i="0" u="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pic>
        <p:nvPicPr>
          <p:cNvPr id="413" name="Google Shape;413;p66"/>
          <p:cNvPicPr preferRelativeResize="0"/>
          <p:nvPr/>
        </p:nvPicPr>
        <p:blipFill rotWithShape="1">
          <a:blip r:embed="rId3">
            <a:alphaModFix/>
          </a:blip>
          <a:srcRect/>
          <a:stretch/>
        </p:blipFill>
        <p:spPr>
          <a:xfrm>
            <a:off x="1066800" y="1981200"/>
            <a:ext cx="2124075" cy="419100"/>
          </a:xfrm>
          <a:prstGeom prst="rect">
            <a:avLst/>
          </a:prstGeom>
          <a:noFill/>
          <a:ln>
            <a:noFill/>
          </a:ln>
        </p:spPr>
      </p:pic>
      <p:sp>
        <p:nvSpPr>
          <p:cNvPr id="414" name="Google Shape;414;p66"/>
          <p:cNvSpPr txBox="1"/>
          <p:nvPr/>
        </p:nvSpPr>
        <p:spPr>
          <a:xfrm>
            <a:off x="1219200" y="2819400"/>
            <a:ext cx="7239000" cy="31400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Given a Thread instance, you can use getState( ) to obtain the state of a thread. </a:t>
            </a:r>
            <a:endParaRPr/>
          </a:p>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For example, the following sequence determines if a thread called thrd is in the RUNNABLE state at the time getState( ) is called: </a:t>
            </a:r>
            <a:endParaRPr/>
          </a:p>
          <a:p>
            <a:pPr marL="0" marR="0" lvl="0" indent="0" algn="l" rtl="0">
              <a:lnSpc>
                <a:spcPct val="100000"/>
              </a:lnSpc>
              <a:spcBef>
                <a:spcPts val="0"/>
              </a:spcBef>
              <a:spcAft>
                <a:spcPts val="0"/>
              </a:spcAft>
              <a:buClr>
                <a:schemeClr val="dk1"/>
              </a:buClr>
              <a:buSzPts val="1800"/>
              <a:buFont typeface="Arial"/>
              <a:buNone/>
            </a:pPr>
            <a:endParaRPr sz="1800" b="0" i="0" u="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Thread.State ts = thrd.getState(); </a:t>
            </a:r>
            <a:endParaRPr/>
          </a:p>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if(ts == Thread.State.RUNNABLE) //</a:t>
            </a:r>
            <a:endParaRPr/>
          </a:p>
          <a:p>
            <a:pPr marL="0" marR="0" lvl="0" indent="0" algn="l" rtl="0">
              <a:lnSpc>
                <a:spcPct val="100000"/>
              </a:lnSpc>
              <a:spcBef>
                <a:spcPts val="0"/>
              </a:spcBef>
              <a:spcAft>
                <a:spcPts val="0"/>
              </a:spcAft>
              <a:buClr>
                <a:schemeClr val="dk1"/>
              </a:buClr>
              <a:buSzPts val="1800"/>
              <a:buFont typeface="Arial"/>
              <a:buNone/>
            </a:pPr>
            <a:endParaRPr sz="1800" b="0" i="0" u="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Depending on the circumstances, the state obtained by calling getState( ) may not reflect the actual state of the thread only a moment later.</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67"/>
          <p:cNvSpPr txBox="1"/>
          <p:nvPr/>
        </p:nvSpPr>
        <p:spPr>
          <a:xfrm>
            <a:off x="1447800" y="457200"/>
            <a:ext cx="61722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Suspending, Resuming, and Stopping Threads</a:t>
            </a:r>
            <a:endParaRPr/>
          </a:p>
        </p:txBody>
      </p:sp>
      <p:sp>
        <p:nvSpPr>
          <p:cNvPr id="420" name="Google Shape;420;p67"/>
          <p:cNvSpPr txBox="1"/>
          <p:nvPr/>
        </p:nvSpPr>
        <p:spPr>
          <a:xfrm>
            <a:off x="1066800" y="1295400"/>
            <a:ext cx="7086600" cy="2586037"/>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Prior to Java 2, a program used suspend( ), resume( ), and stop( ), which are methods defined by Thread, to pause, restart, and stop the execution of a thread.</a:t>
            </a:r>
            <a:endParaRPr/>
          </a:p>
          <a:p>
            <a:pPr marL="0" marR="0" lvl="0" indent="0" algn="just" rtl="0">
              <a:lnSpc>
                <a:spcPct val="100000"/>
              </a:lnSpc>
              <a:spcBef>
                <a:spcPts val="0"/>
              </a:spcBef>
              <a:spcAft>
                <a:spcPts val="0"/>
              </a:spcAft>
              <a:buClr>
                <a:schemeClr val="dk1"/>
              </a:buClr>
              <a:buSzPts val="1800"/>
              <a:buFont typeface="Arial"/>
              <a:buNone/>
            </a:pPr>
            <a:endParaRPr sz="1800" b="0" i="0" u="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The suspend( ) method of the Thread class was deprecated by Java 2 several years ago. This was done because suspend( ) can sometimes cause serious system failures.</a:t>
            </a:r>
            <a:endParaRPr/>
          </a:p>
          <a:p>
            <a:pPr marL="0" marR="0" lvl="0" indent="0" algn="just" rtl="0">
              <a:lnSpc>
                <a:spcPct val="100000"/>
              </a:lnSpc>
              <a:spcBef>
                <a:spcPts val="0"/>
              </a:spcBef>
              <a:spcAft>
                <a:spcPts val="0"/>
              </a:spcAft>
              <a:buClr>
                <a:schemeClr val="dk1"/>
              </a:buClr>
              <a:buSzPts val="1800"/>
              <a:buFont typeface="Arial"/>
              <a:buNone/>
            </a:pPr>
            <a:endParaRPr sz="1800" b="0" i="0" u="none">
              <a:solidFill>
                <a:schemeClr val="dk1"/>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The resume() and stop() methods were also deprecated.</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10DF53-6C61-E506-CDC8-D3495DE26652}"/>
              </a:ext>
            </a:extLst>
          </p:cNvPr>
          <p:cNvPicPr>
            <a:picLocks noChangeAspect="1"/>
          </p:cNvPicPr>
          <p:nvPr/>
        </p:nvPicPr>
        <p:blipFill>
          <a:blip r:embed="rId2"/>
          <a:stretch>
            <a:fillRect/>
          </a:stretch>
        </p:blipFill>
        <p:spPr>
          <a:xfrm>
            <a:off x="114071" y="1292115"/>
            <a:ext cx="8915858" cy="4273770"/>
          </a:xfrm>
          <a:prstGeom prst="rect">
            <a:avLst/>
          </a:prstGeom>
        </p:spPr>
      </p:pic>
    </p:spTree>
    <p:extLst>
      <p:ext uri="{BB962C8B-B14F-4D97-AF65-F5344CB8AC3E}">
        <p14:creationId xmlns:p14="http://schemas.microsoft.com/office/powerpoint/2010/main" val="23014776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63419A-A36D-FD89-9BB2-E3C82AA3617A}"/>
              </a:ext>
            </a:extLst>
          </p:cNvPr>
          <p:cNvPicPr>
            <a:picLocks noChangeAspect="1"/>
          </p:cNvPicPr>
          <p:nvPr/>
        </p:nvPicPr>
        <p:blipFill>
          <a:blip r:embed="rId2"/>
          <a:stretch>
            <a:fillRect/>
          </a:stretch>
        </p:blipFill>
        <p:spPr>
          <a:xfrm>
            <a:off x="91845" y="1209561"/>
            <a:ext cx="8960310" cy="4438878"/>
          </a:xfrm>
          <a:prstGeom prst="rect">
            <a:avLst/>
          </a:prstGeom>
        </p:spPr>
      </p:pic>
    </p:spTree>
    <p:extLst>
      <p:ext uri="{BB962C8B-B14F-4D97-AF65-F5344CB8AC3E}">
        <p14:creationId xmlns:p14="http://schemas.microsoft.com/office/powerpoint/2010/main" val="13360418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5D3FD1EF-7ED3-FD4C-2A13-4DD5C6E9DBA1}"/>
              </a:ext>
            </a:extLst>
          </p:cNvPr>
          <p:cNvPicPr>
            <a:picLocks noChangeAspect="1"/>
          </p:cNvPicPr>
          <p:nvPr/>
        </p:nvPicPr>
        <p:blipFill>
          <a:blip r:embed="rId3"/>
          <a:srcRect b="2931"/>
          <a:stretch>
            <a:fillRect/>
          </a:stretch>
        </p:blipFill>
        <p:spPr>
          <a:xfrm>
            <a:off x="20" y="1282"/>
            <a:ext cx="9143980" cy="6856718"/>
          </a:xfrm>
          <a:prstGeom prst="rect">
            <a:avLst/>
          </a:prstGeom>
        </p:spPr>
      </p:pic>
    </p:spTree>
    <p:extLst>
      <p:ext uri="{BB962C8B-B14F-4D97-AF65-F5344CB8AC3E}">
        <p14:creationId xmlns:p14="http://schemas.microsoft.com/office/powerpoint/2010/main" val="3391090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04DA79-F8E4-0F80-97AF-3798A0F04C53}"/>
              </a:ext>
            </a:extLst>
          </p:cNvPr>
          <p:cNvPicPr>
            <a:picLocks noChangeAspect="1"/>
          </p:cNvPicPr>
          <p:nvPr/>
        </p:nvPicPr>
        <p:blipFill>
          <a:blip r:embed="rId2"/>
          <a:stretch>
            <a:fillRect/>
          </a:stretch>
        </p:blipFill>
        <p:spPr>
          <a:xfrm>
            <a:off x="253778" y="1695361"/>
            <a:ext cx="8636444" cy="3467278"/>
          </a:xfrm>
          <a:prstGeom prst="rect">
            <a:avLst/>
          </a:prstGeom>
        </p:spPr>
      </p:pic>
      <p:sp>
        <p:nvSpPr>
          <p:cNvPr id="4" name="TextBox 3">
            <a:extLst>
              <a:ext uri="{FF2B5EF4-FFF2-40B4-BE49-F238E27FC236}">
                <a16:creationId xmlns:a16="http://schemas.microsoft.com/office/drawing/2014/main" id="{79CDE6A6-7D25-DC88-45D1-9C72EE25EAED}"/>
              </a:ext>
            </a:extLst>
          </p:cNvPr>
          <p:cNvSpPr txBox="1"/>
          <p:nvPr/>
        </p:nvSpPr>
        <p:spPr>
          <a:xfrm>
            <a:off x="1671781" y="766618"/>
            <a:ext cx="5338619" cy="400110"/>
          </a:xfrm>
          <a:prstGeom prst="rect">
            <a:avLst/>
          </a:prstGeom>
          <a:solidFill>
            <a:schemeClr val="tx1"/>
          </a:solidFill>
        </p:spPr>
        <p:txBody>
          <a:bodyPr wrap="square" rtlCol="0">
            <a:spAutoFit/>
          </a:bodyPr>
          <a:lstStyle/>
          <a:p>
            <a:pPr algn="ctr"/>
            <a:r>
              <a:rPr lang="en-IN" sz="2000" b="1" dirty="0">
                <a:solidFill>
                  <a:schemeClr val="bg1"/>
                </a:solidFill>
                <a:latin typeface="Times New Roman" panose="02020603050405020304" pitchFamily="18" charset="0"/>
                <a:cs typeface="Times New Roman" panose="02020603050405020304" pitchFamily="18" charset="0"/>
              </a:rPr>
              <a:t>How to Avoid Deadlocks</a:t>
            </a:r>
          </a:p>
        </p:txBody>
      </p:sp>
    </p:spTree>
    <p:extLst>
      <p:ext uri="{BB962C8B-B14F-4D97-AF65-F5344CB8AC3E}">
        <p14:creationId xmlns:p14="http://schemas.microsoft.com/office/powerpoint/2010/main" val="18834123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72"/>
          <p:cNvSpPr txBox="1"/>
          <p:nvPr/>
        </p:nvSpPr>
        <p:spPr>
          <a:xfrm>
            <a:off x="2209800" y="381000"/>
            <a:ext cx="5105400"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a:solidFill>
                  <a:schemeClr val="dk1"/>
                </a:solidFill>
                <a:latin typeface="Arial"/>
                <a:ea typeface="Arial"/>
                <a:cs typeface="Arial"/>
                <a:sym typeface="Arial"/>
              </a:rPr>
              <a:t>Methods in Thread Class</a:t>
            </a:r>
            <a:endParaRPr/>
          </a:p>
        </p:txBody>
      </p:sp>
      <p:sp>
        <p:nvSpPr>
          <p:cNvPr id="454" name="Google Shape;454;p72"/>
          <p:cNvSpPr txBox="1"/>
          <p:nvPr/>
        </p:nvSpPr>
        <p:spPr>
          <a:xfrm>
            <a:off x="838200" y="1143000"/>
            <a:ext cx="7696200" cy="12001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dirty="0">
                <a:solidFill>
                  <a:schemeClr val="dk1"/>
                </a:solidFill>
                <a:latin typeface="Arial"/>
                <a:ea typeface="Arial"/>
                <a:cs typeface="Arial"/>
                <a:sym typeface="Arial"/>
              </a:rPr>
              <a:t>The Thread class defines several methods that help manage threads. Several of those used in this chapter are shown here:</a:t>
            </a:r>
            <a:endParaRPr dirty="0"/>
          </a:p>
          <a:p>
            <a:pPr marL="0" marR="0" lvl="0" indent="0" algn="l" rtl="0">
              <a:lnSpc>
                <a:spcPct val="100000"/>
              </a:lnSpc>
              <a:spcBef>
                <a:spcPts val="0"/>
              </a:spcBef>
              <a:spcAft>
                <a:spcPts val="0"/>
              </a:spcAft>
              <a:buClr>
                <a:schemeClr val="dk1"/>
              </a:buClr>
              <a:buSzPts val="1800"/>
              <a:buFont typeface="Arial"/>
              <a:buNone/>
            </a:pPr>
            <a:endParaRPr sz="1800" b="0" i="0" u="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dirty="0">
              <a:solidFill>
                <a:schemeClr val="dk1"/>
              </a:solidFill>
              <a:latin typeface="Arial"/>
              <a:ea typeface="Arial"/>
              <a:cs typeface="Arial"/>
              <a:sym typeface="Arial"/>
            </a:endParaRPr>
          </a:p>
        </p:txBody>
      </p:sp>
      <p:pic>
        <p:nvPicPr>
          <p:cNvPr id="455" name="Google Shape;455;p72"/>
          <p:cNvPicPr preferRelativeResize="0"/>
          <p:nvPr/>
        </p:nvPicPr>
        <p:blipFill rotWithShape="1">
          <a:blip r:embed="rId3">
            <a:alphaModFix/>
          </a:blip>
          <a:srcRect/>
          <a:stretch/>
        </p:blipFill>
        <p:spPr>
          <a:xfrm>
            <a:off x="1781175" y="2735263"/>
            <a:ext cx="5962650" cy="21431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1351</TotalTime>
  <Words>4001</Words>
  <Application>Microsoft Office PowerPoint</Application>
  <PresentationFormat>On-screen Show (4:3)</PresentationFormat>
  <Paragraphs>445</Paragraphs>
  <Slides>63</Slides>
  <Notes>43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Arial</vt:lpstr>
      <vt:lpstr>Calibri</vt:lpstr>
      <vt:lpstr>Consolas</vt:lpstr>
      <vt:lpstr>JetBrains Mono</vt:lpstr>
      <vt:lpstr>Times New Roman</vt:lpstr>
      <vt:lpstr>Office Theme</vt:lpstr>
      <vt:lpstr>Java Threads </vt:lpstr>
      <vt:lpstr>PowerPoint Presentation</vt:lpstr>
      <vt:lpstr>How a program or a software executes inside a computer?</vt:lpstr>
      <vt:lpstr>How a program or a software executes inside a computer?</vt:lpstr>
      <vt:lpstr>Parallel vs Concurrent Execution</vt:lpstr>
      <vt:lpstr>Parallel vs Concurrent Execution</vt:lpstr>
      <vt:lpstr>How multiple threads improve performance?</vt:lpstr>
      <vt:lpstr>How multiple threads improve performance?</vt:lpstr>
      <vt:lpstr>How multiple threads improve performance?</vt:lpstr>
      <vt:lpstr>How multiple threads improve performance?</vt:lpstr>
      <vt:lpstr>Flowchart of Thread Execution</vt:lpstr>
      <vt:lpstr>Creating Threads in Java</vt:lpstr>
      <vt:lpstr>Example program by using Thread class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Anusuya R</cp:lastModifiedBy>
  <cp:revision>7</cp:revision>
  <dcterms:modified xsi:type="dcterms:W3CDTF">2026-10-09T03:26:24Z</dcterms:modified>
</cp:coreProperties>
</file>